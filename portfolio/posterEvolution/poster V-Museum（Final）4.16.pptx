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Lst>
  <p:sldIdLst>
    <p:sldId id="260" r:id="rId2"/>
  </p:sldIdLst>
  <p:sldSz cx="21420138" cy="30275213"/>
  <p:notesSz cx="6858000" cy="9144000"/>
  <p:defaultTextStyle>
    <a:defPPr>
      <a:defRPr lang="zh-CN"/>
    </a:defPPr>
    <a:lvl1pPr marL="0" algn="l" defTabSz="2481316" rtl="0" eaLnBrk="1" latinLnBrk="0" hangingPunct="1">
      <a:defRPr sz="4884" kern="1200">
        <a:solidFill>
          <a:schemeClr val="tx1"/>
        </a:solidFill>
        <a:latin typeface="+mn-lt"/>
        <a:ea typeface="+mn-ea"/>
        <a:cs typeface="+mn-cs"/>
      </a:defRPr>
    </a:lvl1pPr>
    <a:lvl2pPr marL="1240658" algn="l" defTabSz="2481316" rtl="0" eaLnBrk="1" latinLnBrk="0" hangingPunct="1">
      <a:defRPr sz="4884" kern="1200">
        <a:solidFill>
          <a:schemeClr val="tx1"/>
        </a:solidFill>
        <a:latin typeface="+mn-lt"/>
        <a:ea typeface="+mn-ea"/>
        <a:cs typeface="+mn-cs"/>
      </a:defRPr>
    </a:lvl2pPr>
    <a:lvl3pPr marL="2481316" algn="l" defTabSz="2481316" rtl="0" eaLnBrk="1" latinLnBrk="0" hangingPunct="1">
      <a:defRPr sz="4884" kern="1200">
        <a:solidFill>
          <a:schemeClr val="tx1"/>
        </a:solidFill>
        <a:latin typeface="+mn-lt"/>
        <a:ea typeface="+mn-ea"/>
        <a:cs typeface="+mn-cs"/>
      </a:defRPr>
    </a:lvl3pPr>
    <a:lvl4pPr marL="3721974" algn="l" defTabSz="2481316" rtl="0" eaLnBrk="1" latinLnBrk="0" hangingPunct="1">
      <a:defRPr sz="4884" kern="1200">
        <a:solidFill>
          <a:schemeClr val="tx1"/>
        </a:solidFill>
        <a:latin typeface="+mn-lt"/>
        <a:ea typeface="+mn-ea"/>
        <a:cs typeface="+mn-cs"/>
      </a:defRPr>
    </a:lvl4pPr>
    <a:lvl5pPr marL="4962632" algn="l" defTabSz="2481316" rtl="0" eaLnBrk="1" latinLnBrk="0" hangingPunct="1">
      <a:defRPr sz="4884" kern="1200">
        <a:solidFill>
          <a:schemeClr val="tx1"/>
        </a:solidFill>
        <a:latin typeface="+mn-lt"/>
        <a:ea typeface="+mn-ea"/>
        <a:cs typeface="+mn-cs"/>
      </a:defRPr>
    </a:lvl5pPr>
    <a:lvl6pPr marL="6203290" algn="l" defTabSz="2481316" rtl="0" eaLnBrk="1" latinLnBrk="0" hangingPunct="1">
      <a:defRPr sz="4884" kern="1200">
        <a:solidFill>
          <a:schemeClr val="tx1"/>
        </a:solidFill>
        <a:latin typeface="+mn-lt"/>
        <a:ea typeface="+mn-ea"/>
        <a:cs typeface="+mn-cs"/>
      </a:defRPr>
    </a:lvl6pPr>
    <a:lvl7pPr marL="7443948" algn="l" defTabSz="2481316" rtl="0" eaLnBrk="1" latinLnBrk="0" hangingPunct="1">
      <a:defRPr sz="4884" kern="1200">
        <a:solidFill>
          <a:schemeClr val="tx1"/>
        </a:solidFill>
        <a:latin typeface="+mn-lt"/>
        <a:ea typeface="+mn-ea"/>
        <a:cs typeface="+mn-cs"/>
      </a:defRPr>
    </a:lvl7pPr>
    <a:lvl8pPr marL="8684605" algn="l" defTabSz="2481316" rtl="0" eaLnBrk="1" latinLnBrk="0" hangingPunct="1">
      <a:defRPr sz="4884" kern="1200">
        <a:solidFill>
          <a:schemeClr val="tx1"/>
        </a:solidFill>
        <a:latin typeface="+mn-lt"/>
        <a:ea typeface="+mn-ea"/>
        <a:cs typeface="+mn-cs"/>
      </a:defRPr>
    </a:lvl8pPr>
    <a:lvl9pPr marL="9925263" algn="l" defTabSz="2481316" rtl="0" eaLnBrk="1" latinLnBrk="0" hangingPunct="1">
      <a:defRPr sz="4884"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7284" autoAdjust="0"/>
    <p:restoredTop sz="94660"/>
  </p:normalViewPr>
  <p:slideViewPr>
    <p:cSldViewPr snapToGrid="0">
      <p:cViewPr>
        <p:scale>
          <a:sx n="27" d="100"/>
          <a:sy n="27" d="100"/>
        </p:scale>
        <p:origin x="1528"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a:xfrm>
            <a:off x="7282848" y="28155953"/>
            <a:ext cx="6854444" cy="1513761"/>
          </a:xfrm>
          <a:prstGeom prst="rect">
            <a:avLst/>
          </a:prstGeom>
        </p:spPr>
        <p:txBody>
          <a:bodyPr lIns="0" tIns="0" rIns="0" bIns="0"/>
          <a:lstStyle>
            <a:lvl1pPr algn="ctr">
              <a:defRPr>
                <a:solidFill>
                  <a:schemeClr val="tx1">
                    <a:tint val="75000"/>
                  </a:schemeClr>
                </a:solidFill>
              </a:defRPr>
            </a:lvl1pPr>
          </a:lstStyle>
          <a:p>
            <a:pPr defTabSz="1303653"/>
            <a:endParaRPr lang="zh-CN" altLang="en-US" sz="2567">
              <a:solidFill>
                <a:prstClr val="black">
                  <a:tint val="75000"/>
                </a:prstClr>
              </a:solidFill>
            </a:endParaRPr>
          </a:p>
        </p:txBody>
      </p:sp>
      <p:sp>
        <p:nvSpPr>
          <p:cNvPr id="3" name="Holder 3"/>
          <p:cNvSpPr>
            <a:spLocks noGrp="1"/>
          </p:cNvSpPr>
          <p:nvPr>
            <p:ph type="dt" sz="half" idx="6"/>
          </p:nvPr>
        </p:nvSpPr>
        <p:spPr>
          <a:xfrm>
            <a:off x="1071008" y="28155953"/>
            <a:ext cx="4926632" cy="1513761"/>
          </a:xfrm>
          <a:prstGeom prst="rect">
            <a:avLst/>
          </a:prstGeom>
        </p:spPr>
        <p:txBody>
          <a:bodyPr lIns="0" tIns="0" rIns="0" bIns="0"/>
          <a:lstStyle>
            <a:lvl1pPr algn="l">
              <a:defRPr>
                <a:solidFill>
                  <a:schemeClr val="tx1">
                    <a:tint val="75000"/>
                  </a:schemeClr>
                </a:solidFill>
              </a:defRPr>
            </a:lvl1pPr>
          </a:lstStyle>
          <a:p>
            <a:pPr defTabSz="1303653"/>
            <a:fld id="{1D8BD707-D9CF-40AE-B4C6-C98DA3205C09}" type="datetimeFigureOut">
              <a:rPr lang="en-US" sz="2567" smtClean="0">
                <a:solidFill>
                  <a:prstClr val="black">
                    <a:tint val="75000"/>
                  </a:prstClr>
                </a:solidFill>
              </a:rPr>
              <a:pPr defTabSz="1303653"/>
              <a:t>4/22/2026</a:t>
            </a:fld>
            <a:endParaRPr lang="en-US" sz="2567">
              <a:solidFill>
                <a:prstClr val="black">
                  <a:tint val="75000"/>
                </a:prstClr>
              </a:solidFill>
            </a:endParaRPr>
          </a:p>
        </p:txBody>
      </p:sp>
      <p:sp>
        <p:nvSpPr>
          <p:cNvPr id="4" name="Holder 4"/>
          <p:cNvSpPr>
            <a:spLocks noGrp="1"/>
          </p:cNvSpPr>
          <p:nvPr>
            <p:ph type="sldNum" sz="quarter" idx="7"/>
          </p:nvPr>
        </p:nvSpPr>
        <p:spPr>
          <a:xfrm>
            <a:off x="15422500" y="28155953"/>
            <a:ext cx="4926632" cy="1513761"/>
          </a:xfrm>
          <a:prstGeom prst="rect">
            <a:avLst/>
          </a:prstGeom>
        </p:spPr>
        <p:txBody>
          <a:bodyPr lIns="0" tIns="0" rIns="0" bIns="0"/>
          <a:lstStyle>
            <a:lvl1pPr algn="r">
              <a:defRPr>
                <a:solidFill>
                  <a:schemeClr val="tx1">
                    <a:tint val="75000"/>
                  </a:schemeClr>
                </a:solidFill>
              </a:defRPr>
            </a:lvl1pPr>
          </a:lstStyle>
          <a:p>
            <a:pPr defTabSz="1303653"/>
            <a:fld id="{B6F15528-21DE-4FAA-801E-634DDDAF4B2B}" type="slidenum">
              <a:rPr lang="en-US" altLang="zh-CN" sz="2567" smtClean="0">
                <a:solidFill>
                  <a:prstClr val="black">
                    <a:tint val="75000"/>
                  </a:prstClr>
                </a:solidFill>
              </a:rPr>
              <a:pPr defTabSz="1303653"/>
              <a:t>‹#›</a:t>
            </a:fld>
            <a:endParaRPr lang="en-US" altLang="zh-CN" sz="2567">
              <a:solidFill>
                <a:prstClr val="black">
                  <a:tint val="75000"/>
                </a:prstClr>
              </a:solidFill>
            </a:endParaRPr>
          </a:p>
        </p:txBody>
      </p:sp>
    </p:spTree>
    <p:extLst>
      <p:ext uri="{BB962C8B-B14F-4D97-AF65-F5344CB8AC3E}">
        <p14:creationId xmlns:p14="http://schemas.microsoft.com/office/powerpoint/2010/main" val="1587018996"/>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7650659"/>
      </p:ext>
    </p:extLst>
  </p:cSld>
  <p:clrMap bg1="lt1" tx1="dk1" bg2="lt2" tx2="dk2" accent1="accent1" accent2="accent2" accent3="accent3" accent4="accent4" accent5="accent5" accent6="accent6" hlink="hlink" folHlink="folHlink"/>
  <p:sldLayoutIdLst>
    <p:sldLayoutId id="2147483675" r:id="rId1"/>
  </p:sldLayoutIdLst>
  <p:txStyles>
    <p:titleStyle>
      <a:lvl1pPr>
        <a:defRPr>
          <a:latin typeface="+mj-lt"/>
          <a:ea typeface="+mj-ea"/>
          <a:cs typeface="+mj-cs"/>
        </a:defRPr>
      </a:lvl1pPr>
    </p:titleStyle>
    <p:bodyStyle>
      <a:lvl1pPr marL="0">
        <a:defRPr>
          <a:latin typeface="+mn-lt"/>
          <a:ea typeface="+mn-ea"/>
          <a:cs typeface="+mn-cs"/>
        </a:defRPr>
      </a:lvl1pPr>
      <a:lvl2pPr marL="651826">
        <a:defRPr>
          <a:latin typeface="+mn-lt"/>
          <a:ea typeface="+mn-ea"/>
          <a:cs typeface="+mn-cs"/>
        </a:defRPr>
      </a:lvl2pPr>
      <a:lvl3pPr marL="1303653">
        <a:defRPr>
          <a:latin typeface="+mn-lt"/>
          <a:ea typeface="+mn-ea"/>
          <a:cs typeface="+mn-cs"/>
        </a:defRPr>
      </a:lvl3pPr>
      <a:lvl4pPr marL="1955478">
        <a:defRPr>
          <a:latin typeface="+mn-lt"/>
          <a:ea typeface="+mn-ea"/>
          <a:cs typeface="+mn-cs"/>
        </a:defRPr>
      </a:lvl4pPr>
      <a:lvl5pPr marL="2607305">
        <a:defRPr>
          <a:latin typeface="+mn-lt"/>
          <a:ea typeface="+mn-ea"/>
          <a:cs typeface="+mn-cs"/>
        </a:defRPr>
      </a:lvl5pPr>
      <a:lvl6pPr marL="3259131">
        <a:defRPr>
          <a:latin typeface="+mn-lt"/>
          <a:ea typeface="+mn-ea"/>
          <a:cs typeface="+mn-cs"/>
        </a:defRPr>
      </a:lvl6pPr>
      <a:lvl7pPr marL="3910958">
        <a:defRPr>
          <a:latin typeface="+mn-lt"/>
          <a:ea typeface="+mn-ea"/>
          <a:cs typeface="+mn-cs"/>
        </a:defRPr>
      </a:lvl7pPr>
      <a:lvl8pPr marL="4562783">
        <a:defRPr>
          <a:latin typeface="+mn-lt"/>
          <a:ea typeface="+mn-ea"/>
          <a:cs typeface="+mn-cs"/>
        </a:defRPr>
      </a:lvl8pPr>
      <a:lvl9pPr marL="5214610">
        <a:defRPr>
          <a:latin typeface="+mn-lt"/>
          <a:ea typeface="+mn-ea"/>
          <a:cs typeface="+mn-cs"/>
        </a:defRPr>
      </a:lvl9pPr>
    </p:bodyStyle>
    <p:otherStyle>
      <a:lvl1pPr marL="0">
        <a:defRPr>
          <a:latin typeface="+mn-lt"/>
          <a:ea typeface="+mn-ea"/>
          <a:cs typeface="+mn-cs"/>
        </a:defRPr>
      </a:lvl1pPr>
      <a:lvl2pPr marL="651826">
        <a:defRPr>
          <a:latin typeface="+mn-lt"/>
          <a:ea typeface="+mn-ea"/>
          <a:cs typeface="+mn-cs"/>
        </a:defRPr>
      </a:lvl2pPr>
      <a:lvl3pPr marL="1303653">
        <a:defRPr>
          <a:latin typeface="+mn-lt"/>
          <a:ea typeface="+mn-ea"/>
          <a:cs typeface="+mn-cs"/>
        </a:defRPr>
      </a:lvl3pPr>
      <a:lvl4pPr marL="1955478">
        <a:defRPr>
          <a:latin typeface="+mn-lt"/>
          <a:ea typeface="+mn-ea"/>
          <a:cs typeface="+mn-cs"/>
        </a:defRPr>
      </a:lvl4pPr>
      <a:lvl5pPr marL="2607305">
        <a:defRPr>
          <a:latin typeface="+mn-lt"/>
          <a:ea typeface="+mn-ea"/>
          <a:cs typeface="+mn-cs"/>
        </a:defRPr>
      </a:lvl5pPr>
      <a:lvl6pPr marL="3259131">
        <a:defRPr>
          <a:latin typeface="+mn-lt"/>
          <a:ea typeface="+mn-ea"/>
          <a:cs typeface="+mn-cs"/>
        </a:defRPr>
      </a:lvl6pPr>
      <a:lvl7pPr marL="3910958">
        <a:defRPr>
          <a:latin typeface="+mn-lt"/>
          <a:ea typeface="+mn-ea"/>
          <a:cs typeface="+mn-cs"/>
        </a:defRPr>
      </a:lvl7pPr>
      <a:lvl8pPr marL="4562783">
        <a:defRPr>
          <a:latin typeface="+mn-lt"/>
          <a:ea typeface="+mn-ea"/>
          <a:cs typeface="+mn-cs"/>
        </a:defRPr>
      </a:lvl8pPr>
      <a:lvl9pPr marL="521461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jp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jp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片 22">
            <a:extLst>
              <a:ext uri="{FF2B5EF4-FFF2-40B4-BE49-F238E27FC236}">
                <a16:creationId xmlns:a16="http://schemas.microsoft.com/office/drawing/2014/main" id="{0BF8258C-F460-C645-7580-DB0A9E81E309}"/>
              </a:ext>
            </a:extLst>
          </p:cNvPr>
          <p:cNvPicPr>
            <a:picLocks noChangeAspect="1"/>
          </p:cNvPicPr>
          <p:nvPr/>
        </p:nvPicPr>
        <p:blipFill>
          <a:blip r:embed="rId2"/>
          <a:srcRect r="51875"/>
          <a:stretch>
            <a:fillRect/>
          </a:stretch>
        </p:blipFill>
        <p:spPr>
          <a:xfrm>
            <a:off x="6696688" y="9285090"/>
            <a:ext cx="3681080" cy="2472236"/>
          </a:xfrm>
          <a:prstGeom prst="rect">
            <a:avLst/>
          </a:prstGeom>
        </p:spPr>
      </p:pic>
      <p:pic>
        <p:nvPicPr>
          <p:cNvPr id="28" name="图片 27">
            <a:extLst>
              <a:ext uri="{FF2B5EF4-FFF2-40B4-BE49-F238E27FC236}">
                <a16:creationId xmlns:a16="http://schemas.microsoft.com/office/drawing/2014/main" id="{EC6323B8-2ED5-8117-8307-AD85F234788A}"/>
              </a:ext>
            </a:extLst>
          </p:cNvPr>
          <p:cNvPicPr>
            <a:picLocks noChangeAspect="1"/>
          </p:cNvPicPr>
          <p:nvPr/>
        </p:nvPicPr>
        <p:blipFill>
          <a:blip r:embed="rId2"/>
          <a:srcRect l="48003"/>
          <a:stretch>
            <a:fillRect/>
          </a:stretch>
        </p:blipFill>
        <p:spPr>
          <a:xfrm>
            <a:off x="6674625" y="11608508"/>
            <a:ext cx="3865875" cy="2402999"/>
          </a:xfrm>
          <a:prstGeom prst="rect">
            <a:avLst/>
          </a:prstGeom>
        </p:spPr>
      </p:pic>
      <p:pic>
        <p:nvPicPr>
          <p:cNvPr id="2" name="图片 1" descr="b9f997a5b87ddbf52d0636a8061db2f8">
            <a:extLst>
              <a:ext uri="{FF2B5EF4-FFF2-40B4-BE49-F238E27FC236}">
                <a16:creationId xmlns:a16="http://schemas.microsoft.com/office/drawing/2014/main" id="{7001955F-83A0-E308-D77B-88350054509D}"/>
              </a:ext>
            </a:extLst>
          </p:cNvPr>
          <p:cNvPicPr>
            <a:picLocks noChangeAspect="1"/>
          </p:cNvPicPr>
          <p:nvPr/>
        </p:nvPicPr>
        <p:blipFill>
          <a:blip r:embed="rId3"/>
          <a:srcRect b="52467"/>
          <a:stretch>
            <a:fillRect/>
          </a:stretch>
        </p:blipFill>
        <p:spPr>
          <a:xfrm>
            <a:off x="10912478" y="13897189"/>
            <a:ext cx="2294027" cy="2937214"/>
          </a:xfrm>
          <a:prstGeom prst="rect">
            <a:avLst/>
          </a:prstGeom>
        </p:spPr>
      </p:pic>
      <p:pic>
        <p:nvPicPr>
          <p:cNvPr id="126" name="图片 125">
            <a:extLst>
              <a:ext uri="{FF2B5EF4-FFF2-40B4-BE49-F238E27FC236}">
                <a16:creationId xmlns:a16="http://schemas.microsoft.com/office/drawing/2014/main" id="{797A6BB8-6A84-CEF4-1F0B-C6DAA5134727}"/>
              </a:ext>
            </a:extLst>
          </p:cNvPr>
          <p:cNvPicPr>
            <a:picLocks noChangeAspect="1"/>
          </p:cNvPicPr>
          <p:nvPr/>
        </p:nvPicPr>
        <p:blipFill>
          <a:blip r:embed="rId4"/>
          <a:stretch>
            <a:fillRect/>
          </a:stretch>
        </p:blipFill>
        <p:spPr>
          <a:xfrm>
            <a:off x="16744552" y="24601"/>
            <a:ext cx="4617472" cy="1131322"/>
          </a:xfrm>
          <a:prstGeom prst="rect">
            <a:avLst/>
          </a:prstGeom>
        </p:spPr>
      </p:pic>
      <p:sp>
        <p:nvSpPr>
          <p:cNvPr id="11" name="object 11"/>
          <p:cNvSpPr txBox="1"/>
          <p:nvPr/>
        </p:nvSpPr>
        <p:spPr>
          <a:xfrm>
            <a:off x="2778471" y="982011"/>
            <a:ext cx="16103209" cy="2747016"/>
          </a:xfrm>
          <a:prstGeom prst="rect">
            <a:avLst/>
          </a:prstGeom>
        </p:spPr>
        <p:txBody>
          <a:bodyPr vert="horz" wrap="square" lIns="0" tIns="189212" rIns="0" bIns="0" rtlCol="0">
            <a:spAutoFit/>
          </a:bodyPr>
          <a:lstStyle/>
          <a:p>
            <a:pPr marL="18107" marR="7242" algn="ctr" defTabSz="1303653">
              <a:lnSpc>
                <a:spcPct val="79800"/>
              </a:lnSpc>
              <a:spcBef>
                <a:spcPts val="1490"/>
              </a:spcBef>
            </a:pPr>
            <a:r>
              <a:rPr lang="en-US" altLang="zh-CN" sz="5631" b="1" kern="0" dirty="0">
                <a:solidFill>
                  <a:srgbClr val="001F5F"/>
                </a:solidFill>
                <a:latin typeface="Calibri"/>
                <a:cs typeface="Calibri"/>
              </a:rPr>
              <a:t>V-Museum</a:t>
            </a:r>
            <a:r>
              <a:rPr lang="en-US" sz="5631" b="1" kern="0" dirty="0">
                <a:solidFill>
                  <a:srgbClr val="001F5F"/>
                </a:solidFill>
                <a:latin typeface="Calibri"/>
                <a:cs typeface="Calibri"/>
              </a:rPr>
              <a:t>: An XR &amp; AI-Powered Museum That Converses with You</a:t>
            </a:r>
          </a:p>
          <a:p>
            <a:pPr marL="18107" marR="7242" algn="ctr" defTabSz="1303653">
              <a:lnSpc>
                <a:spcPct val="79800"/>
              </a:lnSpc>
              <a:spcBef>
                <a:spcPts val="1490"/>
              </a:spcBef>
            </a:pPr>
            <a:r>
              <a:rPr lang="en-US" sz="3920" kern="0" spc="-100" dirty="0">
                <a:solidFill>
                  <a:srgbClr val="006FC0"/>
                </a:solidFill>
                <a:latin typeface="Calibri"/>
                <a:cs typeface="Calibri"/>
              </a:rPr>
              <a:t>From "One-way Display" to "Customized Companionship": An HCD Solution for Enhancing Museum Engagement</a:t>
            </a:r>
            <a:endParaRPr sz="3920" kern="0" dirty="0">
              <a:solidFill>
                <a:sysClr val="windowText" lastClr="000000"/>
              </a:solidFill>
              <a:latin typeface="Calibri"/>
              <a:cs typeface="Calibri"/>
            </a:endParaRPr>
          </a:p>
        </p:txBody>
      </p:sp>
      <p:sp>
        <p:nvSpPr>
          <p:cNvPr id="12" name="object 12"/>
          <p:cNvSpPr txBox="1"/>
          <p:nvPr/>
        </p:nvSpPr>
        <p:spPr>
          <a:xfrm>
            <a:off x="688863" y="18324587"/>
            <a:ext cx="3319804" cy="451912"/>
          </a:xfrm>
          <a:prstGeom prst="rect">
            <a:avLst/>
          </a:prstGeom>
        </p:spPr>
        <p:txBody>
          <a:bodyPr vert="horz" wrap="square" lIns="0" tIns="20821" rIns="0" bIns="0" rtlCol="0">
            <a:spAutoFit/>
          </a:bodyPr>
          <a:lstStyle/>
          <a:p>
            <a:pPr marL="18107" defTabSz="1303653">
              <a:spcBef>
                <a:spcPts val="163"/>
              </a:spcBef>
            </a:pPr>
            <a:r>
              <a:rPr lang="en-US" sz="2800" b="1" kern="0" dirty="0">
                <a:solidFill>
                  <a:srgbClr val="FF0066"/>
                </a:solidFill>
                <a:latin typeface="Calibri"/>
                <a:cs typeface="Calibri"/>
              </a:rPr>
              <a:t>Core Design Concept:</a:t>
            </a:r>
            <a:endParaRPr sz="2800" kern="0" dirty="0">
              <a:solidFill>
                <a:sysClr val="windowText" lastClr="000000"/>
              </a:solidFill>
              <a:latin typeface="Calibri"/>
              <a:cs typeface="Calibri"/>
            </a:endParaRPr>
          </a:p>
        </p:txBody>
      </p:sp>
      <p:pic>
        <p:nvPicPr>
          <p:cNvPr id="13" name="object 13"/>
          <p:cNvPicPr/>
          <p:nvPr/>
        </p:nvPicPr>
        <p:blipFill>
          <a:blip r:embed="rId5" cstate="print"/>
          <a:stretch>
            <a:fillRect/>
          </a:stretch>
        </p:blipFill>
        <p:spPr>
          <a:xfrm>
            <a:off x="3942730" y="17481766"/>
            <a:ext cx="312387" cy="325966"/>
          </a:xfrm>
          <a:prstGeom prst="rect">
            <a:avLst/>
          </a:prstGeom>
        </p:spPr>
      </p:pic>
      <p:sp>
        <p:nvSpPr>
          <p:cNvPr id="14" name="object 14"/>
          <p:cNvSpPr txBox="1"/>
          <p:nvPr/>
        </p:nvSpPr>
        <p:spPr>
          <a:xfrm>
            <a:off x="5172351" y="16334926"/>
            <a:ext cx="5452098" cy="1934882"/>
          </a:xfrm>
          <a:prstGeom prst="rect">
            <a:avLst/>
          </a:prstGeom>
        </p:spPr>
        <p:txBody>
          <a:bodyPr vert="horz" wrap="square" lIns="0" tIns="17201" rIns="0" bIns="0" rtlCol="0">
            <a:spAutoFit/>
          </a:bodyPr>
          <a:lstStyle/>
          <a:p>
            <a:pPr marL="18107" marR="7242" defTabSz="1303653">
              <a:lnSpc>
                <a:spcPct val="101099"/>
              </a:lnSpc>
              <a:spcBef>
                <a:spcPts val="136"/>
              </a:spcBef>
            </a:pPr>
            <a:r>
              <a:rPr lang="en-US" sz="2067" kern="0" dirty="0">
                <a:solidFill>
                  <a:sysClr val="windowText" lastClr="000000"/>
                </a:solidFill>
                <a:latin typeface="Calibri"/>
                <a:cs typeface="Calibri"/>
              </a:rPr>
              <a:t>To verify whether the solution of customizable virtual guide + immersive historical scene interaction can revitalize cultural relics and history, and break the limitations of one-way display and lack of interaction in traditional and existing XR museum applications.</a:t>
            </a:r>
          </a:p>
        </p:txBody>
      </p:sp>
      <p:sp>
        <p:nvSpPr>
          <p:cNvPr id="20" name="object 20"/>
          <p:cNvSpPr txBox="1"/>
          <p:nvPr/>
        </p:nvSpPr>
        <p:spPr>
          <a:xfrm>
            <a:off x="11944953" y="26225043"/>
            <a:ext cx="3972538" cy="418812"/>
          </a:xfrm>
          <a:prstGeom prst="rect">
            <a:avLst/>
          </a:prstGeom>
        </p:spPr>
        <p:txBody>
          <a:bodyPr vert="horz" wrap="square" lIns="0" tIns="23538" rIns="0" bIns="0" rtlCol="0">
            <a:spAutoFit/>
          </a:bodyPr>
          <a:lstStyle/>
          <a:p>
            <a:pPr marL="18107" defTabSz="1303653">
              <a:spcBef>
                <a:spcPts val="185"/>
              </a:spcBef>
            </a:pPr>
            <a:r>
              <a:rPr lang="en-US" sz="2567" b="1" kern="0" dirty="0">
                <a:solidFill>
                  <a:srgbClr val="000090"/>
                </a:solidFill>
                <a:latin typeface="Calibri"/>
                <a:cs typeface="Calibri"/>
              </a:rPr>
              <a:t>Evaluation &amp; Value</a:t>
            </a:r>
            <a:endParaRPr sz="2567" kern="0" dirty="0">
              <a:solidFill>
                <a:sysClr val="windowText" lastClr="000000"/>
              </a:solidFill>
              <a:latin typeface="Calibri"/>
              <a:cs typeface="Calibri"/>
            </a:endParaRPr>
          </a:p>
        </p:txBody>
      </p:sp>
      <p:sp>
        <p:nvSpPr>
          <p:cNvPr id="24" name="object 24"/>
          <p:cNvSpPr txBox="1"/>
          <p:nvPr/>
        </p:nvSpPr>
        <p:spPr>
          <a:xfrm>
            <a:off x="14481654" y="5443644"/>
            <a:ext cx="3744018" cy="418812"/>
          </a:xfrm>
          <a:prstGeom prst="rect">
            <a:avLst/>
          </a:prstGeom>
        </p:spPr>
        <p:txBody>
          <a:bodyPr vert="horz" wrap="square" lIns="0" tIns="23538" rIns="0" bIns="0" rtlCol="0">
            <a:spAutoFit/>
          </a:bodyPr>
          <a:lstStyle/>
          <a:p>
            <a:pPr marL="18107" defTabSz="1303653">
              <a:spcBef>
                <a:spcPts val="185"/>
              </a:spcBef>
            </a:pPr>
            <a:r>
              <a:rPr lang="en-US" sz="2567" b="1" kern="0" dirty="0">
                <a:solidFill>
                  <a:srgbClr val="000090"/>
                </a:solidFill>
                <a:latin typeface="Calibri"/>
                <a:cs typeface="Calibri"/>
              </a:rPr>
              <a:t>Prototypes &amp; Iteration</a:t>
            </a:r>
            <a:endParaRPr sz="2567" kern="0" dirty="0">
              <a:solidFill>
                <a:sysClr val="windowText" lastClr="000000"/>
              </a:solidFill>
              <a:latin typeface="Calibri"/>
              <a:cs typeface="Calibri"/>
            </a:endParaRPr>
          </a:p>
        </p:txBody>
      </p:sp>
      <p:sp>
        <p:nvSpPr>
          <p:cNvPr id="32" name="object 32"/>
          <p:cNvSpPr txBox="1"/>
          <p:nvPr/>
        </p:nvSpPr>
        <p:spPr>
          <a:xfrm>
            <a:off x="5160000" y="14261386"/>
            <a:ext cx="5171300" cy="1890189"/>
          </a:xfrm>
          <a:prstGeom prst="rect">
            <a:avLst/>
          </a:prstGeom>
        </p:spPr>
        <p:txBody>
          <a:bodyPr vert="horz" wrap="square" lIns="0" tIns="17201" rIns="0" bIns="0" rtlCol="0">
            <a:spAutoFit/>
          </a:bodyPr>
          <a:lstStyle/>
          <a:p>
            <a:pPr marL="18107" marR="7242" defTabSz="1303653">
              <a:lnSpc>
                <a:spcPct val="102200"/>
              </a:lnSpc>
              <a:spcBef>
                <a:spcPts val="136"/>
              </a:spcBef>
            </a:pPr>
            <a:r>
              <a:rPr lang="en-US" sz="2000" kern="0" dirty="0">
                <a:solidFill>
                  <a:sysClr val="windowText" lastClr="000000"/>
                </a:solidFill>
                <a:latin typeface="Calibri"/>
                <a:cs typeface="Calibri"/>
              </a:rPr>
              <a:t>To verify whether the XR+AI museum interactive system can significantly improve visitors’ entertainment, active engagement and satisfaction, and solve the core problems of insufficient fun and weak interactivity in traditional museums.</a:t>
            </a:r>
            <a:endParaRPr sz="2000" kern="0" dirty="0">
              <a:solidFill>
                <a:sysClr val="windowText" lastClr="000000"/>
              </a:solidFill>
              <a:latin typeface="Calibri"/>
              <a:cs typeface="Calibri"/>
            </a:endParaRPr>
          </a:p>
        </p:txBody>
      </p:sp>
      <p:grpSp>
        <p:nvGrpSpPr>
          <p:cNvPr id="33" name="object 33"/>
          <p:cNvGrpSpPr/>
          <p:nvPr/>
        </p:nvGrpSpPr>
        <p:grpSpPr>
          <a:xfrm>
            <a:off x="723262" y="15210522"/>
            <a:ext cx="3619463" cy="1262015"/>
            <a:chOff x="514062" y="11868864"/>
            <a:chExt cx="2538730" cy="885190"/>
          </a:xfrm>
        </p:grpSpPr>
        <p:sp>
          <p:nvSpPr>
            <p:cNvPr id="34" name="object 34"/>
            <p:cNvSpPr/>
            <p:nvPr/>
          </p:nvSpPr>
          <p:spPr>
            <a:xfrm>
              <a:off x="519879" y="11874682"/>
              <a:ext cx="2527300" cy="873125"/>
            </a:xfrm>
            <a:custGeom>
              <a:avLst/>
              <a:gdLst/>
              <a:ahLst/>
              <a:cxnLst/>
              <a:rect l="l" t="t" r="r" b="b"/>
              <a:pathLst>
                <a:path w="2527300" h="873125">
                  <a:moveTo>
                    <a:pt x="2526799" y="0"/>
                  </a:moveTo>
                  <a:lnTo>
                    <a:pt x="0" y="0"/>
                  </a:lnTo>
                  <a:lnTo>
                    <a:pt x="0" y="570081"/>
                  </a:lnTo>
                  <a:lnTo>
                    <a:pt x="1263370" y="872980"/>
                  </a:lnTo>
                  <a:lnTo>
                    <a:pt x="2526799" y="570081"/>
                  </a:lnTo>
                  <a:lnTo>
                    <a:pt x="2526799" y="0"/>
                  </a:lnTo>
                  <a:close/>
                </a:path>
              </a:pathLst>
            </a:custGeom>
            <a:solidFill>
              <a:srgbClr val="001F5F"/>
            </a:solidFill>
          </p:spPr>
          <p:txBody>
            <a:bodyPr wrap="square" lIns="0" tIns="0" rIns="0" bIns="0" rtlCol="0"/>
            <a:lstStyle/>
            <a:p>
              <a:pPr defTabSz="1303653"/>
              <a:endParaRPr sz="2567" kern="0">
                <a:solidFill>
                  <a:sysClr val="windowText" lastClr="000000"/>
                </a:solidFill>
              </a:endParaRPr>
            </a:p>
          </p:txBody>
        </p:sp>
        <p:sp>
          <p:nvSpPr>
            <p:cNvPr id="35" name="object 35"/>
            <p:cNvSpPr/>
            <p:nvPr/>
          </p:nvSpPr>
          <p:spPr>
            <a:xfrm>
              <a:off x="519879" y="11874681"/>
              <a:ext cx="2527300" cy="873125"/>
            </a:xfrm>
            <a:custGeom>
              <a:avLst/>
              <a:gdLst/>
              <a:ahLst/>
              <a:cxnLst/>
              <a:rect l="l" t="t" r="r" b="b"/>
              <a:pathLst>
                <a:path w="2527300" h="873125">
                  <a:moveTo>
                    <a:pt x="0" y="570081"/>
                  </a:moveTo>
                  <a:lnTo>
                    <a:pt x="0" y="0"/>
                  </a:lnTo>
                  <a:lnTo>
                    <a:pt x="2526799" y="0"/>
                  </a:lnTo>
                  <a:lnTo>
                    <a:pt x="2526799" y="570081"/>
                  </a:lnTo>
                  <a:lnTo>
                    <a:pt x="1263370" y="872981"/>
                  </a:lnTo>
                  <a:lnTo>
                    <a:pt x="0" y="570081"/>
                  </a:lnTo>
                  <a:close/>
                </a:path>
              </a:pathLst>
            </a:custGeom>
            <a:ln w="11634">
              <a:solidFill>
                <a:srgbClr val="41709C"/>
              </a:solidFill>
            </a:ln>
          </p:spPr>
          <p:txBody>
            <a:bodyPr wrap="square" lIns="0" tIns="0" rIns="0" bIns="0" rtlCol="0"/>
            <a:lstStyle/>
            <a:p>
              <a:pPr defTabSz="1303653"/>
              <a:endParaRPr sz="2567" kern="0">
                <a:solidFill>
                  <a:sysClr val="windowText" lastClr="000000"/>
                </a:solidFill>
              </a:endParaRPr>
            </a:p>
          </p:txBody>
        </p:sp>
      </p:grpSp>
      <p:sp>
        <p:nvSpPr>
          <p:cNvPr id="36" name="object 36"/>
          <p:cNvSpPr txBox="1"/>
          <p:nvPr/>
        </p:nvSpPr>
        <p:spPr>
          <a:xfrm>
            <a:off x="2237299" y="15514123"/>
            <a:ext cx="1764465" cy="405600"/>
          </a:xfrm>
          <a:prstGeom prst="rect">
            <a:avLst/>
          </a:prstGeom>
        </p:spPr>
        <p:txBody>
          <a:bodyPr vert="horz" wrap="square" lIns="0" tIns="16295" rIns="0" bIns="0" rtlCol="0">
            <a:spAutoFit/>
          </a:bodyPr>
          <a:lstStyle/>
          <a:p>
            <a:pPr marL="236287" marR="7242" indent="-219086" defTabSz="1303653">
              <a:lnSpc>
                <a:spcPct val="101800"/>
              </a:lnSpc>
              <a:spcBef>
                <a:spcPts val="129"/>
              </a:spcBef>
            </a:pPr>
            <a:r>
              <a:rPr lang="en-US" sz="2567" b="1" kern="0" spc="-15" dirty="0">
                <a:solidFill>
                  <a:srgbClr val="FFFFFF"/>
                </a:solidFill>
                <a:latin typeface="Calibri"/>
                <a:cs typeface="Calibri"/>
              </a:rPr>
              <a:t>RO1</a:t>
            </a:r>
            <a:endParaRPr sz="2567" kern="0" dirty="0">
              <a:solidFill>
                <a:sysClr val="windowText" lastClr="000000"/>
              </a:solidFill>
              <a:latin typeface="Calibri"/>
              <a:cs typeface="Calibri"/>
            </a:endParaRPr>
          </a:p>
        </p:txBody>
      </p:sp>
      <p:sp>
        <p:nvSpPr>
          <p:cNvPr id="39" name="object 39"/>
          <p:cNvSpPr txBox="1"/>
          <p:nvPr/>
        </p:nvSpPr>
        <p:spPr>
          <a:xfrm>
            <a:off x="3942558" y="13657354"/>
            <a:ext cx="3141456" cy="516210"/>
          </a:xfrm>
          <a:prstGeom prst="rect">
            <a:avLst/>
          </a:prstGeom>
        </p:spPr>
        <p:txBody>
          <a:bodyPr vert="horz" wrap="square" lIns="0" tIns="23538" rIns="0" bIns="0" rtlCol="0">
            <a:spAutoFit/>
          </a:bodyPr>
          <a:lstStyle/>
          <a:p>
            <a:pPr marL="18107" algn="ctr" defTabSz="1303653">
              <a:spcBef>
                <a:spcPts val="185"/>
              </a:spcBef>
            </a:pPr>
            <a:r>
              <a:rPr lang="en-US" sz="3200" b="1" kern="0" dirty="0">
                <a:solidFill>
                  <a:srgbClr val="000090"/>
                </a:solidFill>
                <a:latin typeface="Calibri"/>
                <a:cs typeface="Calibri"/>
              </a:rPr>
              <a:t>Design Solution</a:t>
            </a:r>
            <a:endParaRPr sz="3200" kern="0" dirty="0">
              <a:solidFill>
                <a:sysClr val="windowText" lastClr="000000"/>
              </a:solidFill>
              <a:latin typeface="Calibri"/>
              <a:cs typeface="Calibri"/>
            </a:endParaRPr>
          </a:p>
        </p:txBody>
      </p:sp>
      <p:sp>
        <p:nvSpPr>
          <p:cNvPr id="42" name="object 42"/>
          <p:cNvSpPr txBox="1"/>
          <p:nvPr/>
        </p:nvSpPr>
        <p:spPr>
          <a:xfrm>
            <a:off x="599217" y="5968179"/>
            <a:ext cx="9828137" cy="1364874"/>
          </a:xfrm>
          <a:prstGeom prst="rect">
            <a:avLst/>
          </a:prstGeom>
        </p:spPr>
        <p:txBody>
          <a:bodyPr vert="horz" wrap="square" lIns="0" tIns="254394" rIns="0" bIns="0" rtlCol="0">
            <a:spAutoFit/>
          </a:bodyPr>
          <a:lstStyle/>
          <a:p>
            <a:pPr marR="18107" defTabSz="1303653">
              <a:spcBef>
                <a:spcPts val="2003"/>
              </a:spcBef>
            </a:pPr>
            <a:r>
              <a:rPr lang="en-US" sz="1800" kern="0" dirty="0">
                <a:solidFill>
                  <a:sysClr val="windowText" lastClr="000000"/>
                </a:solidFill>
                <a:latin typeface="Calibri"/>
                <a:cs typeface="Calibri"/>
              </a:rPr>
              <a:t>In the digital age, museums face the dual challenge of creating deep immersion while avoiding information overload. Current digital tools often fail, leaving visitors disengaged. Research shows effective experiences require active exploration and emotional connection [1], yet many solutions ignore how visitor behavior—like dwell time and personal interest—directly impacts engagement [2].</a:t>
            </a:r>
          </a:p>
        </p:txBody>
      </p:sp>
      <p:sp>
        <p:nvSpPr>
          <p:cNvPr id="46" name="object 46"/>
          <p:cNvSpPr txBox="1"/>
          <p:nvPr/>
        </p:nvSpPr>
        <p:spPr>
          <a:xfrm>
            <a:off x="5759620" y="18817763"/>
            <a:ext cx="4618120" cy="10728233"/>
          </a:xfrm>
          <a:prstGeom prst="rect">
            <a:avLst/>
          </a:prstGeom>
        </p:spPr>
        <p:txBody>
          <a:bodyPr vert="horz" wrap="square" lIns="0" tIns="16295" rIns="0" bIns="0" rtlCol="0">
            <a:spAutoFit/>
          </a:bodyPr>
          <a:lstStyle/>
          <a:p>
            <a:pPr marL="18107" marR="7242" algn="just" defTabSz="1303653">
              <a:lnSpc>
                <a:spcPct val="108200"/>
              </a:lnSpc>
              <a:spcBef>
                <a:spcPts val="129"/>
              </a:spcBef>
            </a:pPr>
            <a:r>
              <a:rPr lang="en-US" sz="2067" b="1" kern="0" dirty="0">
                <a:solidFill>
                  <a:sysClr val="windowText" lastClr="000000"/>
                </a:solidFill>
                <a:latin typeface="Calibri"/>
                <a:cs typeface="Calibri"/>
              </a:rPr>
              <a:t>1. XR Immersive Historical Scene  + AI Character Interaction</a:t>
            </a:r>
          </a:p>
          <a:p>
            <a:pPr marL="18107" marR="7242" defTabSz="1303653">
              <a:lnSpc>
                <a:spcPct val="108200"/>
              </a:lnSpc>
              <a:spcBef>
                <a:spcPts val="129"/>
              </a:spcBef>
            </a:pPr>
            <a:r>
              <a:rPr lang="en-US" sz="2000" kern="0" dirty="0">
                <a:solidFill>
                  <a:sysClr val="windowText" lastClr="000000"/>
                </a:solidFill>
                <a:latin typeface="Calibri"/>
                <a:cs typeface="Calibri"/>
              </a:rPr>
              <a:t>1.1 Set up independent experience rooms to ensure safe and stable experience.</a:t>
            </a:r>
          </a:p>
          <a:p>
            <a:pPr marL="18107" marR="7242" defTabSz="1303653">
              <a:lnSpc>
                <a:spcPct val="108200"/>
              </a:lnSpc>
              <a:spcBef>
                <a:spcPts val="129"/>
              </a:spcBef>
            </a:pPr>
            <a:r>
              <a:rPr lang="en-US" sz="2000" kern="0" dirty="0">
                <a:solidFill>
                  <a:sysClr val="windowText" lastClr="000000"/>
                </a:solidFill>
                <a:latin typeface="Calibri"/>
                <a:cs typeface="Calibri"/>
              </a:rPr>
              <a:t>1.2 Restore historical scenes of cultural relics 1:1 through XR devices.</a:t>
            </a:r>
          </a:p>
          <a:p>
            <a:pPr marL="18107" marR="7242" defTabSz="1303653">
              <a:lnSpc>
                <a:spcPct val="108200"/>
              </a:lnSpc>
              <a:spcBef>
                <a:spcPts val="129"/>
              </a:spcBef>
            </a:pPr>
            <a:r>
              <a:rPr lang="en-US" sz="2000" kern="0" dirty="0">
                <a:solidFill>
                  <a:sysClr val="windowText" lastClr="000000"/>
                </a:solidFill>
                <a:latin typeface="Calibri"/>
                <a:cs typeface="Calibri"/>
              </a:rPr>
              <a:t>1.3 Support real-time dialogue, puzzle solving and task interaction with AI-driven virtual historical figures.</a:t>
            </a:r>
          </a:p>
          <a:p>
            <a:pPr marL="18107" marR="7242" algn="just" defTabSz="1303653">
              <a:lnSpc>
                <a:spcPct val="108200"/>
              </a:lnSpc>
              <a:spcBef>
                <a:spcPts val="129"/>
              </a:spcBef>
            </a:pPr>
            <a:r>
              <a:rPr lang="en-US" sz="2067" b="1" kern="0" dirty="0">
                <a:solidFill>
                  <a:sysClr val="windowText" lastClr="000000"/>
                </a:solidFill>
                <a:latin typeface="Calibri"/>
                <a:cs typeface="Calibri"/>
              </a:rPr>
              <a:t>2. AI Co-created Memorial Video</a:t>
            </a:r>
          </a:p>
          <a:p>
            <a:pPr marL="18107" marR="7242" defTabSz="1303653">
              <a:lnSpc>
                <a:spcPct val="108200"/>
              </a:lnSpc>
              <a:spcBef>
                <a:spcPts val="129"/>
              </a:spcBef>
            </a:pPr>
            <a:r>
              <a:rPr lang="en-US" sz="2000" kern="0" dirty="0">
                <a:solidFill>
                  <a:sysClr val="windowText" lastClr="000000"/>
                </a:solidFill>
                <a:latin typeface="Calibri"/>
                <a:cs typeface="Calibri"/>
              </a:rPr>
              <a:t>2.1 Visitors can capture wonderful moments during the visit through XR devices.</a:t>
            </a:r>
          </a:p>
          <a:p>
            <a:pPr marL="18107" marR="7242" defTabSz="1303653">
              <a:lnSpc>
                <a:spcPct val="108200"/>
              </a:lnSpc>
              <a:spcBef>
                <a:spcPts val="129"/>
              </a:spcBef>
            </a:pPr>
            <a:r>
              <a:rPr lang="en-US" sz="2000" kern="0" dirty="0">
                <a:solidFill>
                  <a:sysClr val="windowText" lastClr="000000"/>
                </a:solidFill>
                <a:latin typeface="Calibri"/>
                <a:cs typeface="Calibri"/>
              </a:rPr>
              <a:t>2.2 AI automatically edits materials, integrates immersive scene clips and personal participation footage.</a:t>
            </a:r>
          </a:p>
          <a:p>
            <a:pPr marL="18107" marR="7242" defTabSz="1303653">
              <a:lnSpc>
                <a:spcPct val="108200"/>
              </a:lnSpc>
              <a:spcBef>
                <a:spcPts val="129"/>
              </a:spcBef>
            </a:pPr>
            <a:r>
              <a:rPr lang="en-US" sz="2000" kern="0" dirty="0">
                <a:solidFill>
                  <a:sysClr val="windowText" lastClr="000000"/>
                </a:solidFill>
                <a:latin typeface="Calibri"/>
                <a:cs typeface="Calibri"/>
              </a:rPr>
              <a:t>2.3 Generate exclusive customized memorial video, supporting one-click saving and sharing.</a:t>
            </a:r>
          </a:p>
          <a:p>
            <a:pPr marL="18107" marR="7242" algn="just" defTabSz="1303653">
              <a:lnSpc>
                <a:spcPct val="108200"/>
              </a:lnSpc>
              <a:spcBef>
                <a:spcPts val="129"/>
              </a:spcBef>
            </a:pPr>
            <a:r>
              <a:rPr lang="en-US" sz="2067" b="1" kern="0" dirty="0">
                <a:solidFill>
                  <a:sysClr val="windowText" lastClr="000000"/>
                </a:solidFill>
                <a:latin typeface="Calibri"/>
                <a:cs typeface="Calibri"/>
              </a:rPr>
              <a:t>3. AI-Powered Personalized Visiting Adaptation</a:t>
            </a:r>
          </a:p>
          <a:p>
            <a:pPr marL="18107" marR="7242" defTabSz="1303653">
              <a:lnSpc>
                <a:spcPct val="108200"/>
              </a:lnSpc>
              <a:spcBef>
                <a:spcPts val="129"/>
              </a:spcBef>
            </a:pPr>
            <a:r>
              <a:rPr lang="en-US" sz="2000" kern="0" dirty="0">
                <a:solidFill>
                  <a:sysClr val="windowText" lastClr="000000"/>
                </a:solidFill>
                <a:latin typeface="Calibri"/>
                <a:cs typeface="Calibri"/>
              </a:rPr>
              <a:t>3.1 AI dynamically adjusts explanation depth and visiting routes based on visitors’ interests and pace.</a:t>
            </a:r>
          </a:p>
          <a:p>
            <a:pPr marL="18107" marR="7242" defTabSz="1303653">
              <a:lnSpc>
                <a:spcPct val="108200"/>
              </a:lnSpc>
              <a:spcBef>
                <a:spcPts val="129"/>
              </a:spcBef>
            </a:pPr>
            <a:r>
              <a:rPr lang="en-US" sz="2000" kern="0" dirty="0">
                <a:solidFill>
                  <a:sysClr val="windowText" lastClr="000000"/>
                </a:solidFill>
                <a:latin typeface="Calibri"/>
                <a:cs typeface="Calibri"/>
              </a:rPr>
              <a:t>3.2 Support digital check-in at key exhibits and accumulation of points.</a:t>
            </a:r>
          </a:p>
          <a:p>
            <a:pPr marL="18107" marR="7242" defTabSz="1303653">
              <a:lnSpc>
                <a:spcPct val="108200"/>
              </a:lnSpc>
              <a:spcBef>
                <a:spcPts val="129"/>
              </a:spcBef>
            </a:pPr>
            <a:r>
              <a:rPr lang="en-US" sz="2000" kern="0" dirty="0">
                <a:solidFill>
                  <a:sysClr val="windowText" lastClr="000000"/>
                </a:solidFill>
                <a:latin typeface="Calibri"/>
                <a:cs typeface="Calibri"/>
              </a:rPr>
              <a:t>3.3 Realize personalized “thousand people thousand faces” guidance experience.</a:t>
            </a:r>
          </a:p>
          <a:p>
            <a:pPr marL="18107" marR="7242" defTabSz="1303653">
              <a:lnSpc>
                <a:spcPct val="108200"/>
              </a:lnSpc>
              <a:spcBef>
                <a:spcPts val="129"/>
              </a:spcBef>
            </a:pPr>
            <a:r>
              <a:rPr lang="en-US" sz="2000" kern="0" dirty="0">
                <a:solidFill>
                  <a:sysClr val="windowText" lastClr="000000"/>
                </a:solidFill>
                <a:latin typeface="Calibri"/>
                <a:cs typeface="Calibri"/>
              </a:rPr>
              <a:t>3.4 Exchange accumulated points for exclusive digital souvenirs or physical cultural and creative gifts.</a:t>
            </a:r>
          </a:p>
          <a:p>
            <a:pPr marL="18107" marR="7242" algn="just" defTabSz="1303653">
              <a:lnSpc>
                <a:spcPct val="108200"/>
              </a:lnSpc>
              <a:spcBef>
                <a:spcPts val="129"/>
              </a:spcBef>
            </a:pPr>
            <a:endParaRPr sz="2067" kern="0" dirty="0">
              <a:solidFill>
                <a:sysClr val="windowText" lastClr="000000"/>
              </a:solidFill>
              <a:latin typeface="Calibri"/>
              <a:cs typeface="Calibri"/>
            </a:endParaRPr>
          </a:p>
        </p:txBody>
      </p:sp>
      <p:sp>
        <p:nvSpPr>
          <p:cNvPr id="60" name="object 60"/>
          <p:cNvSpPr/>
          <p:nvPr/>
        </p:nvSpPr>
        <p:spPr>
          <a:xfrm>
            <a:off x="731554" y="16537246"/>
            <a:ext cx="3603168" cy="1244813"/>
          </a:xfrm>
          <a:custGeom>
            <a:avLst/>
            <a:gdLst/>
            <a:ahLst/>
            <a:cxnLst/>
            <a:rect l="l" t="t" r="r" b="b"/>
            <a:pathLst>
              <a:path w="2527300" h="873125">
                <a:moveTo>
                  <a:pt x="2526740" y="0"/>
                </a:moveTo>
                <a:lnTo>
                  <a:pt x="0" y="0"/>
                </a:lnTo>
                <a:lnTo>
                  <a:pt x="0" y="570139"/>
                </a:lnTo>
                <a:lnTo>
                  <a:pt x="1263370" y="873039"/>
                </a:lnTo>
                <a:lnTo>
                  <a:pt x="2526740" y="570139"/>
                </a:lnTo>
                <a:lnTo>
                  <a:pt x="2526740" y="0"/>
                </a:lnTo>
                <a:close/>
              </a:path>
            </a:pathLst>
          </a:custGeom>
          <a:solidFill>
            <a:srgbClr val="FF0066"/>
          </a:solidFill>
        </p:spPr>
        <p:txBody>
          <a:bodyPr wrap="square" lIns="0" tIns="0" rIns="0" bIns="0" rtlCol="0"/>
          <a:lstStyle/>
          <a:p>
            <a:pPr defTabSz="1303653"/>
            <a:endParaRPr sz="2567" kern="0">
              <a:solidFill>
                <a:sysClr val="windowText" lastClr="000000"/>
              </a:solidFill>
            </a:endParaRPr>
          </a:p>
        </p:txBody>
      </p:sp>
      <p:sp>
        <p:nvSpPr>
          <p:cNvPr id="61" name="object 61"/>
          <p:cNvSpPr txBox="1"/>
          <p:nvPr/>
        </p:nvSpPr>
        <p:spPr>
          <a:xfrm>
            <a:off x="2238690" y="16851599"/>
            <a:ext cx="1556242" cy="405600"/>
          </a:xfrm>
          <a:prstGeom prst="rect">
            <a:avLst/>
          </a:prstGeom>
        </p:spPr>
        <p:txBody>
          <a:bodyPr vert="horz" wrap="square" lIns="0" tIns="16295" rIns="0" bIns="0" rtlCol="0">
            <a:spAutoFit/>
          </a:bodyPr>
          <a:lstStyle/>
          <a:p>
            <a:pPr marL="133081" marR="7242" indent="-115881" defTabSz="1303653">
              <a:lnSpc>
                <a:spcPct val="101800"/>
              </a:lnSpc>
              <a:spcBef>
                <a:spcPts val="129"/>
              </a:spcBef>
            </a:pPr>
            <a:r>
              <a:rPr lang="en-US" sz="2567" b="1" kern="0" spc="-15" dirty="0">
                <a:solidFill>
                  <a:srgbClr val="FFFFFF"/>
                </a:solidFill>
                <a:latin typeface="Calibri"/>
                <a:cs typeface="Calibri"/>
              </a:rPr>
              <a:t>RO2</a:t>
            </a:r>
            <a:endParaRPr sz="2567" kern="0" dirty="0">
              <a:solidFill>
                <a:sysClr val="windowText" lastClr="000000"/>
              </a:solidFill>
              <a:latin typeface="Calibri"/>
              <a:cs typeface="Calibri"/>
            </a:endParaRPr>
          </a:p>
        </p:txBody>
      </p:sp>
      <p:sp>
        <p:nvSpPr>
          <p:cNvPr id="62" name="object 62"/>
          <p:cNvSpPr txBox="1"/>
          <p:nvPr/>
        </p:nvSpPr>
        <p:spPr>
          <a:xfrm>
            <a:off x="5948690" y="18311825"/>
            <a:ext cx="7982532" cy="451912"/>
          </a:xfrm>
          <a:prstGeom prst="rect">
            <a:avLst/>
          </a:prstGeom>
        </p:spPr>
        <p:txBody>
          <a:bodyPr vert="horz" wrap="square" lIns="0" tIns="20821" rIns="0" bIns="0" rtlCol="0">
            <a:spAutoFit/>
          </a:bodyPr>
          <a:lstStyle/>
          <a:p>
            <a:pPr marL="18107" defTabSz="1303653">
              <a:spcBef>
                <a:spcPts val="163"/>
              </a:spcBef>
            </a:pPr>
            <a:r>
              <a:rPr lang="en-US" sz="2800" b="1" kern="0" dirty="0">
                <a:solidFill>
                  <a:srgbClr val="FF0066"/>
                </a:solidFill>
                <a:latin typeface="Calibri"/>
                <a:cs typeface="Calibri"/>
              </a:rPr>
              <a:t>Key Experience Highlights:</a:t>
            </a:r>
            <a:endParaRPr sz="2800" kern="0" dirty="0">
              <a:solidFill>
                <a:sysClr val="windowText" lastClr="000000"/>
              </a:solidFill>
              <a:latin typeface="Calibri"/>
              <a:cs typeface="Calibri"/>
            </a:endParaRPr>
          </a:p>
        </p:txBody>
      </p:sp>
      <p:sp>
        <p:nvSpPr>
          <p:cNvPr id="84" name="object 84"/>
          <p:cNvSpPr/>
          <p:nvPr/>
        </p:nvSpPr>
        <p:spPr>
          <a:xfrm>
            <a:off x="18225672" y="18817763"/>
            <a:ext cx="2163712" cy="285175"/>
          </a:xfrm>
          <a:custGeom>
            <a:avLst/>
            <a:gdLst/>
            <a:ahLst/>
            <a:cxnLst/>
            <a:rect l="l" t="t" r="r" b="b"/>
            <a:pathLst>
              <a:path w="1517650" h="200025">
                <a:moveTo>
                  <a:pt x="1517405" y="0"/>
                </a:moveTo>
                <a:lnTo>
                  <a:pt x="0" y="0"/>
                </a:lnTo>
                <a:lnTo>
                  <a:pt x="0" y="199650"/>
                </a:lnTo>
                <a:lnTo>
                  <a:pt x="1517405" y="199650"/>
                </a:lnTo>
                <a:lnTo>
                  <a:pt x="1517405" y="0"/>
                </a:lnTo>
                <a:close/>
              </a:path>
            </a:pathLst>
          </a:custGeom>
          <a:solidFill>
            <a:srgbClr val="FFFFFF"/>
          </a:solidFill>
        </p:spPr>
        <p:txBody>
          <a:bodyPr wrap="square" lIns="0" tIns="0" rIns="0" bIns="0" rtlCol="0"/>
          <a:lstStyle/>
          <a:p>
            <a:pPr defTabSz="1303653"/>
            <a:endParaRPr sz="2567" kern="0">
              <a:solidFill>
                <a:sysClr val="windowText" lastClr="000000"/>
              </a:solidFill>
            </a:endParaRPr>
          </a:p>
        </p:txBody>
      </p:sp>
      <p:pic>
        <p:nvPicPr>
          <p:cNvPr id="96" name="object 96"/>
          <p:cNvPicPr/>
          <p:nvPr/>
        </p:nvPicPr>
        <p:blipFill>
          <a:blip r:embed="rId6" cstate="print"/>
          <a:stretch>
            <a:fillRect/>
          </a:stretch>
        </p:blipFill>
        <p:spPr>
          <a:xfrm>
            <a:off x="16453483" y="20237120"/>
            <a:ext cx="633209" cy="605567"/>
          </a:xfrm>
          <a:prstGeom prst="rect">
            <a:avLst/>
          </a:prstGeom>
        </p:spPr>
      </p:pic>
      <p:pic>
        <p:nvPicPr>
          <p:cNvPr id="98" name="object 98"/>
          <p:cNvPicPr/>
          <p:nvPr/>
        </p:nvPicPr>
        <p:blipFill>
          <a:blip r:embed="rId7" cstate="print"/>
          <a:stretch>
            <a:fillRect/>
          </a:stretch>
        </p:blipFill>
        <p:spPr>
          <a:xfrm>
            <a:off x="16453483" y="18960350"/>
            <a:ext cx="582138" cy="582137"/>
          </a:xfrm>
          <a:prstGeom prst="rect">
            <a:avLst/>
          </a:prstGeom>
        </p:spPr>
      </p:pic>
      <p:pic>
        <p:nvPicPr>
          <p:cNvPr id="100" name="bg object 17">
            <a:extLst>
              <a:ext uri="{FF2B5EF4-FFF2-40B4-BE49-F238E27FC236}">
                <a16:creationId xmlns:a16="http://schemas.microsoft.com/office/drawing/2014/main" id="{9632AE98-6346-45B3-B4B1-709ADC4F41F6}"/>
              </a:ext>
            </a:extLst>
          </p:cNvPr>
          <p:cNvPicPr/>
          <p:nvPr/>
        </p:nvPicPr>
        <p:blipFill>
          <a:blip r:embed="rId8" cstate="print"/>
          <a:stretch>
            <a:fillRect/>
          </a:stretch>
        </p:blipFill>
        <p:spPr>
          <a:xfrm>
            <a:off x="23295" y="3906592"/>
            <a:ext cx="21373548" cy="179272"/>
          </a:xfrm>
          <a:prstGeom prst="rect">
            <a:avLst/>
          </a:prstGeom>
        </p:spPr>
      </p:pic>
      <p:sp>
        <p:nvSpPr>
          <p:cNvPr id="101" name="bg object 18">
            <a:extLst>
              <a:ext uri="{FF2B5EF4-FFF2-40B4-BE49-F238E27FC236}">
                <a16:creationId xmlns:a16="http://schemas.microsoft.com/office/drawing/2014/main" id="{D4D9ABF9-CC80-4F30-B6CA-82B14B306CBA}"/>
              </a:ext>
            </a:extLst>
          </p:cNvPr>
          <p:cNvSpPr/>
          <p:nvPr/>
        </p:nvSpPr>
        <p:spPr>
          <a:xfrm>
            <a:off x="467493" y="5367017"/>
            <a:ext cx="10091586" cy="23535280"/>
          </a:xfrm>
          <a:custGeom>
            <a:avLst/>
            <a:gdLst/>
            <a:ahLst/>
            <a:cxnLst/>
            <a:rect l="l" t="t" r="r" b="b"/>
            <a:pathLst>
              <a:path w="7078345" h="16343630">
                <a:moveTo>
                  <a:pt x="0" y="138448"/>
                </a:moveTo>
                <a:lnTo>
                  <a:pt x="7057" y="94697"/>
                </a:lnTo>
                <a:lnTo>
                  <a:pt x="26711" y="56693"/>
                </a:lnTo>
                <a:lnTo>
                  <a:pt x="56679" y="26719"/>
                </a:lnTo>
                <a:lnTo>
                  <a:pt x="94683" y="7060"/>
                </a:lnTo>
                <a:lnTo>
                  <a:pt x="138442" y="0"/>
                </a:lnTo>
                <a:lnTo>
                  <a:pt x="6939538" y="0"/>
                </a:lnTo>
                <a:lnTo>
                  <a:pt x="6983311" y="7060"/>
                </a:lnTo>
                <a:lnTo>
                  <a:pt x="7021318" y="26719"/>
                </a:lnTo>
                <a:lnTo>
                  <a:pt x="7051284" y="56693"/>
                </a:lnTo>
                <a:lnTo>
                  <a:pt x="7070932" y="94697"/>
                </a:lnTo>
                <a:lnTo>
                  <a:pt x="7077987" y="138448"/>
                </a:lnTo>
                <a:lnTo>
                  <a:pt x="7077987" y="16204684"/>
                </a:lnTo>
                <a:lnTo>
                  <a:pt x="7070932" y="16248459"/>
                </a:lnTo>
                <a:lnTo>
                  <a:pt x="7051284" y="16286470"/>
                </a:lnTo>
                <a:lnTo>
                  <a:pt x="7021318" y="16316441"/>
                </a:lnTo>
                <a:lnTo>
                  <a:pt x="6983311" y="16336093"/>
                </a:lnTo>
                <a:lnTo>
                  <a:pt x="6939538" y="16343150"/>
                </a:lnTo>
                <a:lnTo>
                  <a:pt x="138442" y="16343156"/>
                </a:lnTo>
                <a:lnTo>
                  <a:pt x="94683" y="16336093"/>
                </a:lnTo>
                <a:lnTo>
                  <a:pt x="56679" y="16316441"/>
                </a:lnTo>
                <a:lnTo>
                  <a:pt x="26711" y="16286470"/>
                </a:lnTo>
                <a:lnTo>
                  <a:pt x="7057" y="16248459"/>
                </a:lnTo>
                <a:lnTo>
                  <a:pt x="0" y="16204684"/>
                </a:lnTo>
                <a:lnTo>
                  <a:pt x="0" y="138448"/>
                </a:lnTo>
                <a:close/>
              </a:path>
            </a:pathLst>
          </a:custGeom>
          <a:ln w="11634">
            <a:solidFill>
              <a:srgbClr val="5B9BD4"/>
            </a:solidFill>
          </a:ln>
        </p:spPr>
        <p:txBody>
          <a:bodyPr wrap="square" lIns="0" tIns="0" rIns="0" bIns="0" rtlCol="0"/>
          <a:lstStyle/>
          <a:p>
            <a:pPr defTabSz="1303653"/>
            <a:endParaRPr sz="2567" kern="0">
              <a:solidFill>
                <a:sysClr val="windowText" lastClr="000000"/>
              </a:solidFill>
            </a:endParaRPr>
          </a:p>
        </p:txBody>
      </p:sp>
      <p:sp>
        <p:nvSpPr>
          <p:cNvPr id="102" name="bg object 19">
            <a:extLst>
              <a:ext uri="{FF2B5EF4-FFF2-40B4-BE49-F238E27FC236}">
                <a16:creationId xmlns:a16="http://schemas.microsoft.com/office/drawing/2014/main" id="{C40722C2-FE7C-4BDF-8AF8-4A777A341586}"/>
              </a:ext>
            </a:extLst>
          </p:cNvPr>
          <p:cNvSpPr/>
          <p:nvPr/>
        </p:nvSpPr>
        <p:spPr>
          <a:xfrm>
            <a:off x="10914905" y="5367017"/>
            <a:ext cx="10091586" cy="23535280"/>
          </a:xfrm>
          <a:custGeom>
            <a:avLst/>
            <a:gdLst/>
            <a:ahLst/>
            <a:cxnLst/>
            <a:rect l="l" t="t" r="r" b="b"/>
            <a:pathLst>
              <a:path w="7078344" h="16343630">
                <a:moveTo>
                  <a:pt x="0" y="138448"/>
                </a:moveTo>
                <a:lnTo>
                  <a:pt x="7060" y="94697"/>
                </a:lnTo>
                <a:lnTo>
                  <a:pt x="26719" y="56693"/>
                </a:lnTo>
                <a:lnTo>
                  <a:pt x="56693" y="26719"/>
                </a:lnTo>
                <a:lnTo>
                  <a:pt x="94697" y="7060"/>
                </a:lnTo>
                <a:lnTo>
                  <a:pt x="138448" y="0"/>
                </a:lnTo>
                <a:lnTo>
                  <a:pt x="6939579" y="0"/>
                </a:lnTo>
                <a:lnTo>
                  <a:pt x="6983330" y="7060"/>
                </a:lnTo>
                <a:lnTo>
                  <a:pt x="7021334" y="26719"/>
                </a:lnTo>
                <a:lnTo>
                  <a:pt x="7051308" y="56693"/>
                </a:lnTo>
                <a:lnTo>
                  <a:pt x="7070967" y="94697"/>
                </a:lnTo>
                <a:lnTo>
                  <a:pt x="7078027" y="138448"/>
                </a:lnTo>
                <a:lnTo>
                  <a:pt x="7078027" y="16204684"/>
                </a:lnTo>
                <a:lnTo>
                  <a:pt x="7070967" y="16248459"/>
                </a:lnTo>
                <a:lnTo>
                  <a:pt x="7051308" y="16286470"/>
                </a:lnTo>
                <a:lnTo>
                  <a:pt x="7021334" y="16316441"/>
                </a:lnTo>
                <a:lnTo>
                  <a:pt x="6983330" y="16336093"/>
                </a:lnTo>
                <a:lnTo>
                  <a:pt x="6939579" y="16343150"/>
                </a:lnTo>
                <a:lnTo>
                  <a:pt x="138448" y="16343156"/>
                </a:lnTo>
                <a:lnTo>
                  <a:pt x="94697" y="16336093"/>
                </a:lnTo>
                <a:lnTo>
                  <a:pt x="56693" y="16316441"/>
                </a:lnTo>
                <a:lnTo>
                  <a:pt x="26719" y="16286470"/>
                </a:lnTo>
                <a:lnTo>
                  <a:pt x="7060" y="16248459"/>
                </a:lnTo>
                <a:lnTo>
                  <a:pt x="0" y="16204684"/>
                </a:lnTo>
                <a:lnTo>
                  <a:pt x="0" y="138448"/>
                </a:lnTo>
                <a:close/>
              </a:path>
            </a:pathLst>
          </a:custGeom>
          <a:ln w="11634">
            <a:solidFill>
              <a:srgbClr val="5B9BD4"/>
            </a:solidFill>
          </a:ln>
        </p:spPr>
        <p:txBody>
          <a:bodyPr wrap="square" lIns="0" tIns="0" rIns="0" bIns="0" rtlCol="0"/>
          <a:lstStyle/>
          <a:p>
            <a:pPr defTabSz="1303653"/>
            <a:endParaRPr sz="2567" kern="0" dirty="0">
              <a:solidFill>
                <a:sysClr val="windowText" lastClr="000000"/>
              </a:solidFill>
            </a:endParaRPr>
          </a:p>
        </p:txBody>
      </p:sp>
      <p:sp>
        <p:nvSpPr>
          <p:cNvPr id="109" name="文本框 108">
            <a:extLst>
              <a:ext uri="{FF2B5EF4-FFF2-40B4-BE49-F238E27FC236}">
                <a16:creationId xmlns:a16="http://schemas.microsoft.com/office/drawing/2014/main" id="{8C2576DC-BB27-FC9C-A70C-276430E25A02}"/>
              </a:ext>
            </a:extLst>
          </p:cNvPr>
          <p:cNvSpPr txBox="1"/>
          <p:nvPr/>
        </p:nvSpPr>
        <p:spPr>
          <a:xfrm>
            <a:off x="10975003" y="5870362"/>
            <a:ext cx="9944383" cy="1754326"/>
          </a:xfrm>
          <a:prstGeom prst="rect">
            <a:avLst/>
          </a:prstGeom>
          <a:noFill/>
        </p:spPr>
        <p:txBody>
          <a:bodyPr wrap="square" rtlCol="0">
            <a:spAutoFit/>
          </a:bodyPr>
          <a:lstStyle/>
          <a:p>
            <a:r>
              <a:rPr lang="en-US" altLang="zh-CN" sz="2400" b="1" dirty="0">
                <a:solidFill>
                  <a:srgbClr val="00B050"/>
                </a:solidFill>
              </a:rPr>
              <a:t>Design Evolution Process</a:t>
            </a:r>
          </a:p>
          <a:p>
            <a:r>
              <a:rPr lang="en-US" altLang="zh-CN" sz="2000" dirty="0"/>
              <a:t>Our design process was centered on solving the problem of "how to blend storytelling with interaction without making visitors feel overwhelmed or bored." This core idea guided our journey from initial concept to high-fidelity prototype.</a:t>
            </a:r>
          </a:p>
          <a:p>
            <a:r>
              <a:rPr lang="en-US" altLang="zh-CN" sz="2400" b="1" dirty="0">
                <a:solidFill>
                  <a:srgbClr val="00B050"/>
                </a:solidFill>
              </a:rPr>
              <a:t>Evolution of User Experience: From Concept to High-Fidelity </a:t>
            </a:r>
          </a:p>
        </p:txBody>
      </p:sp>
      <p:sp>
        <p:nvSpPr>
          <p:cNvPr id="110" name="文本框 109">
            <a:extLst>
              <a:ext uri="{FF2B5EF4-FFF2-40B4-BE49-F238E27FC236}">
                <a16:creationId xmlns:a16="http://schemas.microsoft.com/office/drawing/2014/main" id="{E36BD9E2-39FF-3CDA-2416-87BEDAFA7F22}"/>
              </a:ext>
            </a:extLst>
          </p:cNvPr>
          <p:cNvSpPr txBox="1"/>
          <p:nvPr/>
        </p:nvSpPr>
        <p:spPr>
          <a:xfrm>
            <a:off x="10972114" y="7593488"/>
            <a:ext cx="4705057" cy="6247864"/>
          </a:xfrm>
          <a:prstGeom prst="rect">
            <a:avLst/>
          </a:prstGeom>
          <a:noFill/>
        </p:spPr>
        <p:txBody>
          <a:bodyPr wrap="square" rtlCol="0">
            <a:spAutoFit/>
          </a:bodyPr>
          <a:lstStyle/>
          <a:p>
            <a:pPr marL="0" marR="0" lvl="0" indent="0" algn="l" defTabSz="2481316"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Our UI design prioritizes intuitive navigation and accessibility. The </a:t>
            </a:r>
            <a:r>
              <a:rPr kumimoji="0" lang="en-US" altLang="zh-CN" sz="20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Home Page </a:t>
            </a:r>
            <a:r>
              <a:rPr kumimoji="0" lang="en-US" altLang="zh-CN" sz="20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serves as a strategic entry portal, implementing a clear </a:t>
            </a:r>
            <a:r>
              <a:rPr kumimoji="0" lang="en-US" altLang="zh-CN" sz="20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user-role bifurcation</a:t>
            </a:r>
            <a:r>
              <a:rPr kumimoji="0" lang="en-US" altLang="zh-CN" sz="20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that seamlessly directs visitors and museum administrators to their respective functional hubs.</a:t>
            </a:r>
          </a:p>
          <a:p>
            <a:pPr marL="0" marR="0" lvl="0" indent="0" algn="l" defTabSz="2481316"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a:p>
            <a:pPr marL="0" marR="0" lvl="0" indent="0" algn="l" defTabSz="2481316"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For the visitor experience, the interface offers an </a:t>
            </a:r>
            <a:r>
              <a:rPr kumimoji="0" lang="en-US" altLang="zh-CN" sz="20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unrestricted discovery mode</a:t>
            </a:r>
            <a:r>
              <a:rPr kumimoji="0" lang="en-US" altLang="zh-CN" sz="20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allowing users to explore and select from a diverse curated list of museums. Once a museum is chosen, the layout transitions into an immersive showcase of our </a:t>
            </a:r>
            <a:r>
              <a:rPr kumimoji="0" lang="en-US" altLang="zh-CN" sz="20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three core playful features</a:t>
            </a:r>
            <a:r>
              <a:rPr kumimoji="0" lang="en-US" altLang="zh-CN" sz="20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 Each feature is designed to maximize engagement through visual hierarchy and minimalist aesthetics, ensuring that the technology (XR &amp; AI) feels approachable and integrated into the cultural journey.</a:t>
            </a:r>
          </a:p>
        </p:txBody>
      </p:sp>
      <p:pic>
        <p:nvPicPr>
          <p:cNvPr id="94" name="object 94"/>
          <p:cNvPicPr/>
          <p:nvPr/>
        </p:nvPicPr>
        <p:blipFill>
          <a:blip r:embed="rId7" cstate="print"/>
          <a:stretch>
            <a:fillRect/>
          </a:stretch>
        </p:blipFill>
        <p:spPr>
          <a:xfrm>
            <a:off x="16595649" y="17858695"/>
            <a:ext cx="582138" cy="582137"/>
          </a:xfrm>
          <a:prstGeom prst="rect">
            <a:avLst/>
          </a:prstGeom>
        </p:spPr>
      </p:pic>
      <p:sp>
        <p:nvSpPr>
          <p:cNvPr id="120" name="文本框 119">
            <a:extLst>
              <a:ext uri="{FF2B5EF4-FFF2-40B4-BE49-F238E27FC236}">
                <a16:creationId xmlns:a16="http://schemas.microsoft.com/office/drawing/2014/main" id="{118B477A-96F1-33F8-D075-83DCAC4E802E}"/>
              </a:ext>
            </a:extLst>
          </p:cNvPr>
          <p:cNvSpPr txBox="1"/>
          <p:nvPr/>
        </p:nvSpPr>
        <p:spPr>
          <a:xfrm>
            <a:off x="16108579" y="26011955"/>
            <a:ext cx="4870386" cy="2923877"/>
          </a:xfrm>
          <a:prstGeom prst="rect">
            <a:avLst/>
          </a:prstGeom>
          <a:noFill/>
        </p:spPr>
        <p:txBody>
          <a:bodyPr wrap="square" rtlCol="0">
            <a:spAutoFit/>
          </a:bodyPr>
          <a:lstStyle/>
          <a:p>
            <a:r>
              <a:rPr lang="en-US" altLang="zh-CN" sz="2400" b="1" dirty="0">
                <a:solidFill>
                  <a:srgbClr val="00B050"/>
                </a:solidFill>
              </a:rPr>
              <a:t>Project Value</a:t>
            </a:r>
          </a:p>
          <a:p>
            <a:r>
              <a:rPr lang="en-US" altLang="zh-CN" sz="2000" b="1" dirty="0"/>
              <a:t>Practical Value (For Museums)</a:t>
            </a:r>
            <a:r>
              <a:rPr lang="en-US" altLang="zh-CN" sz="2000" dirty="0"/>
              <a:t> </a:t>
            </a:r>
          </a:p>
          <a:p>
            <a:r>
              <a:rPr lang="en-US" altLang="zh-CN" sz="2000" dirty="0"/>
              <a:t>Offers a high-engagement, low-cost digital transformation template for cultural institutions.</a:t>
            </a:r>
          </a:p>
          <a:p>
            <a:r>
              <a:rPr lang="en-US" altLang="zh-CN" sz="2000" b="1" dirty="0"/>
              <a:t>Academic &amp; Design Value (For the HCD Field)</a:t>
            </a:r>
          </a:p>
          <a:p>
            <a:r>
              <a:rPr lang="en-US" altLang="zh-CN" sz="2000" dirty="0"/>
              <a:t>Explores how "personalization" and "multimodal interaction" reduce cognitive load in informal learning environments.</a:t>
            </a:r>
          </a:p>
        </p:txBody>
      </p:sp>
      <p:sp>
        <p:nvSpPr>
          <p:cNvPr id="121" name="文本框 120">
            <a:extLst>
              <a:ext uri="{FF2B5EF4-FFF2-40B4-BE49-F238E27FC236}">
                <a16:creationId xmlns:a16="http://schemas.microsoft.com/office/drawing/2014/main" id="{92690FCC-774D-4D25-5E06-CE4F7D4DCB5D}"/>
              </a:ext>
            </a:extLst>
          </p:cNvPr>
          <p:cNvSpPr txBox="1"/>
          <p:nvPr/>
        </p:nvSpPr>
        <p:spPr>
          <a:xfrm>
            <a:off x="11244575" y="26772802"/>
            <a:ext cx="4596714" cy="2000548"/>
          </a:xfrm>
          <a:prstGeom prst="rect">
            <a:avLst/>
          </a:prstGeom>
          <a:noFill/>
        </p:spPr>
        <p:txBody>
          <a:bodyPr wrap="square" rtlCol="0">
            <a:spAutoFit/>
          </a:bodyPr>
          <a:lstStyle/>
          <a:p>
            <a:r>
              <a:rPr lang="en-US" altLang="zh-CN" sz="2400" b="1" dirty="0">
                <a:solidFill>
                  <a:srgbClr val="00B050"/>
                </a:solidFill>
              </a:rPr>
              <a:t>Initial Findings: </a:t>
            </a:r>
          </a:p>
          <a:p>
            <a:r>
              <a:rPr lang="en-US" altLang="zh-CN" sz="2000" dirty="0"/>
              <a:t>Concept testing showed a 65% increase in interaction intent when users could customize their guide's persona. Feedback: "Asking questions 'on the fly' to a persona makes history feel personal."</a:t>
            </a:r>
            <a:endParaRPr lang="zh-CN" altLang="en-US" sz="2000" dirty="0"/>
          </a:p>
        </p:txBody>
      </p:sp>
      <p:sp>
        <p:nvSpPr>
          <p:cNvPr id="122" name="文本框 121">
            <a:extLst>
              <a:ext uri="{FF2B5EF4-FFF2-40B4-BE49-F238E27FC236}">
                <a16:creationId xmlns:a16="http://schemas.microsoft.com/office/drawing/2014/main" id="{11D8E40B-B8A7-F58C-DEA7-EFA30C657E1B}"/>
              </a:ext>
            </a:extLst>
          </p:cNvPr>
          <p:cNvSpPr txBox="1"/>
          <p:nvPr/>
        </p:nvSpPr>
        <p:spPr>
          <a:xfrm>
            <a:off x="8713694" y="28887695"/>
            <a:ext cx="12425083" cy="1747723"/>
          </a:xfrm>
          <a:prstGeom prst="rect">
            <a:avLst/>
          </a:prstGeom>
          <a:noFill/>
        </p:spPr>
        <p:txBody>
          <a:bodyPr wrap="square" rtlCol="0">
            <a:spAutoFit/>
          </a:bodyPr>
          <a:lstStyle/>
          <a:p>
            <a:pPr marL="113840" marR="0" lvl="0" indent="0" defTabSz="914400" eaLnBrk="1" fontAlgn="auto" latinLnBrk="0" hangingPunct="1">
              <a:lnSpc>
                <a:spcPct val="100000"/>
              </a:lnSpc>
              <a:spcAft>
                <a:spcPts val="0"/>
              </a:spcAft>
              <a:buClrTx/>
              <a:buSzTx/>
              <a:buFontTx/>
              <a:buNone/>
              <a:tabLst/>
              <a:defRPr/>
            </a:pPr>
            <a:r>
              <a:rPr kumimoji="0" lang="en-US" altLang="zh-CN" sz="1400" b="1" i="0" u="none" strike="noStrike" kern="0" cap="none" spc="0" normalizeH="0" baseline="0" noProof="0" dirty="0">
                <a:ln>
                  <a:noFill/>
                </a:ln>
                <a:solidFill>
                  <a:sysClr val="windowText" lastClr="000000"/>
                </a:solidFill>
                <a:effectLst/>
                <a:uLnTx/>
                <a:uFillTx/>
                <a:latin typeface="Arial"/>
                <a:cs typeface="Arial"/>
              </a:rPr>
              <a:t>Academic References: </a:t>
            </a:r>
          </a:p>
          <a:p>
            <a:pPr marL="113840" marR="0" lvl="0" indent="0" defTabSz="914400" eaLnBrk="1" fontAlgn="auto" latinLnBrk="0" hangingPunct="1">
              <a:lnSpc>
                <a:spcPct val="100000"/>
              </a:lnSpc>
              <a:spcAft>
                <a:spcPts val="0"/>
              </a:spcAft>
              <a:buClrTx/>
              <a:buSzTx/>
              <a:buFontTx/>
              <a:buNone/>
              <a:tabLst/>
              <a:defRPr/>
            </a:pPr>
            <a:r>
              <a:rPr kumimoji="0" lang="en-US" altLang="zh-CN" sz="1400" i="0" u="none" strike="noStrike" kern="0" cap="none" spc="0" normalizeH="0" baseline="0" noProof="0" dirty="0">
                <a:ln>
                  <a:noFill/>
                </a:ln>
                <a:solidFill>
                  <a:sysClr val="windowText" lastClr="000000"/>
                </a:solidFill>
                <a:effectLst/>
                <a:uLnTx/>
                <a:uFillTx/>
                <a:latin typeface="Arial"/>
                <a:cs typeface="Arial"/>
              </a:rPr>
              <a:t>[1]</a:t>
            </a:r>
            <a:r>
              <a:rPr kumimoji="0" lang="en-US" altLang="zh-CN" sz="1400" b="0" i="0" u="none" strike="noStrike" kern="0" cap="none" spc="0" normalizeH="0" baseline="0" noProof="0" dirty="0">
                <a:ln>
                  <a:noFill/>
                </a:ln>
                <a:solidFill>
                  <a:sysClr val="windowText" lastClr="000000"/>
                </a:solidFill>
                <a:effectLst/>
                <a:uLnTx/>
                <a:uFillTx/>
                <a:latin typeface="Arial"/>
                <a:cs typeface="Arial"/>
              </a:rPr>
              <a:t> S. Benford, G. </a:t>
            </a:r>
            <a:r>
              <a:rPr kumimoji="0" lang="en-US" altLang="zh-CN" sz="1400" b="0" i="0" u="none" strike="noStrike" kern="0" cap="none" spc="0" normalizeH="0" baseline="0" noProof="0" dirty="0" err="1">
                <a:ln>
                  <a:noFill/>
                </a:ln>
                <a:solidFill>
                  <a:sysClr val="windowText" lastClr="000000"/>
                </a:solidFill>
                <a:effectLst/>
                <a:uLnTx/>
                <a:uFillTx/>
                <a:latin typeface="Arial"/>
                <a:cs typeface="Arial"/>
              </a:rPr>
              <a:t>Giannachi</a:t>
            </a:r>
            <a:r>
              <a:rPr kumimoji="0" lang="en-US" altLang="zh-CN" sz="1400" b="0" i="0" u="none" strike="noStrike" kern="0" cap="none" spc="0" normalizeH="0" baseline="0" noProof="0" dirty="0">
                <a:ln>
                  <a:noFill/>
                </a:ln>
                <a:solidFill>
                  <a:sysClr val="windowText" lastClr="000000"/>
                </a:solidFill>
                <a:effectLst/>
                <a:uLnTx/>
                <a:uFillTx/>
                <a:latin typeface="Arial"/>
                <a:cs typeface="Arial"/>
              </a:rPr>
              <a:t>, B. Koleva, and T. Rodden, “From interaction to trajectories: Designing coherent journeys through user     experiences,” in Proc. SIGCHI Conf. Hum. Factors </a:t>
            </a:r>
            <a:r>
              <a:rPr kumimoji="0" lang="en-US" altLang="zh-CN" sz="1400" b="0" i="0" u="none" strike="noStrike" kern="0" cap="none" spc="0" normalizeH="0" baseline="0" noProof="0" dirty="0" err="1">
                <a:ln>
                  <a:noFill/>
                </a:ln>
                <a:solidFill>
                  <a:sysClr val="windowText" lastClr="000000"/>
                </a:solidFill>
                <a:effectLst/>
                <a:uLnTx/>
                <a:uFillTx/>
                <a:latin typeface="Arial"/>
                <a:cs typeface="Arial"/>
              </a:rPr>
              <a:t>Comput</a:t>
            </a:r>
            <a:r>
              <a:rPr kumimoji="0" lang="en-US" altLang="zh-CN" sz="1400" b="0" i="0" u="none" strike="noStrike" kern="0" cap="none" spc="0" normalizeH="0" baseline="0" noProof="0" dirty="0">
                <a:ln>
                  <a:noFill/>
                </a:ln>
                <a:solidFill>
                  <a:sysClr val="windowText" lastClr="000000"/>
                </a:solidFill>
                <a:effectLst/>
                <a:uLnTx/>
                <a:uFillTx/>
                <a:latin typeface="Arial"/>
                <a:cs typeface="Arial"/>
              </a:rPr>
              <a:t>. Syst., 2009, pp. 709–718.</a:t>
            </a:r>
          </a:p>
          <a:p>
            <a:pPr marL="113840" marR="0" lvl="0" indent="0" defTabSz="914400" eaLnBrk="1" fontAlgn="auto" latinLnBrk="0" hangingPunct="1">
              <a:lnSpc>
                <a:spcPct val="100000"/>
              </a:lnSpc>
              <a:spcAft>
                <a:spcPts val="0"/>
              </a:spcAft>
              <a:buClrTx/>
              <a:buSzTx/>
              <a:buFontTx/>
              <a:buNone/>
              <a:tabLst/>
              <a:defRPr/>
            </a:pPr>
            <a:r>
              <a:rPr kumimoji="0" lang="en-US" altLang="zh-CN" sz="1400" b="0" i="0" u="none" strike="noStrike" kern="0" cap="none" spc="0" normalizeH="0" baseline="0" noProof="0" dirty="0">
                <a:ln>
                  <a:noFill/>
                </a:ln>
                <a:solidFill>
                  <a:sysClr val="windowText" lastClr="000000"/>
                </a:solidFill>
                <a:effectLst/>
                <a:uLnTx/>
                <a:uFillTx/>
                <a:latin typeface="Arial"/>
                <a:cs typeface="Arial"/>
              </a:rPr>
              <a:t>[2] S. S. </a:t>
            </a:r>
            <a:r>
              <a:rPr kumimoji="0" lang="en-US" altLang="zh-CN" sz="1400" b="0" i="0" u="none" strike="noStrike" kern="0" cap="none" spc="0" normalizeH="0" baseline="0" noProof="0" dirty="0" err="1">
                <a:ln>
                  <a:noFill/>
                </a:ln>
                <a:solidFill>
                  <a:sysClr val="windowText" lastClr="000000"/>
                </a:solidFill>
                <a:effectLst/>
                <a:uLnTx/>
                <a:uFillTx/>
                <a:latin typeface="Arial"/>
                <a:cs typeface="Arial"/>
              </a:rPr>
              <a:t>Yalowitz</a:t>
            </a:r>
            <a:r>
              <a:rPr kumimoji="0" lang="en-US" altLang="zh-CN" sz="1400" b="0" i="0" u="none" strike="noStrike" kern="0" cap="none" spc="0" normalizeH="0" baseline="0" noProof="0" dirty="0">
                <a:ln>
                  <a:noFill/>
                </a:ln>
                <a:solidFill>
                  <a:sysClr val="windowText" lastClr="000000"/>
                </a:solidFill>
                <a:effectLst/>
                <a:uLnTx/>
                <a:uFillTx/>
                <a:latin typeface="Arial"/>
                <a:cs typeface="Arial"/>
              </a:rPr>
              <a:t> and K. </a:t>
            </a:r>
            <a:r>
              <a:rPr kumimoji="0" lang="en-US" altLang="zh-CN" sz="1400" b="0" i="0" u="none" strike="noStrike" kern="0" cap="none" spc="0" normalizeH="0" baseline="0" noProof="0" dirty="0" err="1">
                <a:ln>
                  <a:noFill/>
                </a:ln>
                <a:solidFill>
                  <a:sysClr val="windowText" lastClr="000000"/>
                </a:solidFill>
                <a:effectLst/>
                <a:uLnTx/>
                <a:uFillTx/>
                <a:latin typeface="Arial"/>
                <a:cs typeface="Arial"/>
              </a:rPr>
              <a:t>Bronnenkant</a:t>
            </a:r>
            <a:r>
              <a:rPr kumimoji="0" lang="en-US" altLang="zh-CN" sz="1400" b="0" i="0" u="none" strike="noStrike" kern="0" cap="none" spc="0" normalizeH="0" baseline="0" noProof="0" dirty="0">
                <a:ln>
                  <a:noFill/>
                </a:ln>
                <a:solidFill>
                  <a:sysClr val="windowText" lastClr="000000"/>
                </a:solidFill>
                <a:effectLst/>
                <a:uLnTx/>
                <a:uFillTx/>
                <a:latin typeface="Arial"/>
                <a:cs typeface="Arial"/>
              </a:rPr>
              <a:t>, "Timing and tracking: Unlocking visitor behavior," Visitor Studies, vol. 12, no. 1, pp. 47-64, 2009.</a:t>
            </a:r>
          </a:p>
          <a:p>
            <a:pPr marL="113840" marR="0" lvl="0" indent="0" defTabSz="914400" eaLnBrk="1" fontAlgn="auto" latinLnBrk="0" hangingPunct="1">
              <a:lnSpc>
                <a:spcPct val="100000"/>
              </a:lnSpc>
              <a:spcAft>
                <a:spcPts val="0"/>
              </a:spcAft>
              <a:buClrTx/>
              <a:buSzTx/>
              <a:buFontTx/>
              <a:buNone/>
              <a:tabLst/>
              <a:defRPr/>
            </a:pPr>
            <a:r>
              <a:rPr lang="en-US" altLang="zh-CN" sz="1400" kern="0" dirty="0">
                <a:solidFill>
                  <a:sysClr val="windowText" lastClr="000000"/>
                </a:solidFill>
                <a:latin typeface="Arial"/>
                <a:cs typeface="Arial"/>
              </a:rPr>
              <a:t>[3] A. Vaswani et al., "Attention is all you need," in Advances in Neural Information Processing Systems, 2017, pp. 6000-6010.</a:t>
            </a:r>
          </a:p>
          <a:p>
            <a:pPr marL="113840" marR="0" lvl="0" indent="0" defTabSz="914400" eaLnBrk="1" fontAlgn="auto" latinLnBrk="0" hangingPunct="1">
              <a:lnSpc>
                <a:spcPct val="100000"/>
              </a:lnSpc>
              <a:spcAft>
                <a:spcPts val="0"/>
              </a:spcAft>
              <a:buClrTx/>
              <a:buSzTx/>
              <a:buFontTx/>
              <a:buNone/>
              <a:tabLst/>
              <a:defRPr/>
            </a:pPr>
            <a:r>
              <a:rPr kumimoji="0" lang="en-US" altLang="zh-CN" sz="1400" b="1" i="0" u="none" strike="noStrike" kern="0" cap="none" spc="0" normalizeH="0" baseline="0" noProof="0" dirty="0">
                <a:ln>
                  <a:noFill/>
                </a:ln>
                <a:solidFill>
                  <a:sysClr val="windowText" lastClr="000000"/>
                </a:solidFill>
                <a:effectLst/>
                <a:uLnTx/>
                <a:uFillTx/>
                <a:latin typeface="Arial"/>
                <a:cs typeface="Arial"/>
              </a:rPr>
              <a:t>AI Declaration: </a:t>
            </a:r>
            <a:r>
              <a:rPr kumimoji="0" lang="en-US" altLang="zh-CN" sz="1400" b="0" i="0" u="none" strike="noStrike" kern="0" cap="none" spc="0" normalizeH="0" baseline="0" noProof="0" dirty="0">
                <a:ln>
                  <a:noFill/>
                </a:ln>
                <a:solidFill>
                  <a:sysClr val="windowText" lastClr="000000"/>
                </a:solidFill>
                <a:effectLst/>
                <a:uLnTx/>
                <a:uFillTx/>
                <a:latin typeface="Arial"/>
                <a:cs typeface="Arial"/>
              </a:rPr>
              <a:t>Framework developed by the team; text polished by ChatGPT-4o; concept illustrations generated by Midjourney.</a:t>
            </a:r>
          </a:p>
          <a:p>
            <a:pPr marL="113840" marR="0" lvl="0" indent="0" algn="ctr" defTabSz="914400" eaLnBrk="1" fontAlgn="auto" latinLnBrk="0" hangingPunct="1">
              <a:lnSpc>
                <a:spcPts val="1400"/>
              </a:lnSpc>
              <a:spcBef>
                <a:spcPts val="1203"/>
              </a:spcBef>
              <a:spcAft>
                <a:spcPts val="0"/>
              </a:spcAft>
              <a:buClrTx/>
              <a:buSzTx/>
              <a:buFontTx/>
              <a:buNone/>
              <a:tabLst/>
              <a:defRPr/>
            </a:pPr>
            <a:endParaRPr kumimoji="0" lang="en-US" altLang="zh-CN" sz="2540" b="0" i="0" u="none" strike="noStrike" kern="0" cap="none" spc="0" normalizeH="0" baseline="0" noProof="0" dirty="0">
              <a:ln>
                <a:noFill/>
              </a:ln>
              <a:solidFill>
                <a:sysClr val="windowText" lastClr="000000"/>
              </a:solidFill>
              <a:effectLst/>
              <a:uLnTx/>
              <a:uFillTx/>
              <a:latin typeface="Arial"/>
              <a:cs typeface="Arial"/>
            </a:endParaRPr>
          </a:p>
        </p:txBody>
      </p:sp>
      <p:sp>
        <p:nvSpPr>
          <p:cNvPr id="123" name="文本框 122">
            <a:extLst>
              <a:ext uri="{FF2B5EF4-FFF2-40B4-BE49-F238E27FC236}">
                <a16:creationId xmlns:a16="http://schemas.microsoft.com/office/drawing/2014/main" id="{04144F6D-7741-36DF-5EB5-C84034835E1C}"/>
              </a:ext>
            </a:extLst>
          </p:cNvPr>
          <p:cNvSpPr txBox="1"/>
          <p:nvPr/>
        </p:nvSpPr>
        <p:spPr>
          <a:xfrm>
            <a:off x="822903" y="29304391"/>
            <a:ext cx="7762226" cy="483209"/>
          </a:xfrm>
          <a:prstGeom prst="rect">
            <a:avLst/>
          </a:prstGeom>
          <a:noFill/>
        </p:spPr>
        <p:txBody>
          <a:bodyPr wrap="square" rtlCol="0">
            <a:spAutoFit/>
          </a:bodyPr>
          <a:lstStyle/>
          <a:p>
            <a:pPr marL="113840" marR="0" lvl="0" indent="0" algn="ctr" defTabSz="914400" rtl="0" eaLnBrk="1" fontAlgn="auto" latinLnBrk="0" hangingPunct="1">
              <a:lnSpc>
                <a:spcPct val="100000"/>
              </a:lnSpc>
              <a:spcBef>
                <a:spcPts val="1203"/>
              </a:spcBef>
              <a:spcAft>
                <a:spcPts val="0"/>
              </a:spcAft>
              <a:buClrTx/>
              <a:buSzTx/>
              <a:buFontTx/>
              <a:buNone/>
              <a:tabLst/>
              <a:defRPr/>
            </a:pPr>
            <a:r>
              <a:rPr kumimoji="0" lang="en-US" altLang="zh-CN" sz="2540" b="1" i="0" u="none" strike="noStrike" kern="0" cap="none" spc="-15" normalizeH="0" baseline="0" noProof="0" dirty="0">
                <a:ln>
                  <a:noFill/>
                </a:ln>
                <a:solidFill>
                  <a:srgbClr val="003478"/>
                </a:solidFill>
                <a:effectLst/>
                <a:uLnTx/>
                <a:uFillTx/>
                <a:latin typeface="Arial"/>
                <a:ea typeface="宋体" panose="02010600030101010101" pitchFamily="2" charset="-122"/>
                <a:cs typeface="Arial"/>
              </a:rPr>
              <a:t>REFERENCES AND DECLARATION</a:t>
            </a:r>
          </a:p>
        </p:txBody>
      </p:sp>
      <p:sp>
        <p:nvSpPr>
          <p:cNvPr id="124" name="文本框 123">
            <a:extLst>
              <a:ext uri="{FF2B5EF4-FFF2-40B4-BE49-F238E27FC236}">
                <a16:creationId xmlns:a16="http://schemas.microsoft.com/office/drawing/2014/main" id="{C1AAF779-26F4-1053-BC8A-8152B3F76EA8}"/>
              </a:ext>
            </a:extLst>
          </p:cNvPr>
          <p:cNvSpPr txBox="1"/>
          <p:nvPr/>
        </p:nvSpPr>
        <p:spPr>
          <a:xfrm>
            <a:off x="757457" y="4303176"/>
            <a:ext cx="11544522" cy="830997"/>
          </a:xfrm>
          <a:prstGeom prst="rect">
            <a:avLst/>
          </a:prstGeom>
          <a:noFill/>
        </p:spPr>
        <p:txBody>
          <a:bodyPr wrap="square" rtlCol="0">
            <a:spAutoFit/>
          </a:bodyPr>
          <a:lstStyle/>
          <a:p>
            <a:r>
              <a:rPr lang="en-US" altLang="zh-CN" sz="2400" b="1" dirty="0"/>
              <a:t>CPT208 - Xi’an </a:t>
            </a:r>
            <a:r>
              <a:rPr lang="en-US" altLang="zh-CN" sz="2400" b="1" dirty="0" err="1"/>
              <a:t>Jiaotong</a:t>
            </a:r>
            <a:r>
              <a:rPr lang="en-US" altLang="zh-CN" sz="2400" b="1" dirty="0"/>
              <a:t>-Liverpool University, Suzhou, China</a:t>
            </a:r>
          </a:p>
          <a:p>
            <a:r>
              <a:rPr lang="en-US" altLang="zh-CN" sz="2400" dirty="0"/>
              <a:t>Yixuan Chen (2362456), Yifei Dou (2362307), Ziheng Li (2363040), Yuhan Mei (2362444)</a:t>
            </a:r>
            <a:endParaRPr lang="zh-CN" altLang="en-US" sz="2400" dirty="0"/>
          </a:p>
        </p:txBody>
      </p:sp>
      <p:sp>
        <p:nvSpPr>
          <p:cNvPr id="4" name="文本框 3">
            <a:extLst>
              <a:ext uri="{FF2B5EF4-FFF2-40B4-BE49-F238E27FC236}">
                <a16:creationId xmlns:a16="http://schemas.microsoft.com/office/drawing/2014/main" id="{D5CD055A-25EB-3358-47AC-241FE7B39320}"/>
              </a:ext>
            </a:extLst>
          </p:cNvPr>
          <p:cNvSpPr txBox="1"/>
          <p:nvPr/>
        </p:nvSpPr>
        <p:spPr>
          <a:xfrm>
            <a:off x="491897" y="9112013"/>
            <a:ext cx="6093425" cy="2923877"/>
          </a:xfrm>
          <a:prstGeom prst="rect">
            <a:avLst/>
          </a:prstGeom>
          <a:noFill/>
        </p:spPr>
        <p:txBody>
          <a:bodyPr wrap="square" rtlCol="0">
            <a:spAutoFit/>
          </a:bodyPr>
          <a:lstStyle/>
          <a:p>
            <a:r>
              <a:rPr lang="en-US" altLang="zh-CN" sz="2400" b="1" dirty="0">
                <a:solidFill>
                  <a:srgbClr val="00B050"/>
                </a:solidFill>
              </a:rPr>
              <a:t>Pain Points of Existing Solutions</a:t>
            </a:r>
          </a:p>
          <a:p>
            <a:r>
              <a:rPr lang="en-US" altLang="zh-CN" sz="2000" b="1" dirty="0"/>
              <a:t>1.Rigid Interaction: </a:t>
            </a:r>
            <a:r>
              <a:rPr lang="en-US" altLang="zh-CN" sz="2000" dirty="0"/>
              <a:t>Most XR is limited to static overlays; visitors remain passive recipients, leading to rapid boredom.</a:t>
            </a:r>
          </a:p>
          <a:p>
            <a:r>
              <a:rPr lang="en-US" altLang="zh-CN" sz="2000" b="1" dirty="0"/>
              <a:t>2.Homogenized Content: </a:t>
            </a:r>
            <a:r>
              <a:rPr lang="en-US" altLang="zh-CN" sz="2000" dirty="0"/>
              <a:t>Fixed scripts fail to cater to diverse ages and knowledge backgrounds.</a:t>
            </a:r>
          </a:p>
          <a:p>
            <a:r>
              <a:rPr lang="en-US" altLang="zh-CN" sz="2000" b="1" dirty="0"/>
              <a:t>3.Contextual Fragmentation: </a:t>
            </a:r>
            <a:r>
              <a:rPr lang="en-US" altLang="zh-CN" sz="2000" dirty="0"/>
              <a:t>Artifacts are isolated from their historical context, missing the "emotional punch" of a lived experience.</a:t>
            </a:r>
          </a:p>
        </p:txBody>
      </p:sp>
      <p:sp>
        <p:nvSpPr>
          <p:cNvPr id="5" name="文本框 4">
            <a:extLst>
              <a:ext uri="{FF2B5EF4-FFF2-40B4-BE49-F238E27FC236}">
                <a16:creationId xmlns:a16="http://schemas.microsoft.com/office/drawing/2014/main" id="{0F574825-8AB1-BF62-2DFE-045B297DC216}"/>
              </a:ext>
            </a:extLst>
          </p:cNvPr>
          <p:cNvSpPr txBox="1"/>
          <p:nvPr/>
        </p:nvSpPr>
        <p:spPr>
          <a:xfrm>
            <a:off x="573164" y="12072305"/>
            <a:ext cx="6302615" cy="1569660"/>
          </a:xfrm>
          <a:prstGeom prst="rect">
            <a:avLst/>
          </a:prstGeom>
          <a:noFill/>
        </p:spPr>
        <p:txBody>
          <a:bodyPr wrap="square" rtlCol="0">
            <a:spAutoFit/>
          </a:bodyPr>
          <a:lstStyle/>
          <a:p>
            <a:r>
              <a:rPr lang="en-US" altLang="zh-CN" sz="2400" b="1" dirty="0">
                <a:solidFill>
                  <a:srgbClr val="00B050"/>
                </a:solidFill>
              </a:rPr>
              <a:t>User Personas:</a:t>
            </a:r>
          </a:p>
          <a:p>
            <a:r>
              <a:rPr lang="en-US" altLang="zh-CN" sz="1800" b="1" dirty="0"/>
              <a:t>Primary User: </a:t>
            </a:r>
            <a:r>
              <a:rPr lang="en-US" altLang="zh-CN" sz="1800" dirty="0"/>
              <a:t>Xiao Lin (19, Student). Pain point: Views museums as "boring classrooms"; craves RPG-like exploration.</a:t>
            </a:r>
          </a:p>
          <a:p>
            <a:r>
              <a:rPr lang="en-US" altLang="zh-CN" sz="1800" b="1" dirty="0"/>
              <a:t>Secondary User: </a:t>
            </a:r>
            <a:r>
              <a:rPr lang="en-US" altLang="zh-CN" sz="1800" dirty="0"/>
              <a:t>Museum Curator. Pain point: Needs a flexible, low-cost system to keep exhibits engaging for younger audiences.</a:t>
            </a:r>
          </a:p>
        </p:txBody>
      </p:sp>
      <p:pic>
        <p:nvPicPr>
          <p:cNvPr id="7" name="图片 6">
            <a:extLst>
              <a:ext uri="{FF2B5EF4-FFF2-40B4-BE49-F238E27FC236}">
                <a16:creationId xmlns:a16="http://schemas.microsoft.com/office/drawing/2014/main" id="{66282509-0BD6-3C75-69A4-FA063802B5AC}"/>
              </a:ext>
            </a:extLst>
          </p:cNvPr>
          <p:cNvPicPr>
            <a:picLocks noChangeAspect="1"/>
          </p:cNvPicPr>
          <p:nvPr/>
        </p:nvPicPr>
        <p:blipFill>
          <a:blip r:embed="rId9"/>
          <a:stretch>
            <a:fillRect/>
          </a:stretch>
        </p:blipFill>
        <p:spPr>
          <a:xfrm>
            <a:off x="10994847" y="22926856"/>
            <a:ext cx="9924539" cy="3051564"/>
          </a:xfrm>
          <a:prstGeom prst="rect">
            <a:avLst/>
          </a:prstGeom>
        </p:spPr>
      </p:pic>
      <p:sp>
        <p:nvSpPr>
          <p:cNvPr id="8" name="文本框 7">
            <a:extLst>
              <a:ext uri="{FF2B5EF4-FFF2-40B4-BE49-F238E27FC236}">
                <a16:creationId xmlns:a16="http://schemas.microsoft.com/office/drawing/2014/main" id="{383FFE4C-31F0-A5E7-AD6C-3DC9492DE6E8}"/>
              </a:ext>
            </a:extLst>
          </p:cNvPr>
          <p:cNvSpPr txBox="1"/>
          <p:nvPr/>
        </p:nvSpPr>
        <p:spPr>
          <a:xfrm>
            <a:off x="664099" y="18825869"/>
            <a:ext cx="4705425" cy="3785652"/>
          </a:xfrm>
          <a:prstGeom prst="rect">
            <a:avLst/>
          </a:prstGeom>
          <a:noFill/>
        </p:spPr>
        <p:txBody>
          <a:bodyPr wrap="square" rtlCol="0">
            <a:spAutoFit/>
          </a:bodyPr>
          <a:lstStyle/>
          <a:p>
            <a:r>
              <a:rPr lang="en-US" altLang="zh-CN" sz="2400" dirty="0"/>
              <a:t>Integrate XR historical scene restoration and AI multimodal interaction, combine personalized virtual guide service and immersive experience design, to create an immersive, interactive and customized museum visiting experience, and greatly enhance the fun and engagement of museum visits.</a:t>
            </a:r>
            <a:endParaRPr lang="zh-CN" altLang="en-US" sz="2400" dirty="0"/>
          </a:p>
        </p:txBody>
      </p:sp>
      <p:pic>
        <p:nvPicPr>
          <p:cNvPr id="10" name="图片 9">
            <a:extLst>
              <a:ext uri="{FF2B5EF4-FFF2-40B4-BE49-F238E27FC236}">
                <a16:creationId xmlns:a16="http://schemas.microsoft.com/office/drawing/2014/main" id="{7FB4F3DB-6759-93ED-5B68-1A668CFE18CE}"/>
              </a:ext>
            </a:extLst>
          </p:cNvPr>
          <p:cNvPicPr>
            <a:picLocks noChangeAspect="1"/>
          </p:cNvPicPr>
          <p:nvPr/>
        </p:nvPicPr>
        <p:blipFill>
          <a:blip r:embed="rId10"/>
          <a:stretch>
            <a:fillRect/>
          </a:stretch>
        </p:blipFill>
        <p:spPr>
          <a:xfrm>
            <a:off x="484722" y="22604783"/>
            <a:ext cx="5141253" cy="3119270"/>
          </a:xfrm>
          <a:prstGeom prst="rect">
            <a:avLst/>
          </a:prstGeom>
        </p:spPr>
      </p:pic>
      <p:pic>
        <p:nvPicPr>
          <p:cNvPr id="17" name="图片 16">
            <a:extLst>
              <a:ext uri="{FF2B5EF4-FFF2-40B4-BE49-F238E27FC236}">
                <a16:creationId xmlns:a16="http://schemas.microsoft.com/office/drawing/2014/main" id="{C155C268-177F-0EB8-50F7-2E578FC1AB92}"/>
              </a:ext>
            </a:extLst>
          </p:cNvPr>
          <p:cNvPicPr>
            <a:picLocks noChangeAspect="1"/>
          </p:cNvPicPr>
          <p:nvPr/>
        </p:nvPicPr>
        <p:blipFill>
          <a:blip r:embed="rId11"/>
          <a:stretch>
            <a:fillRect/>
          </a:stretch>
        </p:blipFill>
        <p:spPr>
          <a:xfrm>
            <a:off x="484722" y="25719400"/>
            <a:ext cx="5141253" cy="3037539"/>
          </a:xfrm>
          <a:prstGeom prst="rect">
            <a:avLst/>
          </a:prstGeom>
        </p:spPr>
      </p:pic>
      <p:sp>
        <p:nvSpPr>
          <p:cNvPr id="18" name="文本框 17">
            <a:extLst>
              <a:ext uri="{FF2B5EF4-FFF2-40B4-BE49-F238E27FC236}">
                <a16:creationId xmlns:a16="http://schemas.microsoft.com/office/drawing/2014/main" id="{FA35A68D-8E8E-CE12-8599-7B9893E4CE91}"/>
              </a:ext>
            </a:extLst>
          </p:cNvPr>
          <p:cNvSpPr txBox="1"/>
          <p:nvPr/>
        </p:nvSpPr>
        <p:spPr>
          <a:xfrm>
            <a:off x="688863" y="14438922"/>
            <a:ext cx="3872924" cy="523220"/>
          </a:xfrm>
          <a:prstGeom prst="rect">
            <a:avLst/>
          </a:prstGeom>
          <a:noFill/>
        </p:spPr>
        <p:txBody>
          <a:bodyPr wrap="square" rtlCol="0">
            <a:spAutoFit/>
          </a:bodyPr>
          <a:lstStyle/>
          <a:p>
            <a:r>
              <a:rPr lang="en-US" altLang="zh-CN" sz="2800" b="1" dirty="0">
                <a:solidFill>
                  <a:srgbClr val="FF0066"/>
                </a:solidFill>
              </a:rPr>
              <a:t>Research Objectives</a:t>
            </a:r>
            <a:r>
              <a:rPr lang="en-US" altLang="zh-CN" sz="2800" b="1" dirty="0"/>
              <a:t>:</a:t>
            </a:r>
            <a:endParaRPr lang="zh-CN" altLang="en-US" sz="2800" b="1" dirty="0"/>
          </a:p>
        </p:txBody>
      </p:sp>
      <p:pic>
        <p:nvPicPr>
          <p:cNvPr id="9" name="图片 8">
            <a:extLst>
              <a:ext uri="{FF2B5EF4-FFF2-40B4-BE49-F238E27FC236}">
                <a16:creationId xmlns:a16="http://schemas.microsoft.com/office/drawing/2014/main" id="{6134FC5D-AC41-55B5-FDBC-9DE4206D491F}"/>
              </a:ext>
            </a:extLst>
          </p:cNvPr>
          <p:cNvPicPr>
            <a:picLocks noChangeAspect="1"/>
          </p:cNvPicPr>
          <p:nvPr/>
        </p:nvPicPr>
        <p:blipFill>
          <a:blip r:embed="rId12"/>
          <a:srcRect t="47548"/>
          <a:stretch>
            <a:fillRect/>
          </a:stretch>
        </p:blipFill>
        <p:spPr>
          <a:xfrm>
            <a:off x="13254148" y="13934561"/>
            <a:ext cx="2370229" cy="2899564"/>
          </a:xfrm>
          <a:prstGeom prst="rect">
            <a:avLst/>
          </a:prstGeom>
        </p:spPr>
      </p:pic>
      <p:sp>
        <p:nvSpPr>
          <p:cNvPr id="15" name="文本框 14">
            <a:extLst>
              <a:ext uri="{FF2B5EF4-FFF2-40B4-BE49-F238E27FC236}">
                <a16:creationId xmlns:a16="http://schemas.microsoft.com/office/drawing/2014/main" id="{23876B9A-6F9F-13E0-1A2F-7328BFD0E3EA}"/>
              </a:ext>
            </a:extLst>
          </p:cNvPr>
          <p:cNvSpPr txBox="1"/>
          <p:nvPr/>
        </p:nvSpPr>
        <p:spPr>
          <a:xfrm>
            <a:off x="10912478" y="22347799"/>
            <a:ext cx="4466047" cy="523220"/>
          </a:xfrm>
          <a:prstGeom prst="rect">
            <a:avLst/>
          </a:prstGeom>
          <a:noFill/>
        </p:spPr>
        <p:txBody>
          <a:bodyPr wrap="square" rtlCol="0">
            <a:spAutoFit/>
          </a:bodyPr>
          <a:lstStyle/>
          <a:p>
            <a:r>
              <a:rPr lang="en-US" altLang="zh-CN" sz="2800" b="1" dirty="0">
                <a:solidFill>
                  <a:srgbClr val="00B050"/>
                </a:solidFill>
              </a:rPr>
              <a:t>System Flow</a:t>
            </a:r>
            <a:endParaRPr lang="zh-CN" altLang="en-US" sz="2800" b="1" dirty="0">
              <a:solidFill>
                <a:srgbClr val="00B050"/>
              </a:solidFill>
            </a:endParaRPr>
          </a:p>
        </p:txBody>
      </p:sp>
      <p:sp>
        <p:nvSpPr>
          <p:cNvPr id="19" name="文本框 18">
            <a:extLst>
              <a:ext uri="{FF2B5EF4-FFF2-40B4-BE49-F238E27FC236}">
                <a16:creationId xmlns:a16="http://schemas.microsoft.com/office/drawing/2014/main" id="{3AEFFE62-0A10-5372-5ABF-7B4C09A360AC}"/>
              </a:ext>
            </a:extLst>
          </p:cNvPr>
          <p:cNvSpPr txBox="1"/>
          <p:nvPr/>
        </p:nvSpPr>
        <p:spPr>
          <a:xfrm>
            <a:off x="11014545" y="17447855"/>
            <a:ext cx="9991946" cy="4955203"/>
          </a:xfrm>
          <a:prstGeom prst="rect">
            <a:avLst/>
          </a:prstGeom>
          <a:noFill/>
        </p:spPr>
        <p:txBody>
          <a:bodyPr wrap="square" rtlCol="0">
            <a:spAutoFit/>
          </a:bodyPr>
          <a:lstStyle/>
          <a:p>
            <a:pPr marL="0" marR="0" lvl="0" indent="0" algn="l" defTabSz="2481316"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During the early stages, we seriously considered two alternative approaches that leaned more heavily on a single technology:</a:t>
            </a:r>
          </a:p>
          <a:p>
            <a:pPr marL="0" marR="0" lvl="0" indent="0" algn="l" defTabSz="2481316"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Alternative Option A: Pure XR Historical Recreation</a:t>
            </a:r>
          </a:p>
          <a:p>
            <a:pPr marL="0" marR="0" lvl="0" indent="0" algn="l" defTabSz="2481316"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Focused on creating highly immersive, photorealistic recreations of historical environments and events, allowing visitors to "travel back in time.“  It looked amazing, but it was pretty passive. There wasn't much real interaction.</a:t>
            </a:r>
          </a:p>
          <a:p>
            <a:pPr marL="0" marR="0" lvl="0" indent="0" algn="l" defTabSz="2481316"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Alternative Option B: Pure AI Voice Chatbot Guide</a:t>
            </a:r>
          </a:p>
          <a:p>
            <a:pPr marL="0" marR="0" lvl="0" indent="0" algn="l" defTabSz="2481316"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Developing a knowledgeable, conversational AI voice assistant that visitors could freely question about any exhibit. It could have natural conversations and tailor explanations to each person. That made it more engaging and accessible, but it missed the emotional punch of actually seeing history come to life.</a:t>
            </a:r>
          </a:p>
          <a:p>
            <a:pPr marL="0" marR="0" lvl="0" indent="0" algn="l" defTabSz="2481316"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Advantages of the Final Hybrid Option C (XR + AI):</a:t>
            </a:r>
          </a:p>
          <a:p>
            <a:pPr marL="0" marR="0" lvl="0" indent="0" algn="l" defTabSz="2481316"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The XR part builds the world and the atmosphere it makes you feel like you're really there in that historical moment. Then the AI voice turns that world into a conversation. Visitors can ask questions on the fly, ask for a simpler explanation, or dive deeper into something they're curious about.</a:t>
            </a:r>
          </a:p>
          <a:p>
            <a:pPr marL="0" marR="0" lvl="0" indent="0" algn="l" defTabSz="2481316"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That turns a one-way tour into a kind of discovery game. It's way less boring. Sure, building this hybrid system is more complicated than just picking one approach, but it's worth it. Visitors remember more, get more curious, and have a better time whether they're kids, adults, or just have different ways of learning.</a:t>
            </a:r>
          </a:p>
        </p:txBody>
      </p:sp>
      <p:pic>
        <p:nvPicPr>
          <p:cNvPr id="16" name="图片 15">
            <a:extLst>
              <a:ext uri="{FF2B5EF4-FFF2-40B4-BE49-F238E27FC236}">
                <a16:creationId xmlns:a16="http://schemas.microsoft.com/office/drawing/2014/main" id="{76BC7D6C-428E-D9C3-49FF-9A488F294DD7}"/>
              </a:ext>
            </a:extLst>
          </p:cNvPr>
          <p:cNvPicPr>
            <a:picLocks noChangeAspect="1"/>
          </p:cNvPicPr>
          <p:nvPr/>
        </p:nvPicPr>
        <p:blipFill>
          <a:blip r:embed="rId13"/>
          <a:stretch>
            <a:fillRect/>
          </a:stretch>
        </p:blipFill>
        <p:spPr>
          <a:xfrm>
            <a:off x="15624377" y="7607416"/>
            <a:ext cx="5369763" cy="9874349"/>
          </a:xfrm>
          <a:prstGeom prst="rect">
            <a:avLst/>
          </a:prstGeom>
        </p:spPr>
      </p:pic>
      <p:sp>
        <p:nvSpPr>
          <p:cNvPr id="21" name="文本框 20">
            <a:extLst>
              <a:ext uri="{FF2B5EF4-FFF2-40B4-BE49-F238E27FC236}">
                <a16:creationId xmlns:a16="http://schemas.microsoft.com/office/drawing/2014/main" id="{5E3797AE-BBD1-C082-8187-20B2C3995183}"/>
              </a:ext>
            </a:extLst>
          </p:cNvPr>
          <p:cNvSpPr txBox="1"/>
          <p:nvPr/>
        </p:nvSpPr>
        <p:spPr>
          <a:xfrm>
            <a:off x="10980275" y="16941084"/>
            <a:ext cx="4547746" cy="461665"/>
          </a:xfrm>
          <a:prstGeom prst="rect">
            <a:avLst/>
          </a:prstGeom>
          <a:noFill/>
        </p:spPr>
        <p:txBody>
          <a:bodyPr wrap="square" rtlCol="0">
            <a:spAutoFit/>
          </a:bodyPr>
          <a:lstStyle/>
          <a:p>
            <a:pPr marL="0" marR="0" lvl="0" indent="0" algn="l" defTabSz="2481316"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00B050"/>
                </a:solidFill>
                <a:effectLst/>
                <a:uLnTx/>
                <a:uFillTx/>
                <a:latin typeface="Calibri"/>
                <a:ea typeface="宋体" panose="02010600030101010101" pitchFamily="2" charset="-122"/>
                <a:cs typeface="+mn-cs"/>
              </a:rPr>
              <a:t>Rationale for Design Decisions</a:t>
            </a:r>
          </a:p>
        </p:txBody>
      </p:sp>
      <p:sp>
        <p:nvSpPr>
          <p:cNvPr id="25" name="文本框 24">
            <a:extLst>
              <a:ext uri="{FF2B5EF4-FFF2-40B4-BE49-F238E27FC236}">
                <a16:creationId xmlns:a16="http://schemas.microsoft.com/office/drawing/2014/main" id="{CE46C1A3-65AA-DCCB-E177-BE1B0D6AE4ED}"/>
              </a:ext>
            </a:extLst>
          </p:cNvPr>
          <p:cNvSpPr txBox="1"/>
          <p:nvPr/>
        </p:nvSpPr>
        <p:spPr>
          <a:xfrm>
            <a:off x="3194466" y="5358618"/>
            <a:ext cx="4269080" cy="487378"/>
          </a:xfrm>
          <a:prstGeom prst="rect">
            <a:avLst/>
          </a:prstGeom>
          <a:noFill/>
        </p:spPr>
        <p:txBody>
          <a:bodyPr wrap="square" rtlCol="0">
            <a:spAutoFit/>
          </a:bodyPr>
          <a:lstStyle/>
          <a:p>
            <a:pPr marL="0" marR="18107" lvl="0" indent="0" algn="ctr" defTabSz="1303653" rtl="0" eaLnBrk="1" fontAlgn="auto" latinLnBrk="0" hangingPunct="1">
              <a:lnSpc>
                <a:spcPct val="100000"/>
              </a:lnSpc>
              <a:spcBef>
                <a:spcPts val="2003"/>
              </a:spcBef>
              <a:spcAft>
                <a:spcPts val="0"/>
              </a:spcAft>
              <a:buClrTx/>
              <a:buSzTx/>
              <a:buFontTx/>
              <a:buNone/>
              <a:tabLst/>
              <a:defRPr/>
            </a:pPr>
            <a:r>
              <a:rPr kumimoji="0" lang="en-US" altLang="zh-CN" sz="2567" b="1" i="0" u="none" strike="noStrike" kern="0" cap="none" spc="-15" normalizeH="0" baseline="0" noProof="0" dirty="0">
                <a:ln>
                  <a:noFill/>
                </a:ln>
                <a:solidFill>
                  <a:srgbClr val="000090"/>
                </a:solidFill>
                <a:effectLst/>
                <a:uLnTx/>
                <a:uFillTx/>
                <a:latin typeface="Calibri"/>
                <a:ea typeface="+mn-ea"/>
                <a:cs typeface="Calibri"/>
              </a:rPr>
              <a:t>Background &amp; Problem</a:t>
            </a:r>
          </a:p>
        </p:txBody>
      </p:sp>
      <p:sp>
        <p:nvSpPr>
          <p:cNvPr id="26" name="文本框 25">
            <a:extLst>
              <a:ext uri="{FF2B5EF4-FFF2-40B4-BE49-F238E27FC236}">
                <a16:creationId xmlns:a16="http://schemas.microsoft.com/office/drawing/2014/main" id="{107CF444-06EC-7BC6-E5A7-4B12759C8D9D}"/>
              </a:ext>
            </a:extLst>
          </p:cNvPr>
          <p:cNvSpPr txBox="1"/>
          <p:nvPr/>
        </p:nvSpPr>
        <p:spPr>
          <a:xfrm>
            <a:off x="573164" y="5769901"/>
            <a:ext cx="2555932" cy="461665"/>
          </a:xfrm>
          <a:prstGeom prst="rect">
            <a:avLst/>
          </a:prstGeom>
          <a:noFill/>
        </p:spPr>
        <p:txBody>
          <a:bodyPr wrap="square" rtlCol="0">
            <a:spAutoFit/>
          </a:bodyPr>
          <a:lstStyle/>
          <a:p>
            <a:pPr marL="0" marR="18107" lvl="0" indent="0" algn="l" defTabSz="1303653" rtl="0" eaLnBrk="1" fontAlgn="auto" latinLnBrk="0" hangingPunct="1">
              <a:lnSpc>
                <a:spcPct val="100000"/>
              </a:lnSpc>
              <a:spcBef>
                <a:spcPts val="2003"/>
              </a:spcBef>
              <a:spcAft>
                <a:spcPts val="0"/>
              </a:spcAft>
              <a:buClrTx/>
              <a:buSzTx/>
              <a:buFontTx/>
              <a:buNone/>
              <a:tabLst/>
              <a:defRPr/>
            </a:pPr>
            <a:r>
              <a:rPr kumimoji="0" lang="en-US" altLang="zh-CN" sz="2400" b="1" i="0" u="none" strike="noStrike" kern="0" cap="none" spc="0" normalizeH="0" baseline="0" noProof="0">
                <a:ln>
                  <a:noFill/>
                </a:ln>
                <a:solidFill>
                  <a:srgbClr val="00B050"/>
                </a:solidFill>
                <a:effectLst/>
                <a:uLnTx/>
                <a:uFillTx/>
                <a:latin typeface="Calibri"/>
                <a:ea typeface="+mn-ea"/>
                <a:cs typeface="Calibri"/>
              </a:rPr>
              <a:t>Motivation</a:t>
            </a:r>
            <a:endParaRPr kumimoji="0" lang="en-US" altLang="zh-CN" sz="2400" b="1" i="0" u="none" strike="noStrike" kern="0" cap="none" spc="0" normalizeH="0" baseline="0" noProof="0" dirty="0">
              <a:ln>
                <a:noFill/>
              </a:ln>
              <a:solidFill>
                <a:srgbClr val="00B050"/>
              </a:solidFill>
              <a:effectLst/>
              <a:uLnTx/>
              <a:uFillTx/>
              <a:latin typeface="Calibri"/>
              <a:ea typeface="+mn-ea"/>
              <a:cs typeface="Calibri"/>
            </a:endParaRPr>
          </a:p>
        </p:txBody>
      </p:sp>
      <p:sp>
        <p:nvSpPr>
          <p:cNvPr id="27" name="文本框 26">
            <a:extLst>
              <a:ext uri="{FF2B5EF4-FFF2-40B4-BE49-F238E27FC236}">
                <a16:creationId xmlns:a16="http://schemas.microsoft.com/office/drawing/2014/main" id="{5F13BBCF-52DA-EB62-E429-9FCCF47E6378}"/>
              </a:ext>
            </a:extLst>
          </p:cNvPr>
          <p:cNvSpPr txBox="1"/>
          <p:nvPr/>
        </p:nvSpPr>
        <p:spPr>
          <a:xfrm>
            <a:off x="491897" y="7378013"/>
            <a:ext cx="10143288" cy="1754326"/>
          </a:xfrm>
          <a:prstGeom prst="rect">
            <a:avLst/>
          </a:prstGeom>
          <a:noFill/>
        </p:spPr>
        <p:txBody>
          <a:bodyPr wrap="square" rtlCol="0">
            <a:spAutoFit/>
          </a:bodyPr>
          <a:lstStyle/>
          <a:p>
            <a:pPr marL="0" marR="18107" lvl="0" indent="0" algn="l" defTabSz="1303653" rtl="0" eaLnBrk="1" fontAlgn="auto" latinLnBrk="0" hangingPunct="1">
              <a:lnSpc>
                <a:spcPct val="100000"/>
              </a:lnSpc>
              <a:spcBef>
                <a:spcPts val="2003"/>
              </a:spcBef>
              <a:spcAft>
                <a:spcPts val="0"/>
              </a:spcAft>
              <a:buClrTx/>
              <a:buSzTx/>
              <a:buFontTx/>
              <a:buNone/>
              <a:tabLst/>
              <a:defRPr/>
            </a:pPr>
            <a:r>
              <a:rPr kumimoji="0" lang="en-US" altLang="zh-CN" sz="1800" b="0" i="0" u="none" strike="noStrike" kern="0" cap="none" spc="0" normalizeH="0" baseline="0" noProof="0" dirty="0">
                <a:ln>
                  <a:noFill/>
                </a:ln>
                <a:solidFill>
                  <a:sysClr val="windowText" lastClr="000000"/>
                </a:solidFill>
                <a:effectLst/>
                <a:uLnTx/>
                <a:uFillTx/>
                <a:latin typeface="Calibri"/>
                <a:ea typeface="+mn-ea"/>
                <a:cs typeface="Calibri"/>
              </a:rPr>
              <a:t>Our goal is to bridge this gap through a human-centered​ approach. We integrate XR to reconstruct authentic historical contexts for emotional impact, with generative AI to enable personalized, conversational narratives. This transforms passive viewing into an active “journey of discovery.” This philosophy aligns with applying HCI to cultural heritage, aiming to enhance understanding and accessibility for diverse learners [1,3]. Ultimately, we seek to make museum visits a memorable, participatory dialogue with history.</a:t>
            </a:r>
          </a:p>
        </p:txBody>
      </p:sp>
    </p:spTree>
    <p:extLst>
      <p:ext uri="{BB962C8B-B14F-4D97-AF65-F5344CB8AC3E}">
        <p14:creationId xmlns:p14="http://schemas.microsoft.com/office/powerpoint/2010/main" val="914386910"/>
      </p:ext>
    </p:extLst>
  </p:cSld>
  <p:clrMapOvr>
    <a:masterClrMapping/>
  </p:clrMapOvr>
</p:sld>
</file>

<file path=ppt/theme/theme1.xml><?xml version="1.0" encoding="utf-8"?>
<a:theme xmlns:a="http://schemas.openxmlformats.org/drawingml/2006/main" name="4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260</TotalTime>
  <Words>1293</Words>
  <Application>Microsoft Office PowerPoint</Application>
  <PresentationFormat>自定义</PresentationFormat>
  <Paragraphs>68</Paragraphs>
  <Slides>1</Slides>
  <Notes>0</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vt:i4>
      </vt:variant>
    </vt:vector>
  </HeadingPairs>
  <TitlesOfParts>
    <vt:vector size="4" baseType="lpstr">
      <vt:lpstr>Arial</vt:lpstr>
      <vt:lpstr>Calibri</vt:lpstr>
      <vt:lpstr>4_Office Theme</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ziheng li</dc:creator>
  <cp:lastModifiedBy>ziheng li</cp:lastModifiedBy>
  <cp:revision>42</cp:revision>
  <dcterms:created xsi:type="dcterms:W3CDTF">2026-04-09T08:49:44Z</dcterms:created>
  <dcterms:modified xsi:type="dcterms:W3CDTF">2026-04-22T09:09:42Z</dcterms:modified>
</cp:coreProperties>
</file>