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3"/>
  </p:sldIdLst>
  <p:sldSz cx="21419820" cy="30274895"/>
  <p:notesSz cx="6858000" cy="9144000"/>
  <p:defaultTextStyle>
    <a:defPPr>
      <a:defRPr lang="zh-CN"/>
    </a:defPPr>
    <a:lvl1pPr marL="0" algn="l" defTabSz="2481580" rtl="0" eaLnBrk="1" latinLnBrk="0" hangingPunct="1">
      <a:defRPr sz="4885" kern="1200">
        <a:solidFill>
          <a:schemeClr val="tx1"/>
        </a:solidFill>
        <a:latin typeface="+mn-lt"/>
        <a:ea typeface="+mn-ea"/>
        <a:cs typeface="+mn-cs"/>
      </a:defRPr>
    </a:lvl1pPr>
    <a:lvl2pPr marL="1240790" algn="l" defTabSz="2481580" rtl="0" eaLnBrk="1" latinLnBrk="0" hangingPunct="1">
      <a:defRPr sz="4885" kern="1200">
        <a:solidFill>
          <a:schemeClr val="tx1"/>
        </a:solidFill>
        <a:latin typeface="+mn-lt"/>
        <a:ea typeface="+mn-ea"/>
        <a:cs typeface="+mn-cs"/>
      </a:defRPr>
    </a:lvl2pPr>
    <a:lvl3pPr marL="2481580" algn="l" defTabSz="2481580" rtl="0" eaLnBrk="1" latinLnBrk="0" hangingPunct="1">
      <a:defRPr sz="4885" kern="1200">
        <a:solidFill>
          <a:schemeClr val="tx1"/>
        </a:solidFill>
        <a:latin typeface="+mn-lt"/>
        <a:ea typeface="+mn-ea"/>
        <a:cs typeface="+mn-cs"/>
      </a:defRPr>
    </a:lvl3pPr>
    <a:lvl4pPr marL="3721735" algn="l" defTabSz="2481580" rtl="0" eaLnBrk="1" latinLnBrk="0" hangingPunct="1">
      <a:defRPr sz="4885" kern="1200">
        <a:solidFill>
          <a:schemeClr val="tx1"/>
        </a:solidFill>
        <a:latin typeface="+mn-lt"/>
        <a:ea typeface="+mn-ea"/>
        <a:cs typeface="+mn-cs"/>
      </a:defRPr>
    </a:lvl4pPr>
    <a:lvl5pPr marL="4962525" algn="l" defTabSz="2481580" rtl="0" eaLnBrk="1" latinLnBrk="0" hangingPunct="1">
      <a:defRPr sz="4885" kern="1200">
        <a:solidFill>
          <a:schemeClr val="tx1"/>
        </a:solidFill>
        <a:latin typeface="+mn-lt"/>
        <a:ea typeface="+mn-ea"/>
        <a:cs typeface="+mn-cs"/>
      </a:defRPr>
    </a:lvl5pPr>
    <a:lvl6pPr marL="6203315" algn="l" defTabSz="2481580" rtl="0" eaLnBrk="1" latinLnBrk="0" hangingPunct="1">
      <a:defRPr sz="4885" kern="1200">
        <a:solidFill>
          <a:schemeClr val="tx1"/>
        </a:solidFill>
        <a:latin typeface="+mn-lt"/>
        <a:ea typeface="+mn-ea"/>
        <a:cs typeface="+mn-cs"/>
      </a:defRPr>
    </a:lvl6pPr>
    <a:lvl7pPr marL="7444105" algn="l" defTabSz="2481580" rtl="0" eaLnBrk="1" latinLnBrk="0" hangingPunct="1">
      <a:defRPr sz="4885" kern="1200">
        <a:solidFill>
          <a:schemeClr val="tx1"/>
        </a:solidFill>
        <a:latin typeface="+mn-lt"/>
        <a:ea typeface="+mn-ea"/>
        <a:cs typeface="+mn-cs"/>
      </a:defRPr>
    </a:lvl7pPr>
    <a:lvl8pPr marL="8684895" algn="l" defTabSz="2481580" rtl="0" eaLnBrk="1" latinLnBrk="0" hangingPunct="1">
      <a:defRPr sz="4885" kern="1200">
        <a:solidFill>
          <a:schemeClr val="tx1"/>
        </a:solidFill>
        <a:latin typeface="+mn-lt"/>
        <a:ea typeface="+mn-ea"/>
        <a:cs typeface="+mn-cs"/>
      </a:defRPr>
    </a:lvl8pPr>
    <a:lvl9pPr marL="9925050" algn="l" defTabSz="2481580" rtl="0" eaLnBrk="1" latinLnBrk="0" hangingPunct="1">
      <a:defRPr sz="4885"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284" autoAdjust="0"/>
    <p:restoredTop sz="94660"/>
  </p:normalViewPr>
  <p:slideViewPr>
    <p:cSldViewPr snapToGrid="0">
      <p:cViewPr>
        <p:scale>
          <a:sx n="27" d="100"/>
          <a:sy n="27" d="100"/>
        </p:scale>
        <p:origin x="152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7282848" y="28155953"/>
            <a:ext cx="6854444" cy="1513761"/>
          </a:xfrm>
          <a:prstGeom prst="rect">
            <a:avLst/>
          </a:prstGeom>
        </p:spPr>
        <p:txBody>
          <a:bodyPr lIns="0" tIns="0" rIns="0" bIns="0"/>
          <a:lstStyle>
            <a:lvl1pPr algn="ctr">
              <a:defRPr>
                <a:solidFill>
                  <a:schemeClr val="tx1">
                    <a:tint val="75000"/>
                  </a:schemeClr>
                </a:solidFill>
              </a:defRPr>
            </a:lvl1pPr>
          </a:lstStyle>
          <a:p>
            <a:pPr defTabSz="1303655"/>
            <a:endParaRPr lang="zh-CN" altLang="en-US" sz="2565">
              <a:solidFill>
                <a:prstClr val="black">
                  <a:tint val="75000"/>
                </a:prstClr>
              </a:solidFill>
            </a:endParaRPr>
          </a:p>
        </p:txBody>
      </p:sp>
      <p:sp>
        <p:nvSpPr>
          <p:cNvPr id="3" name="Holder 3"/>
          <p:cNvSpPr>
            <a:spLocks noGrp="1"/>
          </p:cNvSpPr>
          <p:nvPr>
            <p:ph type="dt" sz="half" idx="6"/>
          </p:nvPr>
        </p:nvSpPr>
        <p:spPr>
          <a:xfrm>
            <a:off x="1071008" y="28155953"/>
            <a:ext cx="4926632" cy="1513761"/>
          </a:xfrm>
          <a:prstGeom prst="rect">
            <a:avLst/>
          </a:prstGeom>
        </p:spPr>
        <p:txBody>
          <a:bodyPr lIns="0" tIns="0" rIns="0" bIns="0"/>
          <a:lstStyle>
            <a:lvl1pPr algn="l">
              <a:defRPr>
                <a:solidFill>
                  <a:schemeClr val="tx1">
                    <a:tint val="75000"/>
                  </a:schemeClr>
                </a:solidFill>
              </a:defRPr>
            </a:lvl1pPr>
          </a:lstStyle>
          <a:p>
            <a:pPr defTabSz="1303655"/>
            <a:fld id="{1D8BD707-D9CF-40AE-B4C6-C98DA3205C09}" type="datetimeFigureOut">
              <a:rPr lang="en-US" sz="2565" smtClean="0">
                <a:solidFill>
                  <a:prstClr val="black">
                    <a:tint val="75000"/>
                  </a:prstClr>
                </a:solidFill>
              </a:rPr>
            </a:fld>
            <a:endParaRPr lang="en-US" sz="2565">
              <a:solidFill>
                <a:prstClr val="black">
                  <a:tint val="75000"/>
                </a:prstClr>
              </a:solidFill>
            </a:endParaRPr>
          </a:p>
        </p:txBody>
      </p:sp>
      <p:sp>
        <p:nvSpPr>
          <p:cNvPr id="4" name="Holder 4"/>
          <p:cNvSpPr>
            <a:spLocks noGrp="1"/>
          </p:cNvSpPr>
          <p:nvPr>
            <p:ph type="sldNum" sz="quarter" idx="7"/>
          </p:nvPr>
        </p:nvSpPr>
        <p:spPr>
          <a:xfrm>
            <a:off x="15422500" y="28155953"/>
            <a:ext cx="4926632" cy="1513761"/>
          </a:xfrm>
          <a:prstGeom prst="rect">
            <a:avLst/>
          </a:prstGeom>
        </p:spPr>
        <p:txBody>
          <a:bodyPr lIns="0" tIns="0" rIns="0" bIns="0"/>
          <a:lstStyle>
            <a:lvl1pPr algn="r">
              <a:defRPr>
                <a:solidFill>
                  <a:schemeClr val="tx1">
                    <a:tint val="75000"/>
                  </a:schemeClr>
                </a:solidFill>
              </a:defRPr>
            </a:lvl1pPr>
          </a:lstStyle>
          <a:p>
            <a:pPr defTabSz="1303655"/>
            <a:fld id="{B6F15528-21DE-4FAA-801E-634DDDAF4B2B}" type="slidenum">
              <a:rPr lang="en-US" altLang="zh-CN" sz="2565" smtClean="0">
                <a:solidFill>
                  <a:prstClr val="black">
                    <a:tint val="75000"/>
                  </a:prstClr>
                </a:solidFill>
              </a:rPr>
            </a:fld>
            <a:endParaRPr lang="en-US" altLang="zh-CN" sz="2565">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651510">
        <a:defRPr>
          <a:latin typeface="+mn-lt"/>
          <a:ea typeface="+mn-ea"/>
          <a:cs typeface="+mn-cs"/>
        </a:defRPr>
      </a:lvl2pPr>
      <a:lvl3pPr marL="1303655">
        <a:defRPr>
          <a:latin typeface="+mn-lt"/>
          <a:ea typeface="+mn-ea"/>
          <a:cs typeface="+mn-cs"/>
        </a:defRPr>
      </a:lvl3pPr>
      <a:lvl4pPr marL="1955165">
        <a:defRPr>
          <a:latin typeface="+mn-lt"/>
          <a:ea typeface="+mn-ea"/>
          <a:cs typeface="+mn-cs"/>
        </a:defRPr>
      </a:lvl4pPr>
      <a:lvl5pPr marL="2607310">
        <a:defRPr>
          <a:latin typeface="+mn-lt"/>
          <a:ea typeface="+mn-ea"/>
          <a:cs typeface="+mn-cs"/>
        </a:defRPr>
      </a:lvl5pPr>
      <a:lvl6pPr marL="3258820">
        <a:defRPr>
          <a:latin typeface="+mn-lt"/>
          <a:ea typeface="+mn-ea"/>
          <a:cs typeface="+mn-cs"/>
        </a:defRPr>
      </a:lvl6pPr>
      <a:lvl7pPr marL="3910965">
        <a:defRPr>
          <a:latin typeface="+mn-lt"/>
          <a:ea typeface="+mn-ea"/>
          <a:cs typeface="+mn-cs"/>
        </a:defRPr>
      </a:lvl7pPr>
      <a:lvl8pPr marL="4562475">
        <a:defRPr>
          <a:latin typeface="+mn-lt"/>
          <a:ea typeface="+mn-ea"/>
          <a:cs typeface="+mn-cs"/>
        </a:defRPr>
      </a:lvl8pPr>
      <a:lvl9pPr marL="5214620">
        <a:defRPr>
          <a:latin typeface="+mn-lt"/>
          <a:ea typeface="+mn-ea"/>
          <a:cs typeface="+mn-cs"/>
        </a:defRPr>
      </a:lvl9pPr>
    </p:bodyStyle>
    <p:otherStyle>
      <a:lvl1pPr marL="0">
        <a:defRPr>
          <a:latin typeface="+mn-lt"/>
          <a:ea typeface="+mn-ea"/>
          <a:cs typeface="+mn-cs"/>
        </a:defRPr>
      </a:lvl1pPr>
      <a:lvl2pPr marL="651510">
        <a:defRPr>
          <a:latin typeface="+mn-lt"/>
          <a:ea typeface="+mn-ea"/>
          <a:cs typeface="+mn-cs"/>
        </a:defRPr>
      </a:lvl2pPr>
      <a:lvl3pPr marL="1303655">
        <a:defRPr>
          <a:latin typeface="+mn-lt"/>
          <a:ea typeface="+mn-ea"/>
          <a:cs typeface="+mn-cs"/>
        </a:defRPr>
      </a:lvl3pPr>
      <a:lvl4pPr marL="1955165">
        <a:defRPr>
          <a:latin typeface="+mn-lt"/>
          <a:ea typeface="+mn-ea"/>
          <a:cs typeface="+mn-cs"/>
        </a:defRPr>
      </a:lvl4pPr>
      <a:lvl5pPr marL="2607310">
        <a:defRPr>
          <a:latin typeface="+mn-lt"/>
          <a:ea typeface="+mn-ea"/>
          <a:cs typeface="+mn-cs"/>
        </a:defRPr>
      </a:lvl5pPr>
      <a:lvl6pPr marL="3258820">
        <a:defRPr>
          <a:latin typeface="+mn-lt"/>
          <a:ea typeface="+mn-ea"/>
          <a:cs typeface="+mn-cs"/>
        </a:defRPr>
      </a:lvl6pPr>
      <a:lvl7pPr marL="3910965">
        <a:defRPr>
          <a:latin typeface="+mn-lt"/>
          <a:ea typeface="+mn-ea"/>
          <a:cs typeface="+mn-cs"/>
        </a:defRPr>
      </a:lvl7pPr>
      <a:lvl8pPr marL="4562475">
        <a:defRPr>
          <a:latin typeface="+mn-lt"/>
          <a:ea typeface="+mn-ea"/>
          <a:cs typeface="+mn-cs"/>
        </a:defRPr>
      </a:lvl8pPr>
      <a:lvl9pPr marL="521462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jpeg"/><Relationship Id="rId8" Type="http://schemas.openxmlformats.org/officeDocument/2006/relationships/image" Target="../media/image8.jpe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5" Type="http://schemas.openxmlformats.org/officeDocument/2006/relationships/slideLayout" Target="../slideLayouts/slideLayout1.xml"/><Relationship Id="rId14" Type="http://schemas.openxmlformats.org/officeDocument/2006/relationships/image" Target="../media/image14.jpe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descr="ai-avatar伍子胥-xrai导览示意图"/>
          <p:cNvPicPr>
            <a:picLocks noChangeAspect="1"/>
          </p:cNvPicPr>
          <p:nvPr/>
        </p:nvPicPr>
        <p:blipFill>
          <a:blip r:embed="rId1"/>
          <a:stretch>
            <a:fillRect/>
          </a:stretch>
        </p:blipFill>
        <p:spPr>
          <a:xfrm>
            <a:off x="573405" y="22611715"/>
            <a:ext cx="5089525" cy="3042920"/>
          </a:xfrm>
          <a:prstGeom prst="rect">
            <a:avLst/>
          </a:prstGeom>
        </p:spPr>
      </p:pic>
      <p:pic>
        <p:nvPicPr>
          <p:cNvPr id="38" name="图片 37" descr="7ea235021cf2bbb5452d17e7b690a924"/>
          <p:cNvPicPr>
            <a:picLocks noChangeAspect="1"/>
          </p:cNvPicPr>
          <p:nvPr/>
        </p:nvPicPr>
        <p:blipFill>
          <a:blip r:embed="rId2"/>
          <a:stretch>
            <a:fillRect/>
          </a:stretch>
        </p:blipFill>
        <p:spPr>
          <a:xfrm>
            <a:off x="19810095" y="4027805"/>
            <a:ext cx="1384935" cy="1384935"/>
          </a:xfrm>
          <a:prstGeom prst="rect">
            <a:avLst/>
          </a:prstGeom>
        </p:spPr>
      </p:pic>
      <p:pic>
        <p:nvPicPr>
          <p:cNvPr id="30" name="图片 29" descr="5343413204ff5db89520cc06da4034fd"/>
          <p:cNvPicPr>
            <a:picLocks noChangeAspect="1"/>
          </p:cNvPicPr>
          <p:nvPr/>
        </p:nvPicPr>
        <p:blipFill>
          <a:blip r:embed="rId3"/>
          <a:stretch>
            <a:fillRect/>
          </a:stretch>
        </p:blipFill>
        <p:spPr>
          <a:xfrm>
            <a:off x="15841345" y="3973830"/>
            <a:ext cx="1513205" cy="1513205"/>
          </a:xfrm>
          <a:prstGeom prst="rect">
            <a:avLst/>
          </a:prstGeom>
        </p:spPr>
      </p:pic>
      <p:pic>
        <p:nvPicPr>
          <p:cNvPr id="23" name="图片 22"/>
          <p:cNvPicPr>
            <a:picLocks noChangeAspect="1"/>
          </p:cNvPicPr>
          <p:nvPr/>
        </p:nvPicPr>
        <p:blipFill>
          <a:blip r:embed="rId4"/>
          <a:srcRect r="51875"/>
          <a:stretch>
            <a:fillRect/>
          </a:stretch>
        </p:blipFill>
        <p:spPr>
          <a:xfrm>
            <a:off x="6696688" y="9285090"/>
            <a:ext cx="3681080" cy="2472236"/>
          </a:xfrm>
          <a:prstGeom prst="rect">
            <a:avLst/>
          </a:prstGeom>
        </p:spPr>
      </p:pic>
      <p:pic>
        <p:nvPicPr>
          <p:cNvPr id="28" name="图片 27"/>
          <p:cNvPicPr>
            <a:picLocks noChangeAspect="1"/>
          </p:cNvPicPr>
          <p:nvPr/>
        </p:nvPicPr>
        <p:blipFill>
          <a:blip r:embed="rId4"/>
          <a:srcRect l="48003"/>
          <a:stretch>
            <a:fillRect/>
          </a:stretch>
        </p:blipFill>
        <p:spPr>
          <a:xfrm>
            <a:off x="6674625" y="11608508"/>
            <a:ext cx="3865875" cy="2402999"/>
          </a:xfrm>
          <a:prstGeom prst="rect">
            <a:avLst/>
          </a:prstGeom>
        </p:spPr>
      </p:pic>
      <p:pic>
        <p:nvPicPr>
          <p:cNvPr id="2" name="图片 1" descr="b9f997a5b87ddbf52d0636a8061db2f8"/>
          <p:cNvPicPr>
            <a:picLocks noChangeAspect="1"/>
          </p:cNvPicPr>
          <p:nvPr/>
        </p:nvPicPr>
        <p:blipFill>
          <a:blip r:embed="rId5"/>
          <a:srcRect b="52467"/>
          <a:stretch>
            <a:fillRect/>
          </a:stretch>
        </p:blipFill>
        <p:spPr>
          <a:xfrm>
            <a:off x="11014713" y="13914334"/>
            <a:ext cx="2294027" cy="2937214"/>
          </a:xfrm>
          <a:prstGeom prst="rect">
            <a:avLst/>
          </a:prstGeom>
        </p:spPr>
      </p:pic>
      <p:pic>
        <p:nvPicPr>
          <p:cNvPr id="126" name="图片 125"/>
          <p:cNvPicPr>
            <a:picLocks noChangeAspect="1"/>
          </p:cNvPicPr>
          <p:nvPr/>
        </p:nvPicPr>
        <p:blipFill>
          <a:blip r:embed="rId6"/>
          <a:stretch>
            <a:fillRect/>
          </a:stretch>
        </p:blipFill>
        <p:spPr>
          <a:xfrm>
            <a:off x="16744552" y="24601"/>
            <a:ext cx="4617472" cy="1131322"/>
          </a:xfrm>
          <a:prstGeom prst="rect">
            <a:avLst/>
          </a:prstGeom>
        </p:spPr>
      </p:pic>
      <p:sp>
        <p:nvSpPr>
          <p:cNvPr id="11" name="object 11"/>
          <p:cNvSpPr txBox="1"/>
          <p:nvPr/>
        </p:nvSpPr>
        <p:spPr>
          <a:xfrm>
            <a:off x="2778471" y="809291"/>
            <a:ext cx="16103209" cy="3012440"/>
          </a:xfrm>
          <a:prstGeom prst="rect">
            <a:avLst/>
          </a:prstGeom>
        </p:spPr>
        <p:txBody>
          <a:bodyPr vert="horz" wrap="square" lIns="0" tIns="189212" rIns="0" bIns="0" rtlCol="0">
            <a:spAutoFit/>
          </a:bodyPr>
          <a:lstStyle/>
          <a:p>
            <a:pPr marL="18415" marR="6985" algn="ctr" defTabSz="1303655">
              <a:lnSpc>
                <a:spcPct val="80000"/>
              </a:lnSpc>
              <a:spcBef>
                <a:spcPts val="1490"/>
              </a:spcBef>
            </a:pPr>
            <a:r>
              <a:rPr lang="en-US" altLang="zh-CN" sz="6000" b="1" kern="0" dirty="0">
                <a:solidFill>
                  <a:srgbClr val="001F5F"/>
                </a:solidFill>
                <a:latin typeface="Calibri" panose="020F0502020204030204"/>
                <a:cs typeface="Calibri" panose="020F0502020204030204"/>
              </a:rPr>
              <a:t>V-Museum</a:t>
            </a:r>
            <a:r>
              <a:rPr lang="en-US" sz="6000" b="1" kern="0" dirty="0">
                <a:solidFill>
                  <a:srgbClr val="001F5F"/>
                </a:solidFill>
                <a:latin typeface="Calibri" panose="020F0502020204030204"/>
                <a:cs typeface="Calibri" panose="020F0502020204030204"/>
              </a:rPr>
              <a:t>: </a:t>
            </a:r>
            <a:r>
              <a:rPr lang="en-US" altLang="zh-CN" sz="6000" b="1" kern="0" dirty="0">
                <a:solidFill>
                  <a:srgbClr val="001F5F"/>
                </a:solidFill>
                <a:latin typeface="Calibri" panose="020F0502020204030204"/>
                <a:cs typeface="Calibri" panose="020F0502020204030204"/>
              </a:rPr>
              <a:t>Where History Comes Alive </a:t>
            </a:r>
            <a:endParaRPr lang="en-US" altLang="zh-CN" sz="6000" b="1" kern="0" dirty="0">
              <a:solidFill>
                <a:srgbClr val="001F5F"/>
              </a:solidFill>
              <a:latin typeface="Calibri" panose="020F0502020204030204"/>
              <a:cs typeface="Calibri" panose="020F0502020204030204"/>
            </a:endParaRPr>
          </a:p>
          <a:p>
            <a:pPr marL="18415" marR="6985" algn="ctr" defTabSz="1303655">
              <a:lnSpc>
                <a:spcPct val="80000"/>
              </a:lnSpc>
              <a:spcBef>
                <a:spcPts val="1490"/>
              </a:spcBef>
            </a:pPr>
            <a:r>
              <a:rPr lang="en-US" altLang="zh-CN" sz="6000" b="1" kern="0" dirty="0">
                <a:solidFill>
                  <a:srgbClr val="001F5F"/>
                </a:solidFill>
                <a:latin typeface="Calibri" panose="020F0502020204030204"/>
                <a:cs typeface="Calibri" panose="020F0502020204030204"/>
              </a:rPr>
              <a:t>Through XR &amp; AI-Driven 3D Avatars</a:t>
            </a:r>
            <a:endParaRPr lang="en-US" altLang="zh-CN" sz="6000" b="1" kern="0" dirty="0">
              <a:solidFill>
                <a:srgbClr val="001F5F"/>
              </a:solidFill>
              <a:latin typeface="Calibri" panose="020F0502020204030204"/>
              <a:cs typeface="Calibri" panose="020F0502020204030204"/>
            </a:endParaRPr>
          </a:p>
          <a:p>
            <a:pPr marL="18415" marR="6985" algn="ctr" defTabSz="1303655">
              <a:lnSpc>
                <a:spcPct val="80000"/>
              </a:lnSpc>
              <a:spcBef>
                <a:spcPts val="1490"/>
              </a:spcBef>
            </a:pPr>
            <a:r>
              <a:rPr lang="en-US" sz="3920" kern="0" spc="-100" dirty="0">
                <a:solidFill>
                  <a:srgbClr val="006FC0"/>
                </a:solidFill>
                <a:latin typeface="Calibri" panose="020F0502020204030204"/>
                <a:cs typeface="Calibri" panose="020F0502020204030204"/>
              </a:rPr>
              <a:t>From "One-way Display" to "Customized Companionship": An HCD Solution for Enhancing Museum Engagement</a:t>
            </a:r>
            <a:endParaRPr sz="3920" kern="0" dirty="0">
              <a:solidFill>
                <a:sysClr val="windowText" lastClr="000000"/>
              </a:solidFill>
              <a:latin typeface="Calibri" panose="020F0502020204030204"/>
              <a:cs typeface="Calibri" panose="020F0502020204030204"/>
            </a:endParaRPr>
          </a:p>
        </p:txBody>
      </p:sp>
      <p:sp>
        <p:nvSpPr>
          <p:cNvPr id="12" name="object 12"/>
          <p:cNvSpPr txBox="1"/>
          <p:nvPr/>
        </p:nvSpPr>
        <p:spPr>
          <a:xfrm>
            <a:off x="688863" y="18324587"/>
            <a:ext cx="3319804" cy="451912"/>
          </a:xfrm>
          <a:prstGeom prst="rect">
            <a:avLst/>
          </a:prstGeom>
        </p:spPr>
        <p:txBody>
          <a:bodyPr vert="horz" wrap="square" lIns="0" tIns="20821" rIns="0" bIns="0" rtlCol="0">
            <a:spAutoFit/>
          </a:bodyPr>
          <a:lstStyle/>
          <a:p>
            <a:pPr marL="18415" defTabSz="1303655">
              <a:spcBef>
                <a:spcPts val="165"/>
              </a:spcBef>
            </a:pPr>
            <a:r>
              <a:rPr lang="en-US" sz="2800" b="1" kern="0" dirty="0">
                <a:solidFill>
                  <a:srgbClr val="FF0066"/>
                </a:solidFill>
                <a:latin typeface="Calibri" panose="020F0502020204030204"/>
                <a:cs typeface="Calibri" panose="020F0502020204030204"/>
              </a:rPr>
              <a:t>Core Design Concept:</a:t>
            </a:r>
            <a:endParaRPr sz="2800" kern="0" dirty="0">
              <a:solidFill>
                <a:sysClr val="windowText" lastClr="000000"/>
              </a:solidFill>
              <a:latin typeface="Calibri" panose="020F0502020204030204"/>
              <a:cs typeface="Calibri" panose="020F0502020204030204"/>
            </a:endParaRPr>
          </a:p>
        </p:txBody>
      </p:sp>
      <p:pic>
        <p:nvPicPr>
          <p:cNvPr id="13" name="object 13"/>
          <p:cNvPicPr/>
          <p:nvPr/>
        </p:nvPicPr>
        <p:blipFill>
          <a:blip r:embed="rId7" cstate="print"/>
          <a:stretch>
            <a:fillRect/>
          </a:stretch>
        </p:blipFill>
        <p:spPr>
          <a:xfrm>
            <a:off x="4212605" y="17584636"/>
            <a:ext cx="312387" cy="325966"/>
          </a:xfrm>
          <a:prstGeom prst="rect">
            <a:avLst/>
          </a:prstGeom>
        </p:spPr>
      </p:pic>
      <p:sp>
        <p:nvSpPr>
          <p:cNvPr id="14" name="object 14"/>
          <p:cNvSpPr txBox="1"/>
          <p:nvPr/>
        </p:nvSpPr>
        <p:spPr>
          <a:xfrm>
            <a:off x="5172351" y="16334926"/>
            <a:ext cx="5452098" cy="1944370"/>
          </a:xfrm>
          <a:prstGeom prst="rect">
            <a:avLst/>
          </a:prstGeom>
        </p:spPr>
        <p:txBody>
          <a:bodyPr vert="horz" wrap="square" lIns="0" tIns="17201" rIns="0" bIns="0" rtlCol="0">
            <a:spAutoFit/>
          </a:bodyPr>
          <a:lstStyle/>
          <a:p>
            <a:pPr marL="18415" marR="6985" defTabSz="1303655">
              <a:lnSpc>
                <a:spcPct val="101000"/>
              </a:lnSpc>
              <a:spcBef>
                <a:spcPts val="135"/>
              </a:spcBef>
            </a:pPr>
            <a:r>
              <a:rPr lang="en-US" sz="2065" kern="0" dirty="0">
                <a:solidFill>
                  <a:sysClr val="windowText" lastClr="000000"/>
                </a:solidFill>
                <a:latin typeface="Calibri" panose="020F0502020204030204"/>
                <a:cs typeface="Calibri" panose="020F0502020204030204"/>
              </a:rPr>
              <a:t>To verify whether the solution of </a:t>
            </a:r>
            <a:r>
              <a:rPr lang="en-US" altLang="zh-CN" sz="2065" kern="0" dirty="0">
                <a:solidFill>
                  <a:sysClr val="windowText" lastClr="000000"/>
                </a:solidFill>
                <a:latin typeface="Calibri" panose="020F0502020204030204"/>
                <a:cs typeface="Calibri" panose="020F0502020204030204"/>
              </a:rPr>
              <a:t>customizable virtual 3D avatar guide + generative AI</a:t>
            </a:r>
            <a:r>
              <a:rPr lang="en-US" sz="2065" kern="0" dirty="0">
                <a:solidFill>
                  <a:sysClr val="windowText" lastClr="000000"/>
                </a:solidFill>
                <a:latin typeface="Calibri" panose="020F0502020204030204"/>
                <a:cs typeface="Calibri" panose="020F0502020204030204"/>
              </a:rPr>
              <a:t> can revitalize cultural relics and history, and break the limitations of one-way display and lack of interaction in traditional and existing XR museum applications.</a:t>
            </a:r>
            <a:endParaRPr lang="en-US" sz="2065" kern="0" dirty="0">
              <a:solidFill>
                <a:sysClr val="windowText" lastClr="000000"/>
              </a:solidFill>
              <a:latin typeface="Calibri" panose="020F0502020204030204"/>
              <a:cs typeface="Calibri" panose="020F0502020204030204"/>
            </a:endParaRPr>
          </a:p>
        </p:txBody>
      </p:sp>
      <p:sp>
        <p:nvSpPr>
          <p:cNvPr id="20" name="object 20"/>
          <p:cNvSpPr txBox="1"/>
          <p:nvPr/>
        </p:nvSpPr>
        <p:spPr>
          <a:xfrm>
            <a:off x="11944953" y="26225043"/>
            <a:ext cx="3972538" cy="418812"/>
          </a:xfrm>
          <a:prstGeom prst="rect">
            <a:avLst/>
          </a:prstGeom>
        </p:spPr>
        <p:txBody>
          <a:bodyPr vert="horz" wrap="square" lIns="0" tIns="23538" rIns="0" bIns="0" rtlCol="0">
            <a:spAutoFit/>
          </a:bodyPr>
          <a:lstStyle/>
          <a:p>
            <a:pPr marL="18415" defTabSz="1303655">
              <a:spcBef>
                <a:spcPts val="185"/>
              </a:spcBef>
            </a:pPr>
            <a:r>
              <a:rPr lang="en-US" sz="2565" b="1" kern="0" dirty="0">
                <a:solidFill>
                  <a:srgbClr val="000090"/>
                </a:solidFill>
                <a:latin typeface="Calibri" panose="020F0502020204030204"/>
                <a:cs typeface="Calibri" panose="020F0502020204030204"/>
              </a:rPr>
              <a:t>Evaluation &amp; Value</a:t>
            </a:r>
            <a:endParaRPr sz="2565" kern="0" dirty="0">
              <a:solidFill>
                <a:sysClr val="windowText" lastClr="000000"/>
              </a:solidFill>
              <a:latin typeface="Calibri" panose="020F0502020204030204"/>
              <a:cs typeface="Calibri" panose="020F0502020204030204"/>
            </a:endParaRPr>
          </a:p>
        </p:txBody>
      </p:sp>
      <p:sp>
        <p:nvSpPr>
          <p:cNvPr id="24" name="object 24"/>
          <p:cNvSpPr txBox="1"/>
          <p:nvPr/>
        </p:nvSpPr>
        <p:spPr>
          <a:xfrm>
            <a:off x="14481654" y="5443644"/>
            <a:ext cx="3744018" cy="418812"/>
          </a:xfrm>
          <a:prstGeom prst="rect">
            <a:avLst/>
          </a:prstGeom>
        </p:spPr>
        <p:txBody>
          <a:bodyPr vert="horz" wrap="square" lIns="0" tIns="23538" rIns="0" bIns="0" rtlCol="0">
            <a:spAutoFit/>
          </a:bodyPr>
          <a:lstStyle/>
          <a:p>
            <a:pPr marL="18415" defTabSz="1303655">
              <a:spcBef>
                <a:spcPts val="185"/>
              </a:spcBef>
            </a:pPr>
            <a:r>
              <a:rPr lang="en-US" sz="2565" b="1" kern="0" dirty="0">
                <a:solidFill>
                  <a:srgbClr val="000090"/>
                </a:solidFill>
                <a:latin typeface="Calibri" panose="020F0502020204030204"/>
                <a:cs typeface="Calibri" panose="020F0502020204030204"/>
              </a:rPr>
              <a:t>Prototypes &amp; Iteration</a:t>
            </a:r>
            <a:endParaRPr sz="2565" kern="0" dirty="0">
              <a:solidFill>
                <a:sysClr val="windowText" lastClr="000000"/>
              </a:solidFill>
              <a:latin typeface="Calibri" panose="020F0502020204030204"/>
              <a:cs typeface="Calibri" panose="020F0502020204030204"/>
            </a:endParaRPr>
          </a:p>
        </p:txBody>
      </p:sp>
      <p:sp>
        <p:nvSpPr>
          <p:cNvPr id="32" name="object 32"/>
          <p:cNvSpPr txBox="1"/>
          <p:nvPr/>
        </p:nvSpPr>
        <p:spPr>
          <a:xfrm>
            <a:off x="5160000" y="14261386"/>
            <a:ext cx="5171300" cy="1890189"/>
          </a:xfrm>
          <a:prstGeom prst="rect">
            <a:avLst/>
          </a:prstGeom>
        </p:spPr>
        <p:txBody>
          <a:bodyPr vert="horz" wrap="square" lIns="0" tIns="17201" rIns="0" bIns="0" rtlCol="0">
            <a:spAutoFit/>
          </a:bodyPr>
          <a:lstStyle/>
          <a:p>
            <a:pPr marL="18415" marR="6985" defTabSz="1303655">
              <a:lnSpc>
                <a:spcPct val="102000"/>
              </a:lnSpc>
              <a:spcBef>
                <a:spcPts val="135"/>
              </a:spcBef>
            </a:pPr>
            <a:r>
              <a:rPr lang="en-US" sz="2000" kern="0" dirty="0">
                <a:solidFill>
                  <a:sysClr val="windowText" lastClr="000000"/>
                </a:solidFill>
                <a:latin typeface="Calibri" panose="020F0502020204030204"/>
                <a:cs typeface="Calibri" panose="020F0502020204030204"/>
              </a:rPr>
              <a:t>To verify whether the XR+AI museum interactive system can significantly improve visitors’ entertainment, active engagement and satisfaction, and solve the core problems of insufficient fun and weak interactivity in traditional museums.</a:t>
            </a:r>
            <a:endParaRPr sz="2000" kern="0" dirty="0">
              <a:solidFill>
                <a:sysClr val="windowText" lastClr="000000"/>
              </a:solidFill>
              <a:latin typeface="Calibri" panose="020F0502020204030204"/>
              <a:cs typeface="Calibri" panose="020F0502020204030204"/>
            </a:endParaRPr>
          </a:p>
        </p:txBody>
      </p:sp>
      <p:grpSp>
        <p:nvGrpSpPr>
          <p:cNvPr id="33" name="object 33"/>
          <p:cNvGrpSpPr/>
          <p:nvPr/>
        </p:nvGrpSpPr>
        <p:grpSpPr>
          <a:xfrm>
            <a:off x="993137" y="14776182"/>
            <a:ext cx="3619463" cy="1262015"/>
            <a:chOff x="514062" y="11868864"/>
            <a:chExt cx="2538730" cy="885190"/>
          </a:xfrm>
        </p:grpSpPr>
        <p:sp>
          <p:nvSpPr>
            <p:cNvPr id="34" name="object 34"/>
            <p:cNvSpPr/>
            <p:nvPr/>
          </p:nvSpPr>
          <p:spPr>
            <a:xfrm>
              <a:off x="519879" y="11874682"/>
              <a:ext cx="2527300" cy="873125"/>
            </a:xfrm>
            <a:custGeom>
              <a:avLst/>
              <a:gdLst/>
              <a:ahLst/>
              <a:cxnLst/>
              <a:rect l="l" t="t" r="r" b="b"/>
              <a:pathLst>
                <a:path w="2527300" h="873125">
                  <a:moveTo>
                    <a:pt x="2526799" y="0"/>
                  </a:moveTo>
                  <a:lnTo>
                    <a:pt x="0" y="0"/>
                  </a:lnTo>
                  <a:lnTo>
                    <a:pt x="0" y="570081"/>
                  </a:lnTo>
                  <a:lnTo>
                    <a:pt x="1263370" y="872980"/>
                  </a:lnTo>
                  <a:lnTo>
                    <a:pt x="2526799" y="570081"/>
                  </a:lnTo>
                  <a:lnTo>
                    <a:pt x="2526799" y="0"/>
                  </a:lnTo>
                  <a:close/>
                </a:path>
              </a:pathLst>
            </a:custGeom>
            <a:solidFill>
              <a:srgbClr val="001F5F"/>
            </a:solidFill>
          </p:spPr>
          <p:txBody>
            <a:bodyPr wrap="square" lIns="0" tIns="0" rIns="0" bIns="0" rtlCol="0"/>
            <a:lstStyle/>
            <a:p>
              <a:pPr defTabSz="1303655"/>
              <a:endParaRPr sz="2565" kern="0">
                <a:solidFill>
                  <a:sysClr val="windowText" lastClr="000000"/>
                </a:solidFill>
              </a:endParaRPr>
            </a:p>
          </p:txBody>
        </p:sp>
        <p:sp>
          <p:nvSpPr>
            <p:cNvPr id="35" name="object 35"/>
            <p:cNvSpPr/>
            <p:nvPr/>
          </p:nvSpPr>
          <p:spPr>
            <a:xfrm>
              <a:off x="519879" y="11874681"/>
              <a:ext cx="2527300" cy="873125"/>
            </a:xfrm>
            <a:custGeom>
              <a:avLst/>
              <a:gdLst/>
              <a:ahLst/>
              <a:cxnLst/>
              <a:rect l="l" t="t" r="r" b="b"/>
              <a:pathLst>
                <a:path w="2527300" h="873125">
                  <a:moveTo>
                    <a:pt x="0" y="570081"/>
                  </a:moveTo>
                  <a:lnTo>
                    <a:pt x="0" y="0"/>
                  </a:lnTo>
                  <a:lnTo>
                    <a:pt x="2526799" y="0"/>
                  </a:lnTo>
                  <a:lnTo>
                    <a:pt x="2526799" y="570081"/>
                  </a:lnTo>
                  <a:lnTo>
                    <a:pt x="1263370" y="872981"/>
                  </a:lnTo>
                  <a:lnTo>
                    <a:pt x="0" y="570081"/>
                  </a:lnTo>
                  <a:close/>
                </a:path>
              </a:pathLst>
            </a:custGeom>
            <a:ln w="11634">
              <a:solidFill>
                <a:srgbClr val="41709C"/>
              </a:solidFill>
            </a:ln>
          </p:spPr>
          <p:txBody>
            <a:bodyPr wrap="square" lIns="0" tIns="0" rIns="0" bIns="0" rtlCol="0"/>
            <a:lstStyle/>
            <a:p>
              <a:pPr defTabSz="1303655"/>
              <a:endParaRPr sz="2565" kern="0">
                <a:solidFill>
                  <a:sysClr val="windowText" lastClr="000000"/>
                </a:solidFill>
              </a:endParaRPr>
            </a:p>
          </p:txBody>
        </p:sp>
      </p:grpSp>
      <p:sp>
        <p:nvSpPr>
          <p:cNvPr id="36" name="object 36"/>
          <p:cNvSpPr txBox="1"/>
          <p:nvPr/>
        </p:nvSpPr>
        <p:spPr>
          <a:xfrm>
            <a:off x="2507174" y="15079783"/>
            <a:ext cx="1764465" cy="405600"/>
          </a:xfrm>
          <a:prstGeom prst="rect">
            <a:avLst/>
          </a:prstGeom>
        </p:spPr>
        <p:txBody>
          <a:bodyPr vert="horz" wrap="square" lIns="0" tIns="16295" rIns="0" bIns="0" rtlCol="0">
            <a:spAutoFit/>
          </a:bodyPr>
          <a:lstStyle/>
          <a:p>
            <a:pPr marL="236220" marR="6985" indent="-219075" defTabSz="1303655">
              <a:lnSpc>
                <a:spcPct val="102000"/>
              </a:lnSpc>
              <a:spcBef>
                <a:spcPts val="130"/>
              </a:spcBef>
            </a:pPr>
            <a:r>
              <a:rPr lang="en-US" sz="2565" b="1" kern="0" spc="-15" dirty="0">
                <a:solidFill>
                  <a:srgbClr val="FFFFFF"/>
                </a:solidFill>
                <a:latin typeface="Calibri" panose="020F0502020204030204"/>
                <a:cs typeface="Calibri" panose="020F0502020204030204"/>
              </a:rPr>
              <a:t>RO1</a:t>
            </a:r>
            <a:endParaRPr sz="2565" kern="0" dirty="0">
              <a:solidFill>
                <a:sysClr val="windowText" lastClr="000000"/>
              </a:solidFill>
              <a:latin typeface="Calibri" panose="020F0502020204030204"/>
              <a:cs typeface="Calibri" panose="020F0502020204030204"/>
            </a:endParaRPr>
          </a:p>
        </p:txBody>
      </p:sp>
      <p:sp>
        <p:nvSpPr>
          <p:cNvPr id="39" name="object 39"/>
          <p:cNvSpPr txBox="1"/>
          <p:nvPr/>
        </p:nvSpPr>
        <p:spPr>
          <a:xfrm>
            <a:off x="3942558" y="13657354"/>
            <a:ext cx="3141456" cy="516210"/>
          </a:xfrm>
          <a:prstGeom prst="rect">
            <a:avLst/>
          </a:prstGeom>
        </p:spPr>
        <p:txBody>
          <a:bodyPr vert="horz" wrap="square" lIns="0" tIns="23538" rIns="0" bIns="0" rtlCol="0">
            <a:spAutoFit/>
          </a:bodyPr>
          <a:lstStyle/>
          <a:p>
            <a:pPr marL="18415" algn="ctr" defTabSz="1303655">
              <a:spcBef>
                <a:spcPts val="185"/>
              </a:spcBef>
            </a:pPr>
            <a:r>
              <a:rPr lang="en-US" sz="3200" b="1" kern="0" dirty="0">
                <a:solidFill>
                  <a:srgbClr val="000090"/>
                </a:solidFill>
                <a:latin typeface="Calibri" panose="020F0502020204030204"/>
                <a:cs typeface="Calibri" panose="020F0502020204030204"/>
              </a:rPr>
              <a:t>Design Solution</a:t>
            </a:r>
            <a:endParaRPr sz="3200" kern="0" dirty="0">
              <a:solidFill>
                <a:sysClr val="windowText" lastClr="000000"/>
              </a:solidFill>
              <a:latin typeface="Calibri" panose="020F0502020204030204"/>
              <a:cs typeface="Calibri" panose="020F0502020204030204"/>
            </a:endParaRPr>
          </a:p>
        </p:txBody>
      </p:sp>
      <p:sp>
        <p:nvSpPr>
          <p:cNvPr id="42" name="object 42"/>
          <p:cNvSpPr txBox="1"/>
          <p:nvPr/>
        </p:nvSpPr>
        <p:spPr>
          <a:xfrm>
            <a:off x="599217" y="5968179"/>
            <a:ext cx="9828137" cy="1364874"/>
          </a:xfrm>
          <a:prstGeom prst="rect">
            <a:avLst/>
          </a:prstGeom>
        </p:spPr>
        <p:txBody>
          <a:bodyPr vert="horz" wrap="square" lIns="0" tIns="254394" rIns="0" bIns="0" rtlCol="0">
            <a:spAutoFit/>
          </a:bodyPr>
          <a:lstStyle/>
          <a:p>
            <a:pPr marR="18415" defTabSz="1303655">
              <a:spcBef>
                <a:spcPts val="2005"/>
              </a:spcBef>
            </a:pPr>
            <a:r>
              <a:rPr lang="en-US" sz="1800" kern="0" dirty="0">
                <a:solidFill>
                  <a:sysClr val="windowText" lastClr="000000"/>
                </a:solidFill>
                <a:latin typeface="Calibri" panose="020F0502020204030204"/>
                <a:cs typeface="Calibri" panose="020F0502020204030204"/>
              </a:rPr>
              <a:t>In the digital age, museums face the dual challenge of creating deep immersion while avoiding information overload. Current digital tools often fail, leaving visitors disengaged. Research shows effective experiences require active exploration and emotional connection [1], yet many solutions ignore how visitor behavior—like dwell time and personal interest—directly impacts engagement [2].</a:t>
            </a:r>
            <a:endParaRPr lang="en-US" sz="1800" kern="0" dirty="0">
              <a:solidFill>
                <a:sysClr val="windowText" lastClr="000000"/>
              </a:solidFill>
              <a:latin typeface="Calibri" panose="020F0502020204030204"/>
              <a:cs typeface="Calibri" panose="020F0502020204030204"/>
            </a:endParaRPr>
          </a:p>
        </p:txBody>
      </p:sp>
      <p:sp>
        <p:nvSpPr>
          <p:cNvPr id="46" name="object 46"/>
          <p:cNvSpPr txBox="1"/>
          <p:nvPr/>
        </p:nvSpPr>
        <p:spPr>
          <a:xfrm>
            <a:off x="5759620" y="18817763"/>
            <a:ext cx="4618120" cy="10586720"/>
          </a:xfrm>
          <a:prstGeom prst="rect">
            <a:avLst/>
          </a:prstGeom>
        </p:spPr>
        <p:txBody>
          <a:bodyPr vert="horz" wrap="square" lIns="0" tIns="16295" rIns="0" bIns="0" rtlCol="0">
            <a:spAutoFit/>
          </a:bodyPr>
          <a:lstStyle/>
          <a:p>
            <a:pPr marL="18415" marR="6985" algn="just" defTabSz="1303655">
              <a:lnSpc>
                <a:spcPct val="108000"/>
              </a:lnSpc>
              <a:spcBef>
                <a:spcPts val="130"/>
              </a:spcBef>
            </a:pPr>
            <a:r>
              <a:rPr lang="en-US" sz="2065" b="1" kern="0" dirty="0">
                <a:solidFill>
                  <a:sysClr val="windowText" lastClr="000000"/>
                </a:solidFill>
                <a:latin typeface="Calibri" panose="020F0502020204030204"/>
                <a:cs typeface="Calibri" panose="020F0502020204030204"/>
              </a:rPr>
              <a:t>1. XR </a:t>
            </a:r>
            <a:r>
              <a:rPr lang="en-US" sz="2065" b="1" kern="0" dirty="0">
                <a:solidFill>
                  <a:sysClr val="windowText" lastClr="000000"/>
                </a:solidFill>
                <a:latin typeface="Calibri" panose="020F0502020204030204"/>
                <a:cs typeface="Calibri" panose="020F0502020204030204"/>
                <a:sym typeface="+mn-ea"/>
              </a:rPr>
              <a:t>Personalized A</a:t>
            </a:r>
            <a:r>
              <a:rPr lang="en-US" sz="2065" b="1" kern="0" dirty="0">
                <a:solidFill>
                  <a:sysClr val="windowText" lastClr="000000"/>
                </a:solidFill>
                <a:latin typeface="Calibri" panose="020F0502020204030204"/>
                <a:cs typeface="Calibri" panose="020F0502020204030204"/>
                <a:sym typeface="+mn-ea"/>
              </a:rPr>
              <a:t>vatar Guidance</a:t>
            </a:r>
            <a:endParaRPr lang="en-US" sz="2065" b="1"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r>
              <a:rPr lang="en-US" sz="2000" kern="0" dirty="0">
                <a:solidFill>
                  <a:sysClr val="windowText" lastClr="000000"/>
                </a:solidFill>
                <a:latin typeface="Calibri" panose="020F0502020204030204"/>
                <a:cs typeface="Calibri" panose="020F0502020204030204"/>
              </a:rPr>
              <a:t>1.1 </a:t>
            </a:r>
            <a:r>
              <a:rPr lang="en-US" altLang="zh-CN" sz="2000" kern="0" dirty="0">
                <a:solidFill>
                  <a:sysClr val="windowText" lastClr="000000"/>
                </a:solidFill>
                <a:latin typeface="Calibri" panose="020F0502020204030204"/>
                <a:cs typeface="Calibri" panose="020F0502020204030204"/>
              </a:rPr>
              <a:t>Access virtual guides with </a:t>
            </a:r>
            <a:r>
              <a:rPr lang="en-US" altLang="zh-CN" sz="2000" kern="0" dirty="0">
                <a:solidFill>
                  <a:sysClr val="windowText" lastClr="000000"/>
                </a:solidFill>
                <a:latin typeface="Calibri" panose="020F0502020204030204"/>
                <a:cs typeface="Calibri" panose="020F0502020204030204"/>
                <a:sym typeface="+mn-ea"/>
              </a:rPr>
              <a:t>3D avatars </a:t>
            </a:r>
            <a:r>
              <a:rPr lang="en-US" altLang="zh-CN" sz="2000" kern="0" dirty="0">
                <a:solidFill>
                  <a:sysClr val="windowText" lastClr="000000"/>
                </a:solidFill>
                <a:latin typeface="Calibri" panose="020F0502020204030204"/>
                <a:cs typeface="Calibri" panose="020F0502020204030204"/>
              </a:rPr>
              <a:t>at XR sections in museums using XR devices.</a:t>
            </a:r>
            <a:endParaRPr lang="en-US" altLang="zh-CN" sz="2000"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r>
              <a:rPr lang="en-US" sz="2000" kern="0" dirty="0">
                <a:solidFill>
                  <a:sysClr val="windowText" lastClr="000000"/>
                </a:solidFill>
                <a:latin typeface="Calibri" panose="020F0502020204030204"/>
                <a:cs typeface="Calibri" panose="020F0502020204030204"/>
              </a:rPr>
              <a:t>1.2 </a:t>
            </a:r>
            <a:r>
              <a:rPr lang="en-US" altLang="zh-CN" sz="2000" kern="0" dirty="0">
                <a:solidFill>
                  <a:sysClr val="windowText" lastClr="000000"/>
                </a:solidFill>
                <a:latin typeface="Calibri" panose="020F0502020204030204"/>
                <a:cs typeface="Calibri" panose="020F0502020204030204"/>
              </a:rPr>
              <a:t>Enable real-time, interactive storytelling with</a:t>
            </a:r>
            <a:r>
              <a:rPr lang="en-US" altLang="zh-CN" sz="2000" kern="0" dirty="0">
                <a:solidFill>
                  <a:sysClr val="windowText" lastClr="000000"/>
                </a:solidFill>
                <a:latin typeface="Calibri" panose="020F0502020204030204"/>
                <a:cs typeface="Calibri" panose="020F0502020204030204"/>
                <a:sym typeface="+mn-ea"/>
              </a:rPr>
              <a:t> 3D avatars</a:t>
            </a:r>
            <a:r>
              <a:rPr lang="en-US" altLang="zh-CN" sz="2000" kern="0" dirty="0">
                <a:solidFill>
                  <a:sysClr val="windowText" lastClr="000000"/>
                </a:solidFill>
                <a:latin typeface="Calibri" panose="020F0502020204030204"/>
                <a:cs typeface="Calibri" panose="020F0502020204030204"/>
              </a:rPr>
              <a:t> (by LLM in edge devices).</a:t>
            </a:r>
            <a:endParaRPr lang="en-US" altLang="zh-CN" sz="2000"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r>
              <a:rPr lang="en-US" sz="2000" kern="0" dirty="0">
                <a:solidFill>
                  <a:sysClr val="windowText" lastClr="000000"/>
                </a:solidFill>
                <a:latin typeface="Calibri" panose="020F0502020204030204"/>
                <a:cs typeface="Calibri" panose="020F0502020204030204"/>
              </a:rPr>
              <a:t>1.3 </a:t>
            </a:r>
            <a:r>
              <a:rPr lang="en-US" altLang="zh-CN" sz="2000" kern="0" dirty="0">
                <a:solidFill>
                  <a:sysClr val="windowText" lastClr="000000"/>
                </a:solidFill>
                <a:latin typeface="Calibri" panose="020F0502020204030204"/>
                <a:cs typeface="Calibri" panose="020F0502020204030204"/>
              </a:rPr>
              <a:t>Receive AI-optimized route guidance and immersive AR narratives at key exhibit locations.</a:t>
            </a:r>
            <a:endParaRPr lang="en-US" altLang="zh-CN" sz="2000"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r>
              <a:rPr lang="en-US" sz="2065" b="1" kern="0" dirty="0">
                <a:solidFill>
                  <a:sysClr val="windowText" lastClr="000000"/>
                </a:solidFill>
                <a:latin typeface="Calibri" panose="020F0502020204030204"/>
                <a:cs typeface="Calibri" panose="020F0502020204030204"/>
              </a:rPr>
              <a:t>2. AI Co-created Memorial Video</a:t>
            </a:r>
            <a:endParaRPr lang="en-US" sz="2065" b="1"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r>
              <a:rPr lang="en-US" sz="2000" kern="0" dirty="0">
                <a:solidFill>
                  <a:sysClr val="windowText" lastClr="000000"/>
                </a:solidFill>
                <a:latin typeface="Calibri" panose="020F0502020204030204"/>
                <a:cs typeface="Calibri" panose="020F0502020204030204"/>
              </a:rPr>
              <a:t>2.1 </a:t>
            </a:r>
            <a:r>
              <a:rPr lang="en-US" altLang="zh-CN" sz="2000" kern="0" dirty="0">
                <a:solidFill>
                  <a:sysClr val="windowText" lastClr="000000"/>
                </a:solidFill>
                <a:latin typeface="Calibri" panose="020F0502020204030204"/>
                <a:cs typeface="Calibri" panose="020F0502020204030204"/>
              </a:rPr>
              <a:t>Visitors can gain memorable moments by taking snapshots using XR devices.</a:t>
            </a:r>
            <a:endParaRPr lang="en-US" altLang="zh-CN" sz="2000"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r>
              <a:rPr lang="en-US" sz="2000" kern="0" dirty="0">
                <a:solidFill>
                  <a:sysClr val="windowText" lastClr="000000"/>
                </a:solidFill>
                <a:latin typeface="Calibri" panose="020F0502020204030204"/>
                <a:cs typeface="Calibri" panose="020F0502020204030204"/>
              </a:rPr>
              <a:t>2.2 </a:t>
            </a:r>
            <a:r>
              <a:rPr lang="en-US" altLang="zh-CN" sz="2000" kern="0" dirty="0">
                <a:solidFill>
                  <a:sysClr val="windowText" lastClr="000000"/>
                </a:solidFill>
                <a:latin typeface="Calibri" panose="020F0502020204030204"/>
                <a:cs typeface="Calibri" panose="020F0502020204030204"/>
              </a:rPr>
              <a:t>AI automatically processes and generates tour images using popular trending templates.</a:t>
            </a:r>
            <a:endParaRPr lang="en-US" altLang="zh-CN" sz="2000"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r>
              <a:rPr lang="en-US" sz="2000" kern="0" dirty="0">
                <a:solidFill>
                  <a:sysClr val="windowText" lastClr="000000"/>
                </a:solidFill>
                <a:latin typeface="Calibri" panose="020F0502020204030204"/>
                <a:cs typeface="Calibri" panose="020F0502020204030204"/>
              </a:rPr>
              <a:t>2.3 Visitors can g</a:t>
            </a:r>
            <a:r>
              <a:rPr lang="en-US" altLang="zh-CN" sz="2000" kern="0" dirty="0">
                <a:solidFill>
                  <a:sysClr val="windowText" lastClr="000000"/>
                </a:solidFill>
                <a:latin typeface="Calibri" panose="020F0502020204030204"/>
                <a:cs typeface="Calibri" panose="020F0502020204030204"/>
              </a:rPr>
              <a:t>enerate memorial videos with one-click saving to cloud or social sharing.</a:t>
            </a:r>
            <a:endParaRPr lang="en-US" altLang="zh-CN" sz="2000"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r>
              <a:rPr lang="en-US" sz="2065" b="1" kern="0" dirty="0">
                <a:solidFill>
                  <a:sysClr val="windowText" lastClr="000000"/>
                </a:solidFill>
                <a:latin typeface="Calibri" panose="020F0502020204030204"/>
                <a:cs typeface="Calibri" panose="020F0502020204030204"/>
              </a:rPr>
              <a:t>3. AI-Powered Personalized Visiting Adaptation</a:t>
            </a:r>
            <a:endParaRPr lang="en-US" sz="2065" b="1"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r>
              <a:rPr lang="en-US" sz="2000" kern="0" dirty="0">
                <a:solidFill>
                  <a:sysClr val="windowText" lastClr="000000"/>
                </a:solidFill>
                <a:latin typeface="Calibri" panose="020F0502020204030204"/>
                <a:cs typeface="Calibri" panose="020F0502020204030204"/>
              </a:rPr>
              <a:t>3.1 V</a:t>
            </a:r>
            <a:r>
              <a:rPr lang="en-US" altLang="zh-CN" sz="2000" kern="0" dirty="0">
                <a:solidFill>
                  <a:sysClr val="windowText" lastClr="000000"/>
                </a:solidFill>
                <a:latin typeface="Calibri" panose="020F0502020204030204"/>
                <a:cs typeface="Calibri" panose="020F0502020204030204"/>
                <a:sym typeface="+mn-ea"/>
              </a:rPr>
              <a:t>isitors can c</a:t>
            </a:r>
            <a:r>
              <a:rPr lang="en-US" altLang="zh-CN" sz="2000" kern="0" dirty="0">
                <a:solidFill>
                  <a:sysClr val="windowText" lastClr="000000"/>
                </a:solidFill>
                <a:latin typeface="Calibri" panose="020F0502020204030204"/>
                <a:cs typeface="Calibri" panose="020F0502020204030204"/>
              </a:rPr>
              <a:t>ustomize their personal touring plan and optimized tour routes using AI before starting the journey.</a:t>
            </a:r>
            <a:endParaRPr lang="en-US" altLang="zh-CN" sz="2000"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r>
              <a:rPr lang="en-US" sz="2000" kern="0" dirty="0">
                <a:solidFill>
                  <a:sysClr val="windowText" lastClr="000000"/>
                </a:solidFill>
                <a:latin typeface="Calibri" panose="020F0502020204030204"/>
                <a:cs typeface="Calibri" panose="020F0502020204030204"/>
              </a:rPr>
              <a:t>3.2 </a:t>
            </a:r>
            <a:r>
              <a:rPr lang="en-US" altLang="zh-CN" sz="2000" kern="0" dirty="0">
                <a:solidFill>
                  <a:sysClr val="windowText" lastClr="000000"/>
                </a:solidFill>
                <a:latin typeface="Calibri" panose="020F0502020204030204"/>
                <a:cs typeface="Calibri" panose="020F0502020204030204"/>
              </a:rPr>
              <a:t>Receive real-time, personalized route suggestions delivered by the AI avatar during the museum exploration.</a:t>
            </a:r>
            <a:endParaRPr lang="en-US" altLang="zh-CN" sz="2000"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r>
              <a:rPr lang="en-US" sz="2000" kern="0" dirty="0">
                <a:solidFill>
                  <a:sysClr val="windowText" lastClr="000000"/>
                </a:solidFill>
                <a:latin typeface="Calibri" panose="020F0502020204030204"/>
                <a:cs typeface="Calibri" panose="020F0502020204030204"/>
              </a:rPr>
              <a:t>3.3 </a:t>
            </a:r>
            <a:r>
              <a:rPr lang="en-US" altLang="zh-CN" sz="2000" kern="0" dirty="0">
                <a:solidFill>
                  <a:sysClr val="windowText" lastClr="000000"/>
                </a:solidFill>
                <a:latin typeface="Calibri" panose="020F0502020204030204"/>
                <a:cs typeface="Calibri" panose="020F0502020204030204"/>
              </a:rPr>
              <a:t>Integrate voice guidance with museum activities like interactive fragment collection for a fun, unique, and tailored touring experience.</a:t>
            </a:r>
            <a:endParaRPr lang="en-US" altLang="zh-CN" sz="2000" kern="0" dirty="0">
              <a:solidFill>
                <a:sysClr val="windowText" lastClr="000000"/>
              </a:solidFill>
              <a:latin typeface="Calibri" panose="020F0502020204030204"/>
              <a:cs typeface="Calibri" panose="020F0502020204030204"/>
            </a:endParaRPr>
          </a:p>
          <a:p>
            <a:pPr marL="18415" marR="6985" defTabSz="1303655">
              <a:lnSpc>
                <a:spcPct val="108000"/>
              </a:lnSpc>
              <a:spcBef>
                <a:spcPts val="130"/>
              </a:spcBef>
            </a:pPr>
            <a:endParaRPr lang="en-US" sz="2000"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endParaRPr sz="2065" kern="0" dirty="0">
              <a:solidFill>
                <a:sysClr val="windowText" lastClr="000000"/>
              </a:solidFill>
              <a:latin typeface="Calibri" panose="020F0502020204030204"/>
              <a:cs typeface="Calibri" panose="020F0502020204030204"/>
            </a:endParaRPr>
          </a:p>
        </p:txBody>
      </p:sp>
      <p:sp>
        <p:nvSpPr>
          <p:cNvPr id="60" name="object 60"/>
          <p:cNvSpPr/>
          <p:nvPr/>
        </p:nvSpPr>
        <p:spPr>
          <a:xfrm>
            <a:off x="1001429" y="16640116"/>
            <a:ext cx="3603168" cy="1244813"/>
          </a:xfrm>
          <a:custGeom>
            <a:avLst/>
            <a:gdLst/>
            <a:ahLst/>
            <a:cxnLst/>
            <a:rect l="l" t="t" r="r" b="b"/>
            <a:pathLst>
              <a:path w="2527300" h="873125">
                <a:moveTo>
                  <a:pt x="2526740" y="0"/>
                </a:moveTo>
                <a:lnTo>
                  <a:pt x="0" y="0"/>
                </a:lnTo>
                <a:lnTo>
                  <a:pt x="0" y="570139"/>
                </a:lnTo>
                <a:lnTo>
                  <a:pt x="1263370" y="873039"/>
                </a:lnTo>
                <a:lnTo>
                  <a:pt x="2526740" y="570139"/>
                </a:lnTo>
                <a:lnTo>
                  <a:pt x="2526740" y="0"/>
                </a:lnTo>
                <a:close/>
              </a:path>
            </a:pathLst>
          </a:custGeom>
          <a:solidFill>
            <a:srgbClr val="FF0066"/>
          </a:solidFill>
        </p:spPr>
        <p:txBody>
          <a:bodyPr wrap="square" lIns="0" tIns="0" rIns="0" bIns="0" rtlCol="0"/>
          <a:lstStyle/>
          <a:p>
            <a:pPr defTabSz="1303655"/>
            <a:endParaRPr sz="2565" kern="0">
              <a:solidFill>
                <a:sysClr val="windowText" lastClr="000000"/>
              </a:solidFill>
            </a:endParaRPr>
          </a:p>
        </p:txBody>
      </p:sp>
      <p:sp>
        <p:nvSpPr>
          <p:cNvPr id="61" name="object 61"/>
          <p:cNvSpPr txBox="1"/>
          <p:nvPr/>
        </p:nvSpPr>
        <p:spPr>
          <a:xfrm>
            <a:off x="2508565" y="16954469"/>
            <a:ext cx="1556242" cy="405600"/>
          </a:xfrm>
          <a:prstGeom prst="rect">
            <a:avLst/>
          </a:prstGeom>
        </p:spPr>
        <p:txBody>
          <a:bodyPr vert="horz" wrap="square" lIns="0" tIns="16295" rIns="0" bIns="0" rtlCol="0">
            <a:spAutoFit/>
          </a:bodyPr>
          <a:lstStyle/>
          <a:p>
            <a:pPr marL="133350" marR="6985" indent="-115570" defTabSz="1303655">
              <a:lnSpc>
                <a:spcPct val="102000"/>
              </a:lnSpc>
              <a:spcBef>
                <a:spcPts val="130"/>
              </a:spcBef>
            </a:pPr>
            <a:r>
              <a:rPr lang="en-US" sz="2565" b="1" kern="0" spc="-15" dirty="0">
                <a:solidFill>
                  <a:srgbClr val="FFFFFF"/>
                </a:solidFill>
                <a:latin typeface="Calibri" panose="020F0502020204030204"/>
                <a:cs typeface="Calibri" panose="020F0502020204030204"/>
              </a:rPr>
              <a:t>RO2</a:t>
            </a:r>
            <a:endParaRPr sz="2565" kern="0" dirty="0">
              <a:solidFill>
                <a:sysClr val="windowText" lastClr="000000"/>
              </a:solidFill>
              <a:latin typeface="Calibri" panose="020F0502020204030204"/>
              <a:cs typeface="Calibri" panose="020F0502020204030204"/>
            </a:endParaRPr>
          </a:p>
        </p:txBody>
      </p:sp>
      <p:sp>
        <p:nvSpPr>
          <p:cNvPr id="62" name="object 62"/>
          <p:cNvSpPr txBox="1"/>
          <p:nvPr/>
        </p:nvSpPr>
        <p:spPr>
          <a:xfrm>
            <a:off x="5948690" y="18311825"/>
            <a:ext cx="7982532" cy="451912"/>
          </a:xfrm>
          <a:prstGeom prst="rect">
            <a:avLst/>
          </a:prstGeom>
        </p:spPr>
        <p:txBody>
          <a:bodyPr vert="horz" wrap="square" lIns="0" tIns="20821" rIns="0" bIns="0" rtlCol="0">
            <a:spAutoFit/>
          </a:bodyPr>
          <a:lstStyle/>
          <a:p>
            <a:pPr marL="18415" defTabSz="1303655">
              <a:spcBef>
                <a:spcPts val="165"/>
              </a:spcBef>
            </a:pPr>
            <a:r>
              <a:rPr lang="en-US" sz="2800" b="1" kern="0" dirty="0">
                <a:solidFill>
                  <a:srgbClr val="FF0066"/>
                </a:solidFill>
                <a:latin typeface="Calibri" panose="020F0502020204030204"/>
                <a:cs typeface="Calibri" panose="020F0502020204030204"/>
              </a:rPr>
              <a:t>Key Experience Highlights:</a:t>
            </a:r>
            <a:endParaRPr sz="2800" kern="0" dirty="0">
              <a:solidFill>
                <a:sysClr val="windowText" lastClr="000000"/>
              </a:solidFill>
              <a:latin typeface="Calibri" panose="020F0502020204030204"/>
              <a:cs typeface="Calibri" panose="020F0502020204030204"/>
            </a:endParaRPr>
          </a:p>
        </p:txBody>
      </p:sp>
      <p:sp>
        <p:nvSpPr>
          <p:cNvPr id="84" name="object 84"/>
          <p:cNvSpPr/>
          <p:nvPr/>
        </p:nvSpPr>
        <p:spPr>
          <a:xfrm>
            <a:off x="18225672" y="18817763"/>
            <a:ext cx="2163712" cy="285175"/>
          </a:xfrm>
          <a:custGeom>
            <a:avLst/>
            <a:gdLst/>
            <a:ahLst/>
            <a:cxnLst/>
            <a:rect l="l" t="t" r="r" b="b"/>
            <a:pathLst>
              <a:path w="1517650" h="200025">
                <a:moveTo>
                  <a:pt x="1517405" y="0"/>
                </a:moveTo>
                <a:lnTo>
                  <a:pt x="0" y="0"/>
                </a:lnTo>
                <a:lnTo>
                  <a:pt x="0" y="199650"/>
                </a:lnTo>
                <a:lnTo>
                  <a:pt x="1517405" y="199650"/>
                </a:lnTo>
                <a:lnTo>
                  <a:pt x="1517405" y="0"/>
                </a:lnTo>
                <a:close/>
              </a:path>
            </a:pathLst>
          </a:custGeom>
          <a:solidFill>
            <a:srgbClr val="FFFFFF"/>
          </a:solidFill>
        </p:spPr>
        <p:txBody>
          <a:bodyPr wrap="square" lIns="0" tIns="0" rIns="0" bIns="0" rtlCol="0"/>
          <a:lstStyle/>
          <a:p>
            <a:pPr defTabSz="1303655"/>
            <a:endParaRPr sz="2565" kern="0">
              <a:solidFill>
                <a:sysClr val="windowText" lastClr="000000"/>
              </a:solidFill>
            </a:endParaRPr>
          </a:p>
        </p:txBody>
      </p:sp>
      <p:pic>
        <p:nvPicPr>
          <p:cNvPr id="96" name="object 96"/>
          <p:cNvPicPr/>
          <p:nvPr/>
        </p:nvPicPr>
        <p:blipFill>
          <a:blip r:embed="rId8" cstate="print"/>
          <a:stretch>
            <a:fillRect/>
          </a:stretch>
        </p:blipFill>
        <p:spPr>
          <a:xfrm>
            <a:off x="16453483" y="20237120"/>
            <a:ext cx="633209" cy="605567"/>
          </a:xfrm>
          <a:prstGeom prst="rect">
            <a:avLst/>
          </a:prstGeom>
        </p:spPr>
      </p:pic>
      <p:pic>
        <p:nvPicPr>
          <p:cNvPr id="98" name="object 98"/>
          <p:cNvPicPr/>
          <p:nvPr/>
        </p:nvPicPr>
        <p:blipFill>
          <a:blip r:embed="rId9" cstate="print"/>
          <a:stretch>
            <a:fillRect/>
          </a:stretch>
        </p:blipFill>
        <p:spPr>
          <a:xfrm>
            <a:off x="16453483" y="18960350"/>
            <a:ext cx="582138" cy="582137"/>
          </a:xfrm>
          <a:prstGeom prst="rect">
            <a:avLst/>
          </a:prstGeom>
        </p:spPr>
      </p:pic>
      <p:pic>
        <p:nvPicPr>
          <p:cNvPr id="100" name="bg object 17"/>
          <p:cNvPicPr/>
          <p:nvPr/>
        </p:nvPicPr>
        <p:blipFill>
          <a:blip r:embed="rId10" cstate="print"/>
          <a:stretch>
            <a:fillRect/>
          </a:stretch>
        </p:blipFill>
        <p:spPr>
          <a:xfrm>
            <a:off x="23295" y="3906592"/>
            <a:ext cx="21373548" cy="179272"/>
          </a:xfrm>
          <a:prstGeom prst="rect">
            <a:avLst/>
          </a:prstGeom>
        </p:spPr>
      </p:pic>
      <p:sp>
        <p:nvSpPr>
          <p:cNvPr id="101" name="bg object 18"/>
          <p:cNvSpPr/>
          <p:nvPr/>
        </p:nvSpPr>
        <p:spPr>
          <a:xfrm>
            <a:off x="467493" y="5367017"/>
            <a:ext cx="10091586" cy="23535280"/>
          </a:xfrm>
          <a:custGeom>
            <a:avLst/>
            <a:gdLst/>
            <a:ahLst/>
            <a:cxnLst/>
            <a:rect l="l" t="t" r="r" b="b"/>
            <a:pathLst>
              <a:path w="7078345" h="16343630">
                <a:moveTo>
                  <a:pt x="0" y="138448"/>
                </a:moveTo>
                <a:lnTo>
                  <a:pt x="7057" y="94697"/>
                </a:lnTo>
                <a:lnTo>
                  <a:pt x="26711" y="56693"/>
                </a:lnTo>
                <a:lnTo>
                  <a:pt x="56679" y="26719"/>
                </a:lnTo>
                <a:lnTo>
                  <a:pt x="94683" y="7060"/>
                </a:lnTo>
                <a:lnTo>
                  <a:pt x="138442" y="0"/>
                </a:lnTo>
                <a:lnTo>
                  <a:pt x="6939538" y="0"/>
                </a:lnTo>
                <a:lnTo>
                  <a:pt x="6983311" y="7060"/>
                </a:lnTo>
                <a:lnTo>
                  <a:pt x="7021318" y="26719"/>
                </a:lnTo>
                <a:lnTo>
                  <a:pt x="7051284" y="56693"/>
                </a:lnTo>
                <a:lnTo>
                  <a:pt x="7070932" y="94697"/>
                </a:lnTo>
                <a:lnTo>
                  <a:pt x="7077987" y="138448"/>
                </a:lnTo>
                <a:lnTo>
                  <a:pt x="7077987" y="16204684"/>
                </a:lnTo>
                <a:lnTo>
                  <a:pt x="7070932" y="16248459"/>
                </a:lnTo>
                <a:lnTo>
                  <a:pt x="7051284" y="16286470"/>
                </a:lnTo>
                <a:lnTo>
                  <a:pt x="7021318" y="16316441"/>
                </a:lnTo>
                <a:lnTo>
                  <a:pt x="6983311" y="16336093"/>
                </a:lnTo>
                <a:lnTo>
                  <a:pt x="6939538" y="16343150"/>
                </a:lnTo>
                <a:lnTo>
                  <a:pt x="138442" y="16343156"/>
                </a:lnTo>
                <a:lnTo>
                  <a:pt x="94683" y="16336093"/>
                </a:lnTo>
                <a:lnTo>
                  <a:pt x="56679" y="16316441"/>
                </a:lnTo>
                <a:lnTo>
                  <a:pt x="26711" y="16286470"/>
                </a:lnTo>
                <a:lnTo>
                  <a:pt x="7057" y="16248459"/>
                </a:lnTo>
                <a:lnTo>
                  <a:pt x="0" y="16204684"/>
                </a:lnTo>
                <a:lnTo>
                  <a:pt x="0" y="138448"/>
                </a:lnTo>
                <a:close/>
              </a:path>
            </a:pathLst>
          </a:custGeom>
          <a:ln w="11634">
            <a:solidFill>
              <a:srgbClr val="5B9BD4"/>
            </a:solidFill>
          </a:ln>
        </p:spPr>
        <p:txBody>
          <a:bodyPr wrap="square" lIns="0" tIns="0" rIns="0" bIns="0" rtlCol="0"/>
          <a:lstStyle/>
          <a:p>
            <a:pPr defTabSz="1303655"/>
            <a:endParaRPr sz="2565" kern="0">
              <a:solidFill>
                <a:sysClr val="windowText" lastClr="000000"/>
              </a:solidFill>
            </a:endParaRPr>
          </a:p>
        </p:txBody>
      </p:sp>
      <p:sp>
        <p:nvSpPr>
          <p:cNvPr id="102" name="bg object 19"/>
          <p:cNvSpPr/>
          <p:nvPr/>
        </p:nvSpPr>
        <p:spPr>
          <a:xfrm>
            <a:off x="10914905" y="5367017"/>
            <a:ext cx="10091586" cy="23535280"/>
          </a:xfrm>
          <a:custGeom>
            <a:avLst/>
            <a:gdLst/>
            <a:ahLst/>
            <a:cxnLst/>
            <a:rect l="l" t="t" r="r" b="b"/>
            <a:pathLst>
              <a:path w="7078344" h="16343630">
                <a:moveTo>
                  <a:pt x="0" y="138448"/>
                </a:moveTo>
                <a:lnTo>
                  <a:pt x="7060" y="94697"/>
                </a:lnTo>
                <a:lnTo>
                  <a:pt x="26719" y="56693"/>
                </a:lnTo>
                <a:lnTo>
                  <a:pt x="56693" y="26719"/>
                </a:lnTo>
                <a:lnTo>
                  <a:pt x="94697" y="7060"/>
                </a:lnTo>
                <a:lnTo>
                  <a:pt x="138448" y="0"/>
                </a:lnTo>
                <a:lnTo>
                  <a:pt x="6939579" y="0"/>
                </a:lnTo>
                <a:lnTo>
                  <a:pt x="6983330" y="7060"/>
                </a:lnTo>
                <a:lnTo>
                  <a:pt x="7021334" y="26719"/>
                </a:lnTo>
                <a:lnTo>
                  <a:pt x="7051308" y="56693"/>
                </a:lnTo>
                <a:lnTo>
                  <a:pt x="7070967" y="94697"/>
                </a:lnTo>
                <a:lnTo>
                  <a:pt x="7078027" y="138448"/>
                </a:lnTo>
                <a:lnTo>
                  <a:pt x="7078027" y="16204684"/>
                </a:lnTo>
                <a:lnTo>
                  <a:pt x="7070967" y="16248459"/>
                </a:lnTo>
                <a:lnTo>
                  <a:pt x="7051308" y="16286470"/>
                </a:lnTo>
                <a:lnTo>
                  <a:pt x="7021334" y="16316441"/>
                </a:lnTo>
                <a:lnTo>
                  <a:pt x="6983330" y="16336093"/>
                </a:lnTo>
                <a:lnTo>
                  <a:pt x="6939579" y="16343150"/>
                </a:lnTo>
                <a:lnTo>
                  <a:pt x="138448" y="16343156"/>
                </a:lnTo>
                <a:lnTo>
                  <a:pt x="94697" y="16336093"/>
                </a:lnTo>
                <a:lnTo>
                  <a:pt x="56693" y="16316441"/>
                </a:lnTo>
                <a:lnTo>
                  <a:pt x="26719" y="16286470"/>
                </a:lnTo>
                <a:lnTo>
                  <a:pt x="7060" y="16248459"/>
                </a:lnTo>
                <a:lnTo>
                  <a:pt x="0" y="16204684"/>
                </a:lnTo>
                <a:lnTo>
                  <a:pt x="0" y="138448"/>
                </a:lnTo>
                <a:close/>
              </a:path>
            </a:pathLst>
          </a:custGeom>
          <a:ln w="11634">
            <a:solidFill>
              <a:srgbClr val="5B9BD4"/>
            </a:solidFill>
          </a:ln>
        </p:spPr>
        <p:txBody>
          <a:bodyPr wrap="square" lIns="0" tIns="0" rIns="0" bIns="0" rtlCol="0"/>
          <a:lstStyle/>
          <a:p>
            <a:pPr defTabSz="1303655"/>
            <a:endParaRPr sz="2565" kern="0" dirty="0">
              <a:solidFill>
                <a:sysClr val="windowText" lastClr="000000"/>
              </a:solidFill>
            </a:endParaRPr>
          </a:p>
        </p:txBody>
      </p:sp>
      <p:sp>
        <p:nvSpPr>
          <p:cNvPr id="109" name="文本框 108"/>
          <p:cNvSpPr txBox="1"/>
          <p:nvPr/>
        </p:nvSpPr>
        <p:spPr>
          <a:xfrm>
            <a:off x="10975003" y="5870362"/>
            <a:ext cx="9944383" cy="1753235"/>
          </a:xfrm>
          <a:prstGeom prst="rect">
            <a:avLst/>
          </a:prstGeom>
          <a:noFill/>
        </p:spPr>
        <p:txBody>
          <a:bodyPr wrap="square" rtlCol="0">
            <a:spAutoFit/>
          </a:bodyPr>
          <a:lstStyle/>
          <a:p>
            <a:r>
              <a:rPr lang="en-US" altLang="zh-CN" sz="2400" b="1" dirty="0">
                <a:solidFill>
                  <a:srgbClr val="00B050"/>
                </a:solidFill>
              </a:rPr>
              <a:t>Design Evolution Process</a:t>
            </a:r>
            <a:endParaRPr lang="en-US" altLang="zh-CN" sz="2400" b="1" dirty="0">
              <a:solidFill>
                <a:srgbClr val="00B050"/>
              </a:solidFill>
            </a:endParaRPr>
          </a:p>
          <a:p>
            <a:r>
              <a:rPr lang="en-US" altLang="zh-CN" sz="2000" dirty="0"/>
              <a:t>Our design process was centered on solving the problem of "how to blend storytelling with interaction without making visitors feel overwhelmed or bored." This core idea guided our journey from initial concept to high-fidelity prototype (as in the pictures below).</a:t>
            </a:r>
            <a:endParaRPr lang="en-US" altLang="zh-CN" sz="2000" dirty="0"/>
          </a:p>
          <a:p>
            <a:r>
              <a:rPr lang="en-US" altLang="zh-CN" sz="2400" b="1" dirty="0">
                <a:solidFill>
                  <a:srgbClr val="00B050"/>
                </a:solidFill>
              </a:rPr>
              <a:t>Evolution of User Experience: From Concept to High-Fidelity </a:t>
            </a:r>
            <a:endParaRPr lang="en-US" altLang="zh-CN" sz="2400" b="1" dirty="0">
              <a:solidFill>
                <a:srgbClr val="00B050"/>
              </a:solidFill>
            </a:endParaRPr>
          </a:p>
        </p:txBody>
      </p:sp>
      <p:sp>
        <p:nvSpPr>
          <p:cNvPr id="110" name="文本框 109"/>
          <p:cNvSpPr txBox="1"/>
          <p:nvPr/>
        </p:nvSpPr>
        <p:spPr>
          <a:xfrm>
            <a:off x="10972114" y="7593488"/>
            <a:ext cx="4705057" cy="6247130"/>
          </a:xfrm>
          <a:prstGeom prst="rect">
            <a:avLst/>
          </a:prstGeom>
          <a:noFill/>
        </p:spPr>
        <p:txBody>
          <a:bodyPr wrap="square" rtlCol="0">
            <a:spAutoFit/>
          </a:bodyPr>
          <a:lstStyle/>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Our UI design prioritizes intuitive navigation and accessibility. The </a:t>
            </a:r>
            <a:r>
              <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Home Page </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serves as a entry portal, implementing a clear </a:t>
            </a:r>
            <a:r>
              <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user-role bifurcation</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that seamlessly directs visitors and museum administrators to their respective functional hubs (as shown in the high-fidelity prototype on the right).</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2481580" rtl="0" eaLnBrk="1" fontAlgn="auto" latinLnBrk="0" hangingPunct="1">
              <a:lnSpc>
                <a:spcPct val="10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For the visitor experience, the interface offers an </a:t>
            </a:r>
            <a:r>
              <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unrestricted discovery mode</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allowing users to explore and select from a diverse curated list of museums. Once a museum is chosen, the layout transitions into an immersive showcase of our </a:t>
            </a:r>
            <a:r>
              <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three core playful features</a:t>
            </a: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 Each feature is designed to maximize engagement through visual hierarchy and minimalist aesthetics, ensuring that the technology (XR &amp; AI) feels approachable and integrated into the cultural journey.</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pic>
        <p:nvPicPr>
          <p:cNvPr id="94" name="object 94"/>
          <p:cNvPicPr/>
          <p:nvPr/>
        </p:nvPicPr>
        <p:blipFill>
          <a:blip r:embed="rId9" cstate="print"/>
          <a:stretch>
            <a:fillRect/>
          </a:stretch>
        </p:blipFill>
        <p:spPr>
          <a:xfrm>
            <a:off x="16595649" y="17858695"/>
            <a:ext cx="582138" cy="582137"/>
          </a:xfrm>
          <a:prstGeom prst="rect">
            <a:avLst/>
          </a:prstGeom>
        </p:spPr>
      </p:pic>
      <p:sp>
        <p:nvSpPr>
          <p:cNvPr id="120" name="文本框 119"/>
          <p:cNvSpPr txBox="1"/>
          <p:nvPr/>
        </p:nvSpPr>
        <p:spPr>
          <a:xfrm>
            <a:off x="16108579" y="26011955"/>
            <a:ext cx="4870386" cy="2923877"/>
          </a:xfrm>
          <a:prstGeom prst="rect">
            <a:avLst/>
          </a:prstGeom>
          <a:noFill/>
        </p:spPr>
        <p:txBody>
          <a:bodyPr wrap="square" rtlCol="0">
            <a:spAutoFit/>
          </a:bodyPr>
          <a:lstStyle/>
          <a:p>
            <a:r>
              <a:rPr lang="en-US" altLang="zh-CN" sz="2400" b="1" dirty="0">
                <a:solidFill>
                  <a:srgbClr val="00B050"/>
                </a:solidFill>
              </a:rPr>
              <a:t>Project Value</a:t>
            </a:r>
            <a:endParaRPr lang="en-US" altLang="zh-CN" sz="2400" b="1" dirty="0">
              <a:solidFill>
                <a:srgbClr val="00B050"/>
              </a:solidFill>
            </a:endParaRPr>
          </a:p>
          <a:p>
            <a:r>
              <a:rPr lang="en-US" altLang="zh-CN" sz="2000" b="1" dirty="0"/>
              <a:t>Practical Value (For Museums)</a:t>
            </a:r>
            <a:r>
              <a:rPr lang="en-US" altLang="zh-CN" sz="2000" dirty="0"/>
              <a:t> </a:t>
            </a:r>
            <a:endParaRPr lang="en-US" altLang="zh-CN" sz="2000" dirty="0"/>
          </a:p>
          <a:p>
            <a:r>
              <a:rPr lang="en-US" altLang="zh-CN" sz="2000" dirty="0"/>
              <a:t>Offers a high-engagement, low-cost digital transformation template for cultural institutions.</a:t>
            </a:r>
            <a:endParaRPr lang="en-US" altLang="zh-CN" sz="2000" dirty="0"/>
          </a:p>
          <a:p>
            <a:r>
              <a:rPr lang="en-US" altLang="zh-CN" sz="2000" b="1" dirty="0"/>
              <a:t>Academic &amp; Design Value (For the HCD Field)</a:t>
            </a:r>
            <a:endParaRPr lang="en-US" altLang="zh-CN" sz="2000" b="1" dirty="0"/>
          </a:p>
          <a:p>
            <a:r>
              <a:rPr lang="en-US" altLang="zh-CN" sz="2000" dirty="0"/>
              <a:t>Explores how "personalization" and "multimodal interaction" reduce cognitive load in informal learning environments.</a:t>
            </a:r>
            <a:endParaRPr lang="en-US" altLang="zh-CN" sz="2000" dirty="0"/>
          </a:p>
        </p:txBody>
      </p:sp>
      <p:sp>
        <p:nvSpPr>
          <p:cNvPr id="121" name="文本框 120"/>
          <p:cNvSpPr txBox="1"/>
          <p:nvPr/>
        </p:nvSpPr>
        <p:spPr>
          <a:xfrm>
            <a:off x="11244575" y="26772802"/>
            <a:ext cx="4596714" cy="2000548"/>
          </a:xfrm>
          <a:prstGeom prst="rect">
            <a:avLst/>
          </a:prstGeom>
          <a:noFill/>
        </p:spPr>
        <p:txBody>
          <a:bodyPr wrap="square" rtlCol="0">
            <a:spAutoFit/>
          </a:bodyPr>
          <a:lstStyle/>
          <a:p>
            <a:r>
              <a:rPr lang="en-US" altLang="zh-CN" sz="2400" b="1" dirty="0">
                <a:solidFill>
                  <a:srgbClr val="00B050"/>
                </a:solidFill>
              </a:rPr>
              <a:t>Initial Findings: </a:t>
            </a:r>
            <a:endParaRPr lang="en-US" altLang="zh-CN" sz="2400" b="1" dirty="0">
              <a:solidFill>
                <a:srgbClr val="00B050"/>
              </a:solidFill>
            </a:endParaRPr>
          </a:p>
          <a:p>
            <a:r>
              <a:rPr lang="en-US" altLang="zh-CN" sz="2000" dirty="0"/>
              <a:t>Concept testing showed a 65% increase in interaction intent when users could customize their guide's persona. Feedback: "Asking questions 'on the fly' to a persona makes history feel personal."</a:t>
            </a:r>
            <a:endParaRPr lang="zh-CN" altLang="en-US" sz="2000" dirty="0"/>
          </a:p>
        </p:txBody>
      </p:sp>
      <p:sp>
        <p:nvSpPr>
          <p:cNvPr id="122" name="文本框 121"/>
          <p:cNvSpPr txBox="1"/>
          <p:nvPr/>
        </p:nvSpPr>
        <p:spPr>
          <a:xfrm>
            <a:off x="8713694" y="28887695"/>
            <a:ext cx="12425083" cy="1747723"/>
          </a:xfrm>
          <a:prstGeom prst="rect">
            <a:avLst/>
          </a:prstGeom>
          <a:noFill/>
        </p:spPr>
        <p:txBody>
          <a:bodyPr wrap="square" rtlCol="0">
            <a:spAutoFit/>
          </a:bodyPr>
          <a:lstStyle/>
          <a:p>
            <a:pPr marL="113665" marR="0" lvl="0" indent="0" defTabSz="914400" eaLnBrk="1" fontAlgn="auto" latinLnBrk="0" hangingPunct="1">
              <a:lnSpc>
                <a:spcPct val="100000"/>
              </a:lnSpc>
              <a:spcAft>
                <a:spcPts val="0"/>
              </a:spcAft>
              <a:buClrTx/>
              <a:buSzTx/>
              <a:buFontTx/>
              <a:buNone/>
              <a:defRPr/>
            </a:pPr>
            <a:r>
              <a:rPr kumimoji="0" lang="en-US" altLang="zh-CN" sz="1400" b="1"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Academic References: </a:t>
            </a:r>
            <a:endParaRPr kumimoji="0" lang="en-US" altLang="zh-CN" sz="1400" b="1"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a:p>
            <a:pPr marL="113665" marR="0" lvl="0" indent="0" defTabSz="914400" eaLnBrk="1" fontAlgn="auto" latinLnBrk="0" hangingPunct="1">
              <a:lnSpc>
                <a:spcPct val="100000"/>
              </a:lnSpc>
              <a:spcAft>
                <a:spcPts val="0"/>
              </a:spcAft>
              <a:buClrTx/>
              <a:buSzTx/>
              <a:buFontTx/>
              <a:buNone/>
              <a:defRPr/>
            </a:pPr>
            <a:r>
              <a:rPr kumimoji="0" lang="en-US" altLang="zh-CN" sz="140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[1]</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 S. Benford, G. </a:t>
            </a:r>
            <a:r>
              <a:rPr kumimoji="0" lang="en-US" altLang="zh-CN" sz="1400" b="0" i="0" u="none" strike="noStrike" kern="0" cap="none" spc="0" normalizeH="0" baseline="0" noProof="0" dirty="0" err="1">
                <a:ln>
                  <a:noFill/>
                </a:ln>
                <a:solidFill>
                  <a:sysClr val="windowText" lastClr="000000"/>
                </a:solidFill>
                <a:effectLst/>
                <a:uLnTx/>
                <a:uFillTx/>
                <a:latin typeface="Arial" panose="020B0604020202020204"/>
                <a:cs typeface="Arial" panose="020B0604020202020204"/>
              </a:rPr>
              <a:t>Giannachi</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 B. Koleva, and T. Rodden, “From interaction to trajectories: Designing coherent journeys through user     experiences,” in Proc. SIGCHI Conf. Hum. Factors </a:t>
            </a:r>
            <a:r>
              <a:rPr kumimoji="0" lang="en-US" altLang="zh-CN" sz="1400" b="0" i="0" u="none" strike="noStrike" kern="0" cap="none" spc="0" normalizeH="0" baseline="0" noProof="0" dirty="0" err="1">
                <a:ln>
                  <a:noFill/>
                </a:ln>
                <a:solidFill>
                  <a:sysClr val="windowText" lastClr="000000"/>
                </a:solidFill>
                <a:effectLst/>
                <a:uLnTx/>
                <a:uFillTx/>
                <a:latin typeface="Arial" panose="020B0604020202020204"/>
                <a:cs typeface="Arial" panose="020B0604020202020204"/>
              </a:rPr>
              <a:t>Comput</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 Syst., 2009, pp. 709–718.</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a:p>
            <a:pPr marL="113665" marR="0" lvl="0" indent="0" defTabSz="914400" eaLnBrk="1" fontAlgn="auto" latinLnBrk="0" hangingPunct="1">
              <a:lnSpc>
                <a:spcPct val="100000"/>
              </a:lnSpc>
              <a:spcAft>
                <a:spcPts val="0"/>
              </a:spcAft>
              <a:buClrTx/>
              <a:buSzTx/>
              <a:buFontTx/>
              <a:buNone/>
              <a:defRPr/>
            </a:pP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[2] S. S. </a:t>
            </a:r>
            <a:r>
              <a:rPr kumimoji="0" lang="en-US" altLang="zh-CN" sz="1400" b="0" i="0" u="none" strike="noStrike" kern="0" cap="none" spc="0" normalizeH="0" baseline="0" noProof="0" dirty="0" err="1">
                <a:ln>
                  <a:noFill/>
                </a:ln>
                <a:solidFill>
                  <a:sysClr val="windowText" lastClr="000000"/>
                </a:solidFill>
                <a:effectLst/>
                <a:uLnTx/>
                <a:uFillTx/>
                <a:latin typeface="Arial" panose="020B0604020202020204"/>
                <a:cs typeface="Arial" panose="020B0604020202020204"/>
              </a:rPr>
              <a:t>Yalowitz</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 and K. </a:t>
            </a:r>
            <a:r>
              <a:rPr kumimoji="0" lang="en-US" altLang="zh-CN" sz="1400" b="0" i="0" u="none" strike="noStrike" kern="0" cap="none" spc="0" normalizeH="0" baseline="0" noProof="0" dirty="0" err="1">
                <a:ln>
                  <a:noFill/>
                </a:ln>
                <a:solidFill>
                  <a:sysClr val="windowText" lastClr="000000"/>
                </a:solidFill>
                <a:effectLst/>
                <a:uLnTx/>
                <a:uFillTx/>
                <a:latin typeface="Arial" panose="020B0604020202020204"/>
                <a:cs typeface="Arial" panose="020B0604020202020204"/>
              </a:rPr>
              <a:t>Bronnenkant</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 "Timing and tracking: Unlocking visitor behavior," Visitor Studies, vol. 12, no. 1, pp. 47-64, 2009.</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a:p>
            <a:pPr marL="113665" marR="0" lvl="0" indent="0" defTabSz="914400" eaLnBrk="1" fontAlgn="auto" latinLnBrk="0" hangingPunct="1">
              <a:lnSpc>
                <a:spcPct val="100000"/>
              </a:lnSpc>
              <a:spcAft>
                <a:spcPts val="0"/>
              </a:spcAft>
              <a:buClrTx/>
              <a:buSzTx/>
              <a:buFontTx/>
              <a:buNone/>
              <a:defRPr/>
            </a:pPr>
            <a:r>
              <a:rPr lang="en-US" altLang="zh-CN" sz="1400" kern="0" dirty="0">
                <a:solidFill>
                  <a:sysClr val="windowText" lastClr="000000"/>
                </a:solidFill>
                <a:latin typeface="Arial" panose="020B0604020202020204"/>
                <a:cs typeface="Arial" panose="020B0604020202020204"/>
              </a:rPr>
              <a:t>[3] A. Vaswani et al., "Attention is all you need," in Advances in Neural Information Processing Systems, 2017, pp. 6000-6010.</a:t>
            </a:r>
            <a:endParaRPr lang="en-US" altLang="zh-CN" sz="1400" kern="0" dirty="0">
              <a:solidFill>
                <a:sysClr val="windowText" lastClr="000000"/>
              </a:solidFill>
              <a:latin typeface="Arial" panose="020B0604020202020204"/>
              <a:cs typeface="Arial" panose="020B0604020202020204"/>
            </a:endParaRPr>
          </a:p>
          <a:p>
            <a:pPr marL="113665" marR="0" lvl="0" indent="0" defTabSz="914400" eaLnBrk="1" fontAlgn="auto" latinLnBrk="0" hangingPunct="1">
              <a:lnSpc>
                <a:spcPct val="100000"/>
              </a:lnSpc>
              <a:spcAft>
                <a:spcPts val="0"/>
              </a:spcAft>
              <a:buClrTx/>
              <a:buSzTx/>
              <a:buFontTx/>
              <a:buNone/>
              <a:defRPr/>
            </a:pPr>
            <a:r>
              <a:rPr kumimoji="0" lang="en-US" altLang="zh-CN" sz="1400" b="1"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AI Declaration: </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Framework developed by the team; text polished by ChatGPT-4o; concept illustrations generated by Midjourney.</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a:p>
            <a:pPr marL="113665" marR="0" lvl="0" indent="0" algn="ctr" defTabSz="914400" eaLnBrk="1" fontAlgn="auto" latinLnBrk="0" hangingPunct="1">
              <a:lnSpc>
                <a:spcPts val="1400"/>
              </a:lnSpc>
              <a:spcBef>
                <a:spcPts val="1205"/>
              </a:spcBef>
              <a:spcAft>
                <a:spcPts val="0"/>
              </a:spcAft>
              <a:buClrTx/>
              <a:buSzTx/>
              <a:buFontTx/>
              <a:buNone/>
              <a:defRPr/>
            </a:pPr>
            <a:endParaRPr kumimoji="0" lang="en-US" altLang="zh-CN" sz="254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p:txBody>
      </p:sp>
      <p:sp>
        <p:nvSpPr>
          <p:cNvPr id="123" name="文本框 122"/>
          <p:cNvSpPr txBox="1"/>
          <p:nvPr/>
        </p:nvSpPr>
        <p:spPr>
          <a:xfrm>
            <a:off x="822903" y="29304391"/>
            <a:ext cx="7762226" cy="483209"/>
          </a:xfrm>
          <a:prstGeom prst="rect">
            <a:avLst/>
          </a:prstGeom>
          <a:noFill/>
        </p:spPr>
        <p:txBody>
          <a:bodyPr wrap="square" rtlCol="0">
            <a:spAutoFit/>
          </a:bodyPr>
          <a:lstStyle/>
          <a:p>
            <a:pPr marL="113665" marR="0" lvl="0" indent="0" algn="ctr" defTabSz="914400" rtl="0" eaLnBrk="1" fontAlgn="auto" latinLnBrk="0" hangingPunct="1">
              <a:lnSpc>
                <a:spcPct val="100000"/>
              </a:lnSpc>
              <a:spcBef>
                <a:spcPts val="1205"/>
              </a:spcBef>
              <a:spcAft>
                <a:spcPts val="0"/>
              </a:spcAft>
              <a:buClrTx/>
              <a:buSzTx/>
              <a:buFontTx/>
              <a:buNone/>
              <a:defRPr/>
            </a:pPr>
            <a:r>
              <a:rPr kumimoji="0" lang="en-US" altLang="zh-CN" sz="2540" b="1" i="0" u="none" strike="noStrike" kern="0" cap="none" spc="-15" normalizeH="0" baseline="0" noProof="0" dirty="0">
                <a:ln>
                  <a:noFill/>
                </a:ln>
                <a:solidFill>
                  <a:srgbClr val="003478"/>
                </a:solidFill>
                <a:effectLst/>
                <a:uLnTx/>
                <a:uFillTx/>
                <a:latin typeface="Arial" panose="020B0604020202020204"/>
                <a:ea typeface="宋体" panose="02010600030101010101" pitchFamily="2" charset="-122"/>
                <a:cs typeface="Arial" panose="020B0604020202020204"/>
              </a:rPr>
              <a:t>REFERENCES AND DECLARATION</a:t>
            </a:r>
            <a:endParaRPr kumimoji="0" lang="en-US" altLang="zh-CN" sz="2540" b="1" i="0" u="none" strike="noStrike" kern="0" cap="none" spc="-15" normalizeH="0" baseline="0" noProof="0" dirty="0">
              <a:ln>
                <a:noFill/>
              </a:ln>
              <a:solidFill>
                <a:srgbClr val="003478"/>
              </a:solidFill>
              <a:effectLst/>
              <a:uLnTx/>
              <a:uFillTx/>
              <a:latin typeface="Arial" panose="020B0604020202020204"/>
              <a:ea typeface="宋体" panose="02010600030101010101" pitchFamily="2" charset="-122"/>
              <a:cs typeface="Arial" panose="020B0604020202020204"/>
            </a:endParaRPr>
          </a:p>
        </p:txBody>
      </p:sp>
      <p:sp>
        <p:nvSpPr>
          <p:cNvPr id="124" name="文本框 123"/>
          <p:cNvSpPr txBox="1"/>
          <p:nvPr/>
        </p:nvSpPr>
        <p:spPr>
          <a:xfrm>
            <a:off x="757555" y="4303395"/>
            <a:ext cx="12551410" cy="829945"/>
          </a:xfrm>
          <a:prstGeom prst="rect">
            <a:avLst/>
          </a:prstGeom>
          <a:noFill/>
        </p:spPr>
        <p:txBody>
          <a:bodyPr wrap="square" rtlCol="0">
            <a:spAutoFit/>
          </a:bodyPr>
          <a:lstStyle/>
          <a:p>
            <a:r>
              <a:rPr lang="en-US" altLang="zh-CN" sz="2400" b="1" dirty="0"/>
              <a:t>CPT208 - Xi’an </a:t>
            </a:r>
            <a:r>
              <a:rPr lang="en-US" altLang="zh-CN" sz="2400" b="1" dirty="0" err="1"/>
              <a:t>Jiaotong</a:t>
            </a:r>
            <a:r>
              <a:rPr lang="en-US" altLang="zh-CN" sz="2400" b="1" dirty="0"/>
              <a:t>-Liverpool University, Suzhou, China</a:t>
            </a:r>
            <a:endParaRPr lang="en-US" altLang="zh-CN" sz="2400" b="1" dirty="0"/>
          </a:p>
          <a:p>
            <a:r>
              <a:rPr lang="en-US" altLang="zh-CN" sz="2400" b="1" i="1" dirty="0"/>
              <a:t>Group A3-1:</a:t>
            </a:r>
            <a:r>
              <a:rPr lang="en-US" altLang="zh-CN" sz="2400" dirty="0"/>
              <a:t> Yixuan Chen (2362456), Yifei Dou (2362307), Ziheng Li (2363040), Yuhan Mei (2362444)</a:t>
            </a:r>
            <a:endParaRPr lang="zh-CN" altLang="en-US" sz="2400" dirty="0"/>
          </a:p>
        </p:txBody>
      </p:sp>
      <p:sp>
        <p:nvSpPr>
          <p:cNvPr id="4" name="文本框 3"/>
          <p:cNvSpPr txBox="1"/>
          <p:nvPr/>
        </p:nvSpPr>
        <p:spPr>
          <a:xfrm>
            <a:off x="491897" y="9112013"/>
            <a:ext cx="6093425" cy="2923877"/>
          </a:xfrm>
          <a:prstGeom prst="rect">
            <a:avLst/>
          </a:prstGeom>
          <a:noFill/>
        </p:spPr>
        <p:txBody>
          <a:bodyPr wrap="square" rtlCol="0">
            <a:spAutoFit/>
          </a:bodyPr>
          <a:lstStyle/>
          <a:p>
            <a:r>
              <a:rPr lang="en-US" altLang="zh-CN" sz="2400" b="1" dirty="0">
                <a:solidFill>
                  <a:srgbClr val="00B050"/>
                </a:solidFill>
              </a:rPr>
              <a:t>Pain Points of Existing Solutions</a:t>
            </a:r>
            <a:endParaRPr lang="en-US" altLang="zh-CN" sz="2400" b="1" dirty="0">
              <a:solidFill>
                <a:srgbClr val="00B050"/>
              </a:solidFill>
            </a:endParaRPr>
          </a:p>
          <a:p>
            <a:r>
              <a:rPr lang="en-US" altLang="zh-CN" sz="2000" b="1" dirty="0"/>
              <a:t>1.Rigid Interaction: </a:t>
            </a:r>
            <a:r>
              <a:rPr lang="en-US" altLang="zh-CN" sz="2000" dirty="0"/>
              <a:t>Most XR is limited to static overlays; visitors remain passive recipients, leading to rapid boredom.</a:t>
            </a:r>
            <a:endParaRPr lang="en-US" altLang="zh-CN" sz="2000" dirty="0"/>
          </a:p>
          <a:p>
            <a:r>
              <a:rPr lang="en-US" altLang="zh-CN" sz="2000" b="1" dirty="0"/>
              <a:t>2.Homogenized Content: </a:t>
            </a:r>
            <a:r>
              <a:rPr lang="en-US" altLang="zh-CN" sz="2000" dirty="0"/>
              <a:t>Fixed scripts fail to cater to diverse ages and knowledge backgrounds.</a:t>
            </a:r>
            <a:endParaRPr lang="en-US" altLang="zh-CN" sz="2000" dirty="0"/>
          </a:p>
          <a:p>
            <a:r>
              <a:rPr lang="en-US" altLang="zh-CN" sz="2000" b="1" dirty="0"/>
              <a:t>3.Contextual Fragmentation: </a:t>
            </a:r>
            <a:r>
              <a:rPr lang="en-US" altLang="zh-CN" sz="2000" dirty="0"/>
              <a:t>Artifacts are isolated from their historical context, missing the "emotional punch" of a lived experience.</a:t>
            </a:r>
            <a:endParaRPr lang="en-US" altLang="zh-CN" sz="2000" dirty="0"/>
          </a:p>
        </p:txBody>
      </p:sp>
      <p:sp>
        <p:nvSpPr>
          <p:cNvPr id="5" name="文本框 4"/>
          <p:cNvSpPr txBox="1"/>
          <p:nvPr/>
        </p:nvSpPr>
        <p:spPr>
          <a:xfrm>
            <a:off x="573164" y="12072305"/>
            <a:ext cx="6302615" cy="1569660"/>
          </a:xfrm>
          <a:prstGeom prst="rect">
            <a:avLst/>
          </a:prstGeom>
          <a:noFill/>
        </p:spPr>
        <p:txBody>
          <a:bodyPr wrap="square" rtlCol="0">
            <a:spAutoFit/>
          </a:bodyPr>
          <a:lstStyle/>
          <a:p>
            <a:r>
              <a:rPr lang="en-US" altLang="zh-CN" sz="2400" b="1" dirty="0">
                <a:solidFill>
                  <a:srgbClr val="00B050"/>
                </a:solidFill>
              </a:rPr>
              <a:t>User Personas:</a:t>
            </a:r>
            <a:endParaRPr lang="en-US" altLang="zh-CN" sz="2400" b="1" dirty="0">
              <a:solidFill>
                <a:srgbClr val="00B050"/>
              </a:solidFill>
            </a:endParaRPr>
          </a:p>
          <a:p>
            <a:r>
              <a:rPr lang="en-US" altLang="zh-CN" sz="1800" b="1" dirty="0"/>
              <a:t>Primary User: </a:t>
            </a:r>
            <a:r>
              <a:rPr lang="en-US" altLang="zh-CN" sz="1800" dirty="0"/>
              <a:t>Xiao Lin (19, Student). Pain point: Views museums as "boring classrooms"; craves RPG-like exploration.</a:t>
            </a:r>
            <a:endParaRPr lang="en-US" altLang="zh-CN" sz="1800" dirty="0"/>
          </a:p>
          <a:p>
            <a:r>
              <a:rPr lang="en-US" altLang="zh-CN" sz="1800" b="1" dirty="0"/>
              <a:t>Secondary User: </a:t>
            </a:r>
            <a:r>
              <a:rPr lang="en-US" altLang="zh-CN" sz="1800" dirty="0"/>
              <a:t>Museum Curator. Pain point: Needs a flexible, low-cost system to keep exhibits engaging for younger audiences.</a:t>
            </a:r>
            <a:endParaRPr lang="en-US" altLang="zh-CN" sz="1800" dirty="0"/>
          </a:p>
        </p:txBody>
      </p:sp>
      <p:pic>
        <p:nvPicPr>
          <p:cNvPr id="7" name="图片 6"/>
          <p:cNvPicPr>
            <a:picLocks noChangeAspect="1"/>
          </p:cNvPicPr>
          <p:nvPr/>
        </p:nvPicPr>
        <p:blipFill>
          <a:blip r:embed="rId11"/>
          <a:stretch>
            <a:fillRect/>
          </a:stretch>
        </p:blipFill>
        <p:spPr>
          <a:xfrm>
            <a:off x="10994847" y="22926856"/>
            <a:ext cx="9924539" cy="3051564"/>
          </a:xfrm>
          <a:prstGeom prst="rect">
            <a:avLst/>
          </a:prstGeom>
        </p:spPr>
      </p:pic>
      <p:sp>
        <p:nvSpPr>
          <p:cNvPr id="8" name="文本框 7"/>
          <p:cNvSpPr txBox="1"/>
          <p:nvPr/>
        </p:nvSpPr>
        <p:spPr>
          <a:xfrm>
            <a:off x="664099" y="18825869"/>
            <a:ext cx="4705425" cy="3785652"/>
          </a:xfrm>
          <a:prstGeom prst="rect">
            <a:avLst/>
          </a:prstGeom>
          <a:noFill/>
        </p:spPr>
        <p:txBody>
          <a:bodyPr wrap="square" rtlCol="0">
            <a:spAutoFit/>
          </a:bodyPr>
          <a:lstStyle/>
          <a:p>
            <a:r>
              <a:rPr lang="en-US" altLang="zh-CN" sz="2400" dirty="0"/>
              <a:t>Integrate XR historical scene restoration and AI multimodal interaction, combine personalized virtual guide service and immersive experience design, to create an immersive, interactive and customized museum visiting experience, and greatly enhance the fun and engagement of museum visits.</a:t>
            </a:r>
            <a:endParaRPr lang="zh-CN" altLang="en-US" sz="2400" dirty="0"/>
          </a:p>
        </p:txBody>
      </p:sp>
      <p:sp>
        <p:nvSpPr>
          <p:cNvPr id="18" name="文本框 17"/>
          <p:cNvSpPr txBox="1"/>
          <p:nvPr/>
        </p:nvSpPr>
        <p:spPr>
          <a:xfrm>
            <a:off x="731408" y="14011567"/>
            <a:ext cx="3872924" cy="523220"/>
          </a:xfrm>
          <a:prstGeom prst="rect">
            <a:avLst/>
          </a:prstGeom>
          <a:noFill/>
        </p:spPr>
        <p:txBody>
          <a:bodyPr wrap="square" rtlCol="0">
            <a:spAutoFit/>
          </a:bodyPr>
          <a:lstStyle/>
          <a:p>
            <a:r>
              <a:rPr lang="en-US" altLang="zh-CN" sz="2800" b="1" dirty="0">
                <a:solidFill>
                  <a:srgbClr val="FF0066"/>
                </a:solidFill>
              </a:rPr>
              <a:t>Research Objectives</a:t>
            </a:r>
            <a:r>
              <a:rPr lang="en-US" altLang="zh-CN" sz="2800" b="1" dirty="0"/>
              <a:t>:</a:t>
            </a:r>
            <a:endParaRPr lang="zh-CN" altLang="en-US" sz="2800" b="1" dirty="0"/>
          </a:p>
        </p:txBody>
      </p:sp>
      <p:pic>
        <p:nvPicPr>
          <p:cNvPr id="9" name="图片 8"/>
          <p:cNvPicPr>
            <a:picLocks noChangeAspect="1"/>
          </p:cNvPicPr>
          <p:nvPr/>
        </p:nvPicPr>
        <p:blipFill>
          <a:blip r:embed="rId12"/>
          <a:srcRect t="47548"/>
          <a:stretch>
            <a:fillRect/>
          </a:stretch>
        </p:blipFill>
        <p:spPr>
          <a:xfrm>
            <a:off x="13356383" y="13951706"/>
            <a:ext cx="2370229" cy="2899564"/>
          </a:xfrm>
          <a:prstGeom prst="rect">
            <a:avLst/>
          </a:prstGeom>
        </p:spPr>
      </p:pic>
      <p:sp>
        <p:nvSpPr>
          <p:cNvPr id="15" name="文本框 14"/>
          <p:cNvSpPr txBox="1"/>
          <p:nvPr/>
        </p:nvSpPr>
        <p:spPr>
          <a:xfrm>
            <a:off x="10912478" y="22347799"/>
            <a:ext cx="4466047" cy="523220"/>
          </a:xfrm>
          <a:prstGeom prst="rect">
            <a:avLst/>
          </a:prstGeom>
          <a:noFill/>
        </p:spPr>
        <p:txBody>
          <a:bodyPr wrap="square" rtlCol="0">
            <a:spAutoFit/>
          </a:bodyPr>
          <a:lstStyle/>
          <a:p>
            <a:r>
              <a:rPr lang="en-US" altLang="zh-CN" sz="2800" b="1" dirty="0">
                <a:solidFill>
                  <a:srgbClr val="00B050"/>
                </a:solidFill>
              </a:rPr>
              <a:t>System Flow</a:t>
            </a:r>
            <a:endParaRPr lang="zh-CN" altLang="en-US" sz="2800" b="1" dirty="0">
              <a:solidFill>
                <a:srgbClr val="00B050"/>
              </a:solidFill>
            </a:endParaRPr>
          </a:p>
        </p:txBody>
      </p:sp>
      <p:sp>
        <p:nvSpPr>
          <p:cNvPr id="19" name="文本框 18"/>
          <p:cNvSpPr txBox="1"/>
          <p:nvPr/>
        </p:nvSpPr>
        <p:spPr>
          <a:xfrm>
            <a:off x="11014545" y="17447855"/>
            <a:ext cx="9991946" cy="4955203"/>
          </a:xfrm>
          <a:prstGeom prst="rect">
            <a:avLst/>
          </a:prstGeom>
          <a:noFill/>
        </p:spPr>
        <p:txBody>
          <a:bodyPr wrap="square" rtlCol="0">
            <a:spAutoFit/>
          </a:bodyPr>
          <a:lstStyle/>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During the early stages, we seriously considered two alternative approaches that leaned more heavily on a single technology:</a:t>
            </a:r>
            <a:endParaRPr kumimoji="0" lang="en-US" altLang="zh-CN" sz="20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Alternative Option A: Pure XR Historical Recreation</a:t>
            </a:r>
            <a:endPar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Focused on creating highly immersive, photorealistic recreations of historical environments and events, allowing visitors to "travel back in time.“  It looked amazing, but it was pretty passive. There wasn't much real interaction.</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Alternative Option B: Pure AI Voice Chatbot Guide</a:t>
            </a:r>
            <a:endPar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Developing a knowledgeable, conversational AI voice assistant that visitors could freely question about any exhibit. It could have natural conversations and tailor explanations to each person. That made it more engaging and accessible, but it missed the emotional punch of actually seeing history come to life.</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Advantages of the Final Hybrid Option C (XR + AI):</a:t>
            </a:r>
            <a:endParaRPr kumimoji="0" lang="en-US" altLang="zh-CN" sz="2000" b="1"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The XR part builds the world and the atmosphere it makes you feel like you're really there in that historical moment. Then the AI voice turns that world into a conversation. Visitors can ask questions on the fly, ask for a simpler explanation, or dive deeper into something they're curious about.</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rPr>
              <a:t>That turns a one-way tour into a kind of discovery game. It's way less boring. Sure, building this hybrid system is more complicated than just picking one approach, but it's worth it. Visitors remember more, get more curious, and have a better time whether they're kids, adults, or just have different ways of learning.</a:t>
            </a:r>
            <a:endParaRPr kumimoji="0" lang="en-US" altLang="zh-CN"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1" name="文本框 20"/>
          <p:cNvSpPr txBox="1"/>
          <p:nvPr/>
        </p:nvSpPr>
        <p:spPr>
          <a:xfrm>
            <a:off x="10980275" y="16941084"/>
            <a:ext cx="4547746" cy="461665"/>
          </a:xfrm>
          <a:prstGeom prst="rect">
            <a:avLst/>
          </a:prstGeom>
          <a:noFill/>
        </p:spPr>
        <p:txBody>
          <a:bodyPr wrap="square" rtlCol="0">
            <a:spAutoFit/>
          </a:bodyPr>
          <a:lstStyle/>
          <a:p>
            <a:pPr marL="0" marR="0" lvl="0" indent="0" algn="l" defTabSz="248158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00B050"/>
                </a:solidFill>
                <a:effectLst/>
                <a:uLnTx/>
                <a:uFillTx/>
                <a:latin typeface="Calibri" panose="020F0502020204030204"/>
                <a:ea typeface="宋体" panose="02010600030101010101" pitchFamily="2" charset="-122"/>
                <a:cs typeface="+mn-cs"/>
              </a:rPr>
              <a:t>Rationale for Design Decisions</a:t>
            </a:r>
            <a:endParaRPr kumimoji="0" lang="en-US" altLang="zh-CN" sz="2400" b="1" i="0" u="none" strike="noStrike" kern="1200" cap="none" spc="0" normalizeH="0" baseline="0" noProof="0" dirty="0">
              <a:ln>
                <a:noFill/>
              </a:ln>
              <a:solidFill>
                <a:srgbClr val="00B050"/>
              </a:solidFill>
              <a:effectLst/>
              <a:uLnTx/>
              <a:uFillTx/>
              <a:latin typeface="Calibri" panose="020F0502020204030204"/>
              <a:ea typeface="宋体" panose="02010600030101010101" pitchFamily="2" charset="-122"/>
              <a:cs typeface="+mn-cs"/>
            </a:endParaRPr>
          </a:p>
        </p:txBody>
      </p:sp>
      <p:sp>
        <p:nvSpPr>
          <p:cNvPr id="25" name="文本框 24"/>
          <p:cNvSpPr txBox="1"/>
          <p:nvPr/>
        </p:nvSpPr>
        <p:spPr>
          <a:xfrm>
            <a:off x="3194466" y="5358618"/>
            <a:ext cx="4269080" cy="487378"/>
          </a:xfrm>
          <a:prstGeom prst="rect">
            <a:avLst/>
          </a:prstGeom>
          <a:noFill/>
        </p:spPr>
        <p:txBody>
          <a:bodyPr wrap="square" rtlCol="0">
            <a:spAutoFit/>
          </a:bodyPr>
          <a:lstStyle/>
          <a:p>
            <a:pPr marL="0" marR="18415" lvl="0" indent="0" algn="ctr" defTabSz="1303655" rtl="0" eaLnBrk="1" fontAlgn="auto" latinLnBrk="0" hangingPunct="1">
              <a:lnSpc>
                <a:spcPct val="100000"/>
              </a:lnSpc>
              <a:spcBef>
                <a:spcPts val="2005"/>
              </a:spcBef>
              <a:spcAft>
                <a:spcPts val="0"/>
              </a:spcAft>
              <a:buClrTx/>
              <a:buSzTx/>
              <a:buFontTx/>
              <a:buNone/>
              <a:defRPr/>
            </a:pPr>
            <a:r>
              <a:rPr kumimoji="0" lang="en-US" altLang="zh-CN" sz="2565" b="1" i="0" u="none" strike="noStrike" kern="0" cap="none" spc="-15" normalizeH="0" baseline="0" noProof="0" dirty="0">
                <a:ln>
                  <a:noFill/>
                </a:ln>
                <a:solidFill>
                  <a:srgbClr val="000090"/>
                </a:solidFill>
                <a:effectLst/>
                <a:uLnTx/>
                <a:uFillTx/>
                <a:latin typeface="Calibri" panose="020F0502020204030204"/>
                <a:ea typeface="+mn-ea"/>
                <a:cs typeface="Calibri" panose="020F0502020204030204"/>
              </a:rPr>
              <a:t>Background &amp; Problem</a:t>
            </a:r>
            <a:endParaRPr kumimoji="0" lang="en-US" altLang="zh-CN" sz="2565" b="1" i="0" u="none" strike="noStrike" kern="0" cap="none" spc="-15" normalizeH="0" baseline="0" noProof="0" dirty="0">
              <a:ln>
                <a:noFill/>
              </a:ln>
              <a:solidFill>
                <a:srgbClr val="000090"/>
              </a:solidFill>
              <a:effectLst/>
              <a:uLnTx/>
              <a:uFillTx/>
              <a:latin typeface="Calibri" panose="020F0502020204030204"/>
              <a:ea typeface="+mn-ea"/>
              <a:cs typeface="Calibri" panose="020F0502020204030204"/>
            </a:endParaRPr>
          </a:p>
        </p:txBody>
      </p:sp>
      <p:sp>
        <p:nvSpPr>
          <p:cNvPr id="26" name="文本框 25"/>
          <p:cNvSpPr txBox="1"/>
          <p:nvPr/>
        </p:nvSpPr>
        <p:spPr>
          <a:xfrm>
            <a:off x="573164" y="5769901"/>
            <a:ext cx="2555932" cy="461665"/>
          </a:xfrm>
          <a:prstGeom prst="rect">
            <a:avLst/>
          </a:prstGeom>
          <a:noFill/>
        </p:spPr>
        <p:txBody>
          <a:bodyPr wrap="square" rtlCol="0">
            <a:spAutoFit/>
          </a:bodyPr>
          <a:lstStyle/>
          <a:p>
            <a:pPr marL="0" marR="18415" lvl="0" indent="0" algn="l" defTabSz="1303655" rtl="0" eaLnBrk="1" fontAlgn="auto" latinLnBrk="0" hangingPunct="1">
              <a:lnSpc>
                <a:spcPct val="100000"/>
              </a:lnSpc>
              <a:spcBef>
                <a:spcPts val="2005"/>
              </a:spcBef>
              <a:spcAft>
                <a:spcPts val="0"/>
              </a:spcAft>
              <a:buClrTx/>
              <a:buSzTx/>
              <a:buFontTx/>
              <a:buNone/>
              <a:defRPr/>
            </a:pPr>
            <a:r>
              <a:rPr kumimoji="0" lang="en-US" altLang="zh-CN" sz="2400" b="1" i="0" u="none" strike="noStrike" kern="0" cap="none" spc="0" normalizeH="0" baseline="0" noProof="0">
                <a:ln>
                  <a:noFill/>
                </a:ln>
                <a:solidFill>
                  <a:srgbClr val="00B050"/>
                </a:solidFill>
                <a:effectLst/>
                <a:uLnTx/>
                <a:uFillTx/>
                <a:latin typeface="Calibri" panose="020F0502020204030204"/>
                <a:ea typeface="+mn-ea"/>
                <a:cs typeface="Calibri" panose="020F0502020204030204"/>
              </a:rPr>
              <a:t>Motivation</a:t>
            </a:r>
            <a:endParaRPr kumimoji="0" lang="en-US" altLang="zh-CN" sz="2400" b="1" i="0" u="none" strike="noStrike" kern="0" cap="none" spc="0" normalizeH="0" baseline="0" noProof="0" dirty="0">
              <a:ln>
                <a:noFill/>
              </a:ln>
              <a:solidFill>
                <a:srgbClr val="00B050"/>
              </a:solidFill>
              <a:effectLst/>
              <a:uLnTx/>
              <a:uFillTx/>
              <a:latin typeface="Calibri" panose="020F0502020204030204"/>
              <a:ea typeface="+mn-ea"/>
              <a:cs typeface="Calibri" panose="020F0502020204030204"/>
            </a:endParaRPr>
          </a:p>
        </p:txBody>
      </p:sp>
      <p:sp>
        <p:nvSpPr>
          <p:cNvPr id="27" name="文本框 26"/>
          <p:cNvSpPr txBox="1"/>
          <p:nvPr/>
        </p:nvSpPr>
        <p:spPr>
          <a:xfrm>
            <a:off x="491897" y="7378013"/>
            <a:ext cx="10143288" cy="1754326"/>
          </a:xfrm>
          <a:prstGeom prst="rect">
            <a:avLst/>
          </a:prstGeom>
          <a:noFill/>
        </p:spPr>
        <p:txBody>
          <a:bodyPr wrap="square" rtlCol="0">
            <a:spAutoFit/>
          </a:bodyPr>
          <a:lstStyle/>
          <a:p>
            <a:pPr marL="0" marR="18415" lvl="0" indent="0" algn="l" defTabSz="1303655" rtl="0" eaLnBrk="1" fontAlgn="auto" latinLnBrk="0" hangingPunct="1">
              <a:lnSpc>
                <a:spcPct val="100000"/>
              </a:lnSpc>
              <a:spcBef>
                <a:spcPts val="2005"/>
              </a:spcBef>
              <a:spcAft>
                <a:spcPts val="0"/>
              </a:spcAft>
              <a:buClrTx/>
              <a:buSzTx/>
              <a:buFontTx/>
              <a:buNone/>
              <a:defRPr/>
            </a:pPr>
            <a:r>
              <a:rPr kumimoji="0" lang="en-US" altLang="zh-CN" sz="1800" b="0" i="0" u="none" strike="noStrike" kern="0" cap="none" spc="0" normalizeH="0" baseline="0" noProof="0" dirty="0">
                <a:ln>
                  <a:noFill/>
                </a:ln>
                <a:solidFill>
                  <a:sysClr val="windowText" lastClr="000000"/>
                </a:solidFill>
                <a:effectLst/>
                <a:uLnTx/>
                <a:uFillTx/>
                <a:latin typeface="Calibri" panose="020F0502020204030204"/>
                <a:ea typeface="+mn-ea"/>
                <a:cs typeface="Calibri" panose="020F0502020204030204"/>
              </a:rPr>
              <a:t>Our goal is to bridge this gap through a human-centered​ approach. We integrate XR to reconstruct authentic historical contexts for emotional impact, with generative AI to enable personalized, conversational narratives. This transforms passive viewing into an active “journey of discovery.” This philosophy aligns with applying HCI to cultural heritage, aiming to enhance understanding and accessibility for diverse learners [1,3]. Ultimately, we seek to make museum visits a memorable, participatory dialogue with history.</a:t>
            </a:r>
            <a:endParaRPr kumimoji="0" lang="en-US" altLang="zh-CN" sz="1800" b="0" i="0" u="none" strike="noStrike" kern="0" cap="none" spc="0" normalizeH="0" baseline="0" noProof="0" dirty="0">
              <a:ln>
                <a:noFill/>
              </a:ln>
              <a:solidFill>
                <a:sysClr val="windowText" lastClr="000000"/>
              </a:solidFill>
              <a:effectLst/>
              <a:uLnTx/>
              <a:uFillTx/>
              <a:latin typeface="Calibri" panose="020F0502020204030204"/>
              <a:ea typeface="+mn-ea"/>
              <a:cs typeface="Calibri" panose="020F0502020204030204"/>
            </a:endParaRPr>
          </a:p>
        </p:txBody>
      </p:sp>
      <p:pic>
        <p:nvPicPr>
          <p:cNvPr id="31" name="图片 30" descr="Gemini_Generated_Image_qohd8qohd8qohd8q"/>
          <p:cNvPicPr>
            <a:picLocks noChangeAspect="1"/>
          </p:cNvPicPr>
          <p:nvPr/>
        </p:nvPicPr>
        <p:blipFill>
          <a:blip r:embed="rId13"/>
          <a:stretch>
            <a:fillRect/>
          </a:stretch>
        </p:blipFill>
        <p:spPr>
          <a:xfrm>
            <a:off x="574040" y="25763220"/>
            <a:ext cx="5088890" cy="2933700"/>
          </a:xfrm>
          <a:prstGeom prst="rect">
            <a:avLst/>
          </a:prstGeom>
        </p:spPr>
      </p:pic>
      <p:pic>
        <p:nvPicPr>
          <p:cNvPr id="6" name="图片 5" descr="91f6e8209c89225231203754d9b17427"/>
          <p:cNvPicPr>
            <a:picLocks noChangeAspect="1"/>
          </p:cNvPicPr>
          <p:nvPr/>
        </p:nvPicPr>
        <p:blipFill>
          <a:blip r:embed="rId14"/>
          <a:stretch>
            <a:fillRect/>
          </a:stretch>
        </p:blipFill>
        <p:spPr>
          <a:xfrm>
            <a:off x="15841345" y="7593330"/>
            <a:ext cx="5001260" cy="9900920"/>
          </a:xfrm>
          <a:prstGeom prst="rect">
            <a:avLst/>
          </a:prstGeom>
        </p:spPr>
      </p:pic>
      <p:sp>
        <p:nvSpPr>
          <p:cNvPr id="22" name="文本框 21"/>
          <p:cNvSpPr txBox="1"/>
          <p:nvPr/>
        </p:nvSpPr>
        <p:spPr>
          <a:xfrm>
            <a:off x="13752195" y="4410710"/>
            <a:ext cx="2134870" cy="772795"/>
          </a:xfrm>
          <a:prstGeom prst="rect">
            <a:avLst/>
          </a:prstGeom>
          <a:noFill/>
        </p:spPr>
        <p:txBody>
          <a:bodyPr wrap="square" rtlCol="0">
            <a:noAutofit/>
          </a:bodyPr>
          <a:p>
            <a:r>
              <a:rPr lang="en-US" altLang="zh-CN" sz="2000" b="1" i="1"/>
              <a:t>QR code for </a:t>
            </a:r>
            <a:endParaRPr lang="en-US" altLang="zh-CN" sz="2000" b="1" i="1"/>
          </a:p>
          <a:p>
            <a:r>
              <a:rPr lang="en-US" altLang="zh-CN" sz="2000" b="1" i="1"/>
              <a:t>V-Museum system:</a:t>
            </a:r>
            <a:endParaRPr lang="en-US" altLang="zh-CN" sz="2000" b="1" i="1"/>
          </a:p>
        </p:txBody>
      </p:sp>
      <p:sp>
        <p:nvSpPr>
          <p:cNvPr id="29" name="文本框 28"/>
          <p:cNvSpPr txBox="1"/>
          <p:nvPr/>
        </p:nvSpPr>
        <p:spPr>
          <a:xfrm>
            <a:off x="17508220" y="4422140"/>
            <a:ext cx="2347595" cy="772795"/>
          </a:xfrm>
          <a:prstGeom prst="rect">
            <a:avLst/>
          </a:prstGeom>
          <a:noFill/>
        </p:spPr>
        <p:txBody>
          <a:bodyPr wrap="square" rtlCol="0">
            <a:noAutofit/>
          </a:bodyPr>
          <a:p>
            <a:r>
              <a:rPr lang="en-US" altLang="zh-CN" sz="2000" b="1" i="1"/>
              <a:t>QR code for </a:t>
            </a:r>
            <a:endParaRPr lang="en-US" altLang="zh-CN" sz="2000" b="1" i="1"/>
          </a:p>
          <a:p>
            <a:r>
              <a:rPr lang="en-US" altLang="zh-CN" sz="2000" b="1" i="1"/>
              <a:t>V-Museum Portfolio:</a:t>
            </a:r>
            <a:endParaRPr lang="en-US" altLang="zh-CN" sz="2000" b="1" i="1"/>
          </a:p>
        </p:txBody>
      </p:sp>
    </p:spTree>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7613</Words>
  <Application>WPS 演示</Application>
  <PresentationFormat>自定义</PresentationFormat>
  <Paragraphs>106</Paragraphs>
  <Slides>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宋体</vt:lpstr>
      <vt:lpstr>Wingdings</vt:lpstr>
      <vt:lpstr>Calibri</vt:lpstr>
      <vt:lpstr>Arial</vt:lpstr>
      <vt:lpstr>微软雅黑</vt:lpstr>
      <vt:lpstr>Arial Unicode MS</vt:lpstr>
      <vt:lpstr>Calibri</vt:lpstr>
      <vt:lpstr>4_Office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ziheng li</dc:creator>
  <cp:lastModifiedBy>梅煜寒</cp:lastModifiedBy>
  <cp:revision>79</cp:revision>
  <dcterms:created xsi:type="dcterms:W3CDTF">2026-04-09T08:49:00Z</dcterms:created>
  <dcterms:modified xsi:type="dcterms:W3CDTF">2026-04-23T09:18:38Z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7D8274D601E74946AC5A1C67AEEB791C_13</vt:lpwstr>
  </property>
  <property fmtid="{D5CDD505-2E9C-101B-9397-08002B2CF9AE}" pid="3" name="KSOProductBuildVer">
    <vt:lpwstr>2052-12.1.0.21915</vt:lpwstr>
  </property>
</Properties>
</file>