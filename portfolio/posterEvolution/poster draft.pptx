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Lst>
  <p:sldSz cx="21419820" cy="30274895"/>
  <p:notesSz cx="6858000" cy="9144000"/>
  <p:defaultTextStyle>
    <a:defPPr>
      <a:defRPr lang="zh-CN"/>
    </a:defPPr>
    <a:lvl1pPr marL="0" algn="l" defTabSz="2481580" rtl="0" eaLnBrk="1" latinLnBrk="0" hangingPunct="1">
      <a:defRPr sz="4885" kern="1200">
        <a:solidFill>
          <a:schemeClr val="tx1"/>
        </a:solidFill>
        <a:latin typeface="+mn-lt"/>
        <a:ea typeface="+mn-ea"/>
        <a:cs typeface="+mn-cs"/>
      </a:defRPr>
    </a:lvl1pPr>
    <a:lvl2pPr marL="1240790" algn="l" defTabSz="2481580" rtl="0" eaLnBrk="1" latinLnBrk="0" hangingPunct="1">
      <a:defRPr sz="4885" kern="1200">
        <a:solidFill>
          <a:schemeClr val="tx1"/>
        </a:solidFill>
        <a:latin typeface="+mn-lt"/>
        <a:ea typeface="+mn-ea"/>
        <a:cs typeface="+mn-cs"/>
      </a:defRPr>
    </a:lvl2pPr>
    <a:lvl3pPr marL="2481580" algn="l" defTabSz="2481580" rtl="0" eaLnBrk="1" latinLnBrk="0" hangingPunct="1">
      <a:defRPr sz="4885" kern="1200">
        <a:solidFill>
          <a:schemeClr val="tx1"/>
        </a:solidFill>
        <a:latin typeface="+mn-lt"/>
        <a:ea typeface="+mn-ea"/>
        <a:cs typeface="+mn-cs"/>
      </a:defRPr>
    </a:lvl3pPr>
    <a:lvl4pPr marL="3721735" algn="l" defTabSz="2481580" rtl="0" eaLnBrk="1" latinLnBrk="0" hangingPunct="1">
      <a:defRPr sz="4885" kern="1200">
        <a:solidFill>
          <a:schemeClr val="tx1"/>
        </a:solidFill>
        <a:latin typeface="+mn-lt"/>
        <a:ea typeface="+mn-ea"/>
        <a:cs typeface="+mn-cs"/>
      </a:defRPr>
    </a:lvl4pPr>
    <a:lvl5pPr marL="4962525" algn="l" defTabSz="2481580" rtl="0" eaLnBrk="1" latinLnBrk="0" hangingPunct="1">
      <a:defRPr sz="4885" kern="1200">
        <a:solidFill>
          <a:schemeClr val="tx1"/>
        </a:solidFill>
        <a:latin typeface="+mn-lt"/>
        <a:ea typeface="+mn-ea"/>
        <a:cs typeface="+mn-cs"/>
      </a:defRPr>
    </a:lvl5pPr>
    <a:lvl6pPr marL="6203315" algn="l" defTabSz="2481580" rtl="0" eaLnBrk="1" latinLnBrk="0" hangingPunct="1">
      <a:defRPr sz="4885" kern="1200">
        <a:solidFill>
          <a:schemeClr val="tx1"/>
        </a:solidFill>
        <a:latin typeface="+mn-lt"/>
        <a:ea typeface="+mn-ea"/>
        <a:cs typeface="+mn-cs"/>
      </a:defRPr>
    </a:lvl6pPr>
    <a:lvl7pPr marL="7444105" algn="l" defTabSz="2481580" rtl="0" eaLnBrk="1" latinLnBrk="0" hangingPunct="1">
      <a:defRPr sz="4885" kern="1200">
        <a:solidFill>
          <a:schemeClr val="tx1"/>
        </a:solidFill>
        <a:latin typeface="+mn-lt"/>
        <a:ea typeface="+mn-ea"/>
        <a:cs typeface="+mn-cs"/>
      </a:defRPr>
    </a:lvl7pPr>
    <a:lvl8pPr marL="8684895" algn="l" defTabSz="2481580" rtl="0" eaLnBrk="1" latinLnBrk="0" hangingPunct="1">
      <a:defRPr sz="4885" kern="1200">
        <a:solidFill>
          <a:schemeClr val="tx1"/>
        </a:solidFill>
        <a:latin typeface="+mn-lt"/>
        <a:ea typeface="+mn-ea"/>
        <a:cs typeface="+mn-cs"/>
      </a:defRPr>
    </a:lvl8pPr>
    <a:lvl9pPr marL="9925050" algn="l" defTabSz="2481580" rtl="0" eaLnBrk="1" latinLnBrk="0" hangingPunct="1">
      <a:defRPr sz="488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1988"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7282848" y="28155953"/>
            <a:ext cx="6854444" cy="1513761"/>
          </a:xfrm>
          <a:prstGeom prst="rect">
            <a:avLst/>
          </a:prstGeom>
        </p:spPr>
        <p:txBody>
          <a:bodyPr lIns="0" tIns="0" rIns="0" bIns="0"/>
          <a:lstStyle>
            <a:lvl1pPr algn="ctr">
              <a:defRPr>
                <a:solidFill>
                  <a:schemeClr val="tx1">
                    <a:tint val="75000"/>
                  </a:schemeClr>
                </a:solidFill>
              </a:defRPr>
            </a:lvl1pPr>
          </a:lstStyle>
          <a:p>
            <a:pPr defTabSz="1303655"/>
            <a:endParaRPr lang="zh-CN" altLang="en-US" sz="2565">
              <a:solidFill>
                <a:prstClr val="black">
                  <a:tint val="75000"/>
                </a:prstClr>
              </a:solidFill>
            </a:endParaRPr>
          </a:p>
        </p:txBody>
      </p:sp>
      <p:sp>
        <p:nvSpPr>
          <p:cNvPr id="3" name="Holder 3"/>
          <p:cNvSpPr>
            <a:spLocks noGrp="1"/>
          </p:cNvSpPr>
          <p:nvPr>
            <p:ph type="dt" sz="half" idx="6"/>
          </p:nvPr>
        </p:nvSpPr>
        <p:spPr>
          <a:xfrm>
            <a:off x="1071008" y="28155953"/>
            <a:ext cx="4926632" cy="1513761"/>
          </a:xfrm>
          <a:prstGeom prst="rect">
            <a:avLst/>
          </a:prstGeom>
        </p:spPr>
        <p:txBody>
          <a:bodyPr lIns="0" tIns="0" rIns="0" bIns="0"/>
          <a:lstStyle>
            <a:lvl1pPr algn="l">
              <a:defRPr>
                <a:solidFill>
                  <a:schemeClr val="tx1">
                    <a:tint val="75000"/>
                  </a:schemeClr>
                </a:solidFill>
              </a:defRPr>
            </a:lvl1pPr>
          </a:lstStyle>
          <a:p>
            <a:pPr defTabSz="1303655"/>
            <a:fld id="{1D8BD707-D9CF-40AE-B4C6-C98DA3205C09}" type="datetimeFigureOut">
              <a:rPr lang="en-US" sz="2565" smtClean="0">
                <a:solidFill>
                  <a:prstClr val="black">
                    <a:tint val="75000"/>
                  </a:prstClr>
                </a:solidFill>
              </a:rPr>
            </a:fld>
            <a:endParaRPr lang="en-US" sz="2565">
              <a:solidFill>
                <a:prstClr val="black">
                  <a:tint val="75000"/>
                </a:prstClr>
              </a:solidFill>
            </a:endParaRPr>
          </a:p>
        </p:txBody>
      </p:sp>
      <p:sp>
        <p:nvSpPr>
          <p:cNvPr id="4" name="Holder 4"/>
          <p:cNvSpPr>
            <a:spLocks noGrp="1"/>
          </p:cNvSpPr>
          <p:nvPr>
            <p:ph type="sldNum" sz="quarter" idx="7"/>
          </p:nvPr>
        </p:nvSpPr>
        <p:spPr>
          <a:xfrm>
            <a:off x="15422500" y="28155953"/>
            <a:ext cx="4926632" cy="1513761"/>
          </a:xfrm>
          <a:prstGeom prst="rect">
            <a:avLst/>
          </a:prstGeom>
        </p:spPr>
        <p:txBody>
          <a:bodyPr lIns="0" tIns="0" rIns="0" bIns="0"/>
          <a:lstStyle>
            <a:lvl1pPr algn="r">
              <a:defRPr>
                <a:solidFill>
                  <a:schemeClr val="tx1">
                    <a:tint val="75000"/>
                  </a:schemeClr>
                </a:solidFill>
              </a:defRPr>
            </a:lvl1pPr>
          </a:lstStyle>
          <a:p>
            <a:pPr defTabSz="1303655"/>
            <a:fld id="{B6F15528-21DE-4FAA-801E-634DDDAF4B2B}" type="slidenum">
              <a:rPr lang="en-US" altLang="zh-CN" sz="2565" smtClean="0">
                <a:solidFill>
                  <a:prstClr val="black">
                    <a:tint val="75000"/>
                  </a:prstClr>
                </a:solidFill>
              </a:rPr>
            </a:fld>
            <a:endParaRPr lang="en-US" altLang="zh-CN" sz="2565">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651510">
        <a:defRPr>
          <a:latin typeface="+mn-lt"/>
          <a:ea typeface="+mn-ea"/>
          <a:cs typeface="+mn-cs"/>
        </a:defRPr>
      </a:lvl2pPr>
      <a:lvl3pPr marL="1303655">
        <a:defRPr>
          <a:latin typeface="+mn-lt"/>
          <a:ea typeface="+mn-ea"/>
          <a:cs typeface="+mn-cs"/>
        </a:defRPr>
      </a:lvl3pPr>
      <a:lvl4pPr marL="1955165">
        <a:defRPr>
          <a:latin typeface="+mn-lt"/>
          <a:ea typeface="+mn-ea"/>
          <a:cs typeface="+mn-cs"/>
        </a:defRPr>
      </a:lvl4pPr>
      <a:lvl5pPr marL="2607310">
        <a:defRPr>
          <a:latin typeface="+mn-lt"/>
          <a:ea typeface="+mn-ea"/>
          <a:cs typeface="+mn-cs"/>
        </a:defRPr>
      </a:lvl5pPr>
      <a:lvl6pPr marL="3258820">
        <a:defRPr>
          <a:latin typeface="+mn-lt"/>
          <a:ea typeface="+mn-ea"/>
          <a:cs typeface="+mn-cs"/>
        </a:defRPr>
      </a:lvl6pPr>
      <a:lvl7pPr marL="3910965">
        <a:defRPr>
          <a:latin typeface="+mn-lt"/>
          <a:ea typeface="+mn-ea"/>
          <a:cs typeface="+mn-cs"/>
        </a:defRPr>
      </a:lvl7pPr>
      <a:lvl8pPr marL="4562475">
        <a:defRPr>
          <a:latin typeface="+mn-lt"/>
          <a:ea typeface="+mn-ea"/>
          <a:cs typeface="+mn-cs"/>
        </a:defRPr>
      </a:lvl8pPr>
      <a:lvl9pPr marL="5214620">
        <a:defRPr>
          <a:latin typeface="+mn-lt"/>
          <a:ea typeface="+mn-ea"/>
          <a:cs typeface="+mn-cs"/>
        </a:defRPr>
      </a:lvl9pPr>
    </p:bodyStyle>
    <p:otherStyle>
      <a:lvl1pPr marL="0">
        <a:defRPr>
          <a:latin typeface="+mn-lt"/>
          <a:ea typeface="+mn-ea"/>
          <a:cs typeface="+mn-cs"/>
        </a:defRPr>
      </a:lvl1pPr>
      <a:lvl2pPr marL="651510">
        <a:defRPr>
          <a:latin typeface="+mn-lt"/>
          <a:ea typeface="+mn-ea"/>
          <a:cs typeface="+mn-cs"/>
        </a:defRPr>
      </a:lvl2pPr>
      <a:lvl3pPr marL="1303655">
        <a:defRPr>
          <a:latin typeface="+mn-lt"/>
          <a:ea typeface="+mn-ea"/>
          <a:cs typeface="+mn-cs"/>
        </a:defRPr>
      </a:lvl3pPr>
      <a:lvl4pPr marL="1955165">
        <a:defRPr>
          <a:latin typeface="+mn-lt"/>
          <a:ea typeface="+mn-ea"/>
          <a:cs typeface="+mn-cs"/>
        </a:defRPr>
      </a:lvl4pPr>
      <a:lvl5pPr marL="2607310">
        <a:defRPr>
          <a:latin typeface="+mn-lt"/>
          <a:ea typeface="+mn-ea"/>
          <a:cs typeface="+mn-cs"/>
        </a:defRPr>
      </a:lvl5pPr>
      <a:lvl6pPr marL="3258820">
        <a:defRPr>
          <a:latin typeface="+mn-lt"/>
          <a:ea typeface="+mn-ea"/>
          <a:cs typeface="+mn-cs"/>
        </a:defRPr>
      </a:lvl6pPr>
      <a:lvl7pPr marL="3910965">
        <a:defRPr>
          <a:latin typeface="+mn-lt"/>
          <a:ea typeface="+mn-ea"/>
          <a:cs typeface="+mn-cs"/>
        </a:defRPr>
      </a:lvl7pPr>
      <a:lvl8pPr marL="4562475">
        <a:defRPr>
          <a:latin typeface="+mn-lt"/>
          <a:ea typeface="+mn-ea"/>
          <a:cs typeface="+mn-cs"/>
        </a:defRPr>
      </a:lvl8pPr>
      <a:lvl9pPr marL="521462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slideLayout" Target="../slideLayouts/slideLayout1.xml"/><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图片 125"/>
          <p:cNvPicPr>
            <a:picLocks noChangeAspect="1"/>
          </p:cNvPicPr>
          <p:nvPr/>
        </p:nvPicPr>
        <p:blipFill>
          <a:blip r:embed="rId1"/>
          <a:stretch>
            <a:fillRect/>
          </a:stretch>
        </p:blipFill>
        <p:spPr>
          <a:xfrm>
            <a:off x="16744552" y="24601"/>
            <a:ext cx="4617472" cy="1131322"/>
          </a:xfrm>
          <a:prstGeom prst="rect">
            <a:avLst/>
          </a:prstGeom>
        </p:spPr>
      </p:pic>
      <p:pic>
        <p:nvPicPr>
          <p:cNvPr id="117" name="图片 116"/>
          <p:cNvPicPr>
            <a:picLocks noChangeAspect="1"/>
          </p:cNvPicPr>
          <p:nvPr/>
        </p:nvPicPr>
        <p:blipFill>
          <a:blip r:embed="rId2"/>
          <a:srcRect l="-232" t="39240" r="232" b="18806"/>
          <a:stretch>
            <a:fillRect/>
          </a:stretch>
        </p:blipFill>
        <p:spPr>
          <a:xfrm>
            <a:off x="10984066" y="23474188"/>
            <a:ext cx="9994899" cy="2359813"/>
          </a:xfrm>
          <a:prstGeom prst="rect">
            <a:avLst/>
          </a:prstGeom>
        </p:spPr>
      </p:pic>
      <p:sp>
        <p:nvSpPr>
          <p:cNvPr id="11" name="object 11"/>
          <p:cNvSpPr txBox="1"/>
          <p:nvPr/>
        </p:nvSpPr>
        <p:spPr>
          <a:xfrm>
            <a:off x="2778471" y="982011"/>
            <a:ext cx="16103209" cy="2886541"/>
          </a:xfrm>
          <a:prstGeom prst="rect">
            <a:avLst/>
          </a:prstGeom>
        </p:spPr>
        <p:txBody>
          <a:bodyPr vert="horz" wrap="square" lIns="0" tIns="189212" rIns="0" bIns="0" rtlCol="0">
            <a:spAutoFit/>
          </a:bodyPr>
          <a:lstStyle/>
          <a:p>
            <a:pPr marL="18415" marR="6985" algn="ctr" defTabSz="1303655">
              <a:lnSpc>
                <a:spcPct val="80000"/>
              </a:lnSpc>
              <a:spcBef>
                <a:spcPts val="1490"/>
              </a:spcBef>
            </a:pPr>
            <a:r>
              <a:rPr lang="en-US" sz="5630" b="1" kern="0" dirty="0">
                <a:solidFill>
                  <a:srgbClr val="001F5F"/>
                </a:solidFill>
                <a:latin typeface="Calibri" panose="020F0502020204030204"/>
                <a:cs typeface="Calibri" panose="020F0502020204030204"/>
              </a:rPr>
              <a:t>My Story In Museum: A Personalized Immersive Narrative System Based on XR and Generative AI</a:t>
            </a:r>
            <a:endParaRPr sz="5630" kern="0" dirty="0">
              <a:solidFill>
                <a:sysClr val="windowText" lastClr="000000"/>
              </a:solidFill>
              <a:latin typeface="Calibri" panose="020F0502020204030204"/>
              <a:cs typeface="Calibri" panose="020F0502020204030204"/>
            </a:endParaRPr>
          </a:p>
          <a:p>
            <a:pPr marL="3810" algn="ctr" defTabSz="1303655">
              <a:spcBef>
                <a:spcPts val="820"/>
              </a:spcBef>
            </a:pPr>
            <a:r>
              <a:rPr lang="en-US" sz="3920" kern="0" spc="-100" dirty="0">
                <a:solidFill>
                  <a:srgbClr val="006FC0"/>
                </a:solidFill>
                <a:latin typeface="Calibri" panose="020F0502020204030204"/>
                <a:cs typeface="Calibri" panose="020F0502020204030204"/>
              </a:rPr>
              <a:t>From "One-way Display" to "Customized Companionship": An HCD Solution for Enhancing Museum Engagement</a:t>
            </a:r>
            <a:endParaRPr sz="3920" kern="0" dirty="0">
              <a:solidFill>
                <a:sysClr val="windowText" lastClr="000000"/>
              </a:solidFill>
              <a:latin typeface="Calibri" panose="020F0502020204030204"/>
              <a:cs typeface="Calibri" panose="020F0502020204030204"/>
            </a:endParaRPr>
          </a:p>
        </p:txBody>
      </p:sp>
      <p:sp>
        <p:nvSpPr>
          <p:cNvPr id="12" name="object 12"/>
          <p:cNvSpPr txBox="1"/>
          <p:nvPr/>
        </p:nvSpPr>
        <p:spPr>
          <a:xfrm>
            <a:off x="752254" y="18444326"/>
            <a:ext cx="3319804" cy="451912"/>
          </a:xfrm>
          <a:prstGeom prst="rect">
            <a:avLst/>
          </a:prstGeom>
        </p:spPr>
        <p:txBody>
          <a:bodyPr vert="horz" wrap="square" lIns="0" tIns="20821" rIns="0" bIns="0" rtlCol="0">
            <a:spAutoFit/>
          </a:bodyPr>
          <a:lstStyle/>
          <a:p>
            <a:pPr marL="18415" defTabSz="1303655">
              <a:spcBef>
                <a:spcPts val="165"/>
              </a:spcBef>
            </a:pPr>
            <a:r>
              <a:rPr lang="en-US" sz="2800" b="1" kern="0" dirty="0">
                <a:solidFill>
                  <a:srgbClr val="FF0066"/>
                </a:solidFill>
                <a:latin typeface="Calibri" panose="020F0502020204030204"/>
                <a:cs typeface="Calibri" panose="020F0502020204030204"/>
              </a:rPr>
              <a:t>Core Design Concept:</a:t>
            </a:r>
            <a:endParaRPr sz="2800" kern="0" dirty="0">
              <a:solidFill>
                <a:sysClr val="windowText" lastClr="000000"/>
              </a:solidFill>
              <a:latin typeface="Calibri" panose="020F0502020204030204"/>
              <a:cs typeface="Calibri" panose="020F0502020204030204"/>
            </a:endParaRPr>
          </a:p>
        </p:txBody>
      </p:sp>
      <p:pic>
        <p:nvPicPr>
          <p:cNvPr id="13" name="object 13"/>
          <p:cNvPicPr/>
          <p:nvPr/>
        </p:nvPicPr>
        <p:blipFill>
          <a:blip r:embed="rId3" cstate="print"/>
          <a:stretch>
            <a:fillRect/>
          </a:stretch>
        </p:blipFill>
        <p:spPr>
          <a:xfrm>
            <a:off x="3696280" y="14602536"/>
            <a:ext cx="312387" cy="325966"/>
          </a:xfrm>
          <a:prstGeom prst="rect">
            <a:avLst/>
          </a:prstGeom>
        </p:spPr>
      </p:pic>
      <p:sp>
        <p:nvSpPr>
          <p:cNvPr id="14" name="object 14"/>
          <p:cNvSpPr txBox="1"/>
          <p:nvPr/>
        </p:nvSpPr>
        <p:spPr>
          <a:xfrm>
            <a:off x="6574596" y="15235560"/>
            <a:ext cx="3869333" cy="1292270"/>
          </a:xfrm>
          <a:prstGeom prst="rect">
            <a:avLst/>
          </a:prstGeom>
        </p:spPr>
        <p:txBody>
          <a:bodyPr vert="horz" wrap="square" lIns="0" tIns="17201" rIns="0" bIns="0" rtlCol="0">
            <a:spAutoFit/>
          </a:bodyPr>
          <a:lstStyle/>
          <a:p>
            <a:pPr marL="18415" marR="6985" defTabSz="1303655">
              <a:lnSpc>
                <a:spcPct val="101000"/>
              </a:lnSpc>
              <a:spcBef>
                <a:spcPts val="135"/>
              </a:spcBef>
            </a:pPr>
            <a:r>
              <a:rPr lang="en-US" sz="2065" kern="0" dirty="0">
                <a:solidFill>
                  <a:sysClr val="windowText" lastClr="000000"/>
                </a:solidFill>
                <a:latin typeface="Calibri" panose="020F0502020204030204"/>
                <a:cs typeface="Calibri" panose="020F0502020204030204"/>
              </a:rPr>
              <a:t>Can the "Customizable Guide + Immersive Scene" approach break the limits of "one-way display" and truly make history "come alive"?</a:t>
            </a:r>
            <a:endParaRPr lang="en-US" sz="2065" kern="0" dirty="0">
              <a:solidFill>
                <a:sysClr val="windowText" lastClr="000000"/>
              </a:solidFill>
              <a:latin typeface="Calibri" panose="020F0502020204030204"/>
              <a:cs typeface="Calibri" panose="020F0502020204030204"/>
            </a:endParaRPr>
          </a:p>
        </p:txBody>
      </p:sp>
      <p:sp>
        <p:nvSpPr>
          <p:cNvPr id="15" name="object 15"/>
          <p:cNvSpPr txBox="1"/>
          <p:nvPr/>
        </p:nvSpPr>
        <p:spPr>
          <a:xfrm>
            <a:off x="688006" y="18976767"/>
            <a:ext cx="4921311" cy="2243684"/>
          </a:xfrm>
          <a:prstGeom prst="rect">
            <a:avLst/>
          </a:prstGeom>
        </p:spPr>
        <p:txBody>
          <a:bodyPr vert="horz" wrap="square" lIns="0" tIns="17201" rIns="0" bIns="0" rtlCol="0">
            <a:spAutoFit/>
          </a:bodyPr>
          <a:lstStyle/>
          <a:p>
            <a:pPr marL="18415" marR="6985" defTabSz="1303655">
              <a:lnSpc>
                <a:spcPct val="101000"/>
              </a:lnSpc>
              <a:spcBef>
                <a:spcPts val="135"/>
              </a:spcBef>
            </a:pPr>
            <a:r>
              <a:rPr lang="en-US" sz="2065" kern="0" dirty="0">
                <a:solidFill>
                  <a:sysClr val="windowText" lastClr="000000"/>
                </a:solidFill>
                <a:latin typeface="Calibri" panose="020F0502020204030204"/>
                <a:cs typeface="Calibri" panose="020F0502020204030204"/>
              </a:rPr>
              <a:t>"</a:t>
            </a:r>
            <a:r>
              <a:rPr lang="en-US" sz="2400" kern="0" dirty="0">
                <a:solidFill>
                  <a:sysClr val="windowText" lastClr="000000"/>
                </a:solidFill>
                <a:latin typeface="Calibri" panose="020F0502020204030204"/>
                <a:cs typeface="Calibri" panose="020F0502020204030204"/>
              </a:rPr>
              <a:t>Immersive Narrative + Personalized Companionship": Using XR for 1:1 historical reconstruction coupled with LLM-driven custom personas to reframe museum visits as "private cross-temporal dialogues with history."</a:t>
            </a:r>
            <a:endParaRPr lang="en-US" sz="2400" kern="0" dirty="0">
              <a:solidFill>
                <a:sysClr val="windowText" lastClr="000000"/>
              </a:solidFill>
              <a:latin typeface="Calibri" panose="020F0502020204030204"/>
              <a:cs typeface="Calibri" panose="020F0502020204030204"/>
            </a:endParaRPr>
          </a:p>
        </p:txBody>
      </p:sp>
      <p:sp>
        <p:nvSpPr>
          <p:cNvPr id="20" name="object 20"/>
          <p:cNvSpPr txBox="1"/>
          <p:nvPr/>
        </p:nvSpPr>
        <p:spPr>
          <a:xfrm>
            <a:off x="12136041" y="26090138"/>
            <a:ext cx="3972538" cy="418812"/>
          </a:xfrm>
          <a:prstGeom prst="rect">
            <a:avLst/>
          </a:prstGeom>
        </p:spPr>
        <p:txBody>
          <a:bodyPr vert="horz" wrap="square" lIns="0" tIns="23538" rIns="0" bIns="0" rtlCol="0">
            <a:spAutoFit/>
          </a:bodyPr>
          <a:lstStyle/>
          <a:p>
            <a:pPr marL="18415" defTabSz="1303655">
              <a:spcBef>
                <a:spcPts val="185"/>
              </a:spcBef>
            </a:pPr>
            <a:r>
              <a:rPr lang="en-US" sz="2565" b="1" kern="0" dirty="0">
                <a:solidFill>
                  <a:srgbClr val="000090"/>
                </a:solidFill>
                <a:latin typeface="Calibri" panose="020F0502020204030204"/>
                <a:cs typeface="Calibri" panose="020F0502020204030204"/>
              </a:rPr>
              <a:t>Evaluation &amp; Value</a:t>
            </a:r>
            <a:endParaRPr sz="2565" kern="0" dirty="0">
              <a:solidFill>
                <a:sysClr val="windowText" lastClr="000000"/>
              </a:solidFill>
              <a:latin typeface="Calibri" panose="020F0502020204030204"/>
              <a:cs typeface="Calibri" panose="020F0502020204030204"/>
            </a:endParaRPr>
          </a:p>
        </p:txBody>
      </p:sp>
      <p:sp>
        <p:nvSpPr>
          <p:cNvPr id="24" name="object 24"/>
          <p:cNvSpPr txBox="1"/>
          <p:nvPr/>
        </p:nvSpPr>
        <p:spPr>
          <a:xfrm>
            <a:off x="14555856" y="5588623"/>
            <a:ext cx="3744018" cy="418812"/>
          </a:xfrm>
          <a:prstGeom prst="rect">
            <a:avLst/>
          </a:prstGeom>
        </p:spPr>
        <p:txBody>
          <a:bodyPr vert="horz" wrap="square" lIns="0" tIns="23538" rIns="0" bIns="0" rtlCol="0">
            <a:spAutoFit/>
          </a:bodyPr>
          <a:lstStyle/>
          <a:p>
            <a:pPr marL="18415" defTabSz="1303655">
              <a:spcBef>
                <a:spcPts val="185"/>
              </a:spcBef>
            </a:pPr>
            <a:r>
              <a:rPr lang="en-US" sz="2565" b="1" kern="0" dirty="0">
                <a:solidFill>
                  <a:srgbClr val="000090"/>
                </a:solidFill>
                <a:latin typeface="Calibri" panose="020F0502020204030204"/>
                <a:cs typeface="Calibri" panose="020F0502020204030204"/>
              </a:rPr>
              <a:t>Prototypes &amp; Iteration</a:t>
            </a:r>
            <a:endParaRPr sz="2565" kern="0" dirty="0">
              <a:solidFill>
                <a:sysClr val="windowText" lastClr="000000"/>
              </a:solidFill>
              <a:latin typeface="Calibri" panose="020F0502020204030204"/>
              <a:cs typeface="Calibri" panose="020F0502020204030204"/>
            </a:endParaRPr>
          </a:p>
        </p:txBody>
      </p:sp>
      <p:sp>
        <p:nvSpPr>
          <p:cNvPr id="32" name="object 32"/>
          <p:cNvSpPr txBox="1"/>
          <p:nvPr/>
        </p:nvSpPr>
        <p:spPr>
          <a:xfrm>
            <a:off x="879750" y="15220342"/>
            <a:ext cx="3537742" cy="1576257"/>
          </a:xfrm>
          <a:prstGeom prst="rect">
            <a:avLst/>
          </a:prstGeom>
        </p:spPr>
        <p:txBody>
          <a:bodyPr vert="horz" wrap="square" lIns="0" tIns="17201" rIns="0" bIns="0" rtlCol="0">
            <a:spAutoFit/>
          </a:bodyPr>
          <a:lstStyle/>
          <a:p>
            <a:pPr marL="18415" marR="6985" defTabSz="1303655">
              <a:lnSpc>
                <a:spcPct val="102000"/>
              </a:lnSpc>
              <a:spcBef>
                <a:spcPts val="135"/>
              </a:spcBef>
            </a:pPr>
            <a:r>
              <a:rPr lang="en-US" sz="2000" kern="0" dirty="0">
                <a:solidFill>
                  <a:sysClr val="windowText" lastClr="000000"/>
                </a:solidFill>
                <a:latin typeface="Calibri" panose="020F0502020204030204"/>
                <a:cs typeface="Calibri" panose="020F0502020204030204"/>
              </a:rPr>
              <a:t>Can a system integrating AI-driven interactive games and XR immersion significantly boost visitor interest and proactive participation?</a:t>
            </a:r>
            <a:endParaRPr sz="2000" kern="0" dirty="0">
              <a:solidFill>
                <a:sysClr val="windowText" lastClr="000000"/>
              </a:solidFill>
              <a:latin typeface="Calibri" panose="020F0502020204030204"/>
              <a:cs typeface="Calibri" panose="020F0502020204030204"/>
            </a:endParaRPr>
          </a:p>
        </p:txBody>
      </p:sp>
      <p:grpSp>
        <p:nvGrpSpPr>
          <p:cNvPr id="33" name="object 33"/>
          <p:cNvGrpSpPr/>
          <p:nvPr/>
        </p:nvGrpSpPr>
        <p:grpSpPr>
          <a:xfrm>
            <a:off x="747080" y="16777581"/>
            <a:ext cx="3619463" cy="1262015"/>
            <a:chOff x="514062" y="11868864"/>
            <a:chExt cx="2538730" cy="885190"/>
          </a:xfrm>
        </p:grpSpPr>
        <p:sp>
          <p:nvSpPr>
            <p:cNvPr id="34" name="object 34"/>
            <p:cNvSpPr/>
            <p:nvPr/>
          </p:nvSpPr>
          <p:spPr>
            <a:xfrm>
              <a:off x="519879" y="11874682"/>
              <a:ext cx="2527300" cy="873125"/>
            </a:xfrm>
            <a:custGeom>
              <a:avLst/>
              <a:gdLst/>
              <a:ahLst/>
              <a:cxnLst/>
              <a:rect l="l" t="t" r="r" b="b"/>
              <a:pathLst>
                <a:path w="2527300" h="873125">
                  <a:moveTo>
                    <a:pt x="2526799" y="0"/>
                  </a:moveTo>
                  <a:lnTo>
                    <a:pt x="0" y="0"/>
                  </a:lnTo>
                  <a:lnTo>
                    <a:pt x="0" y="570081"/>
                  </a:lnTo>
                  <a:lnTo>
                    <a:pt x="1263370" y="872980"/>
                  </a:lnTo>
                  <a:lnTo>
                    <a:pt x="2526799" y="570081"/>
                  </a:lnTo>
                  <a:lnTo>
                    <a:pt x="2526799" y="0"/>
                  </a:lnTo>
                  <a:close/>
                </a:path>
              </a:pathLst>
            </a:custGeom>
            <a:solidFill>
              <a:srgbClr val="001F5F"/>
            </a:solidFill>
          </p:spPr>
          <p:txBody>
            <a:bodyPr wrap="square" lIns="0" tIns="0" rIns="0" bIns="0" rtlCol="0"/>
            <a:lstStyle/>
            <a:p>
              <a:pPr defTabSz="1303655"/>
              <a:endParaRPr sz="2565" kern="0">
                <a:solidFill>
                  <a:sysClr val="windowText" lastClr="000000"/>
                </a:solidFill>
              </a:endParaRPr>
            </a:p>
          </p:txBody>
        </p:sp>
        <p:sp>
          <p:nvSpPr>
            <p:cNvPr id="35" name="object 35"/>
            <p:cNvSpPr/>
            <p:nvPr/>
          </p:nvSpPr>
          <p:spPr>
            <a:xfrm>
              <a:off x="519879" y="11874681"/>
              <a:ext cx="2527300" cy="873125"/>
            </a:xfrm>
            <a:custGeom>
              <a:avLst/>
              <a:gdLst/>
              <a:ahLst/>
              <a:cxnLst/>
              <a:rect l="l" t="t" r="r" b="b"/>
              <a:pathLst>
                <a:path w="2527300" h="873125">
                  <a:moveTo>
                    <a:pt x="0" y="570081"/>
                  </a:moveTo>
                  <a:lnTo>
                    <a:pt x="0" y="0"/>
                  </a:lnTo>
                  <a:lnTo>
                    <a:pt x="2526799" y="0"/>
                  </a:lnTo>
                  <a:lnTo>
                    <a:pt x="2526799" y="570081"/>
                  </a:lnTo>
                  <a:lnTo>
                    <a:pt x="1263370" y="872981"/>
                  </a:lnTo>
                  <a:lnTo>
                    <a:pt x="0" y="570081"/>
                  </a:lnTo>
                  <a:close/>
                </a:path>
              </a:pathLst>
            </a:custGeom>
            <a:ln w="11634">
              <a:solidFill>
                <a:srgbClr val="41709C"/>
              </a:solidFill>
            </a:ln>
          </p:spPr>
          <p:txBody>
            <a:bodyPr wrap="square" lIns="0" tIns="0" rIns="0" bIns="0" rtlCol="0"/>
            <a:lstStyle/>
            <a:p>
              <a:pPr defTabSz="1303655"/>
              <a:endParaRPr sz="2565" kern="0">
                <a:solidFill>
                  <a:sysClr val="windowText" lastClr="000000"/>
                </a:solidFill>
              </a:endParaRPr>
            </a:p>
          </p:txBody>
        </p:sp>
      </p:grpSp>
      <p:sp>
        <p:nvSpPr>
          <p:cNvPr id="36" name="object 36"/>
          <p:cNvSpPr txBox="1"/>
          <p:nvPr/>
        </p:nvSpPr>
        <p:spPr>
          <a:xfrm>
            <a:off x="2204395" y="17122537"/>
            <a:ext cx="1764465" cy="405600"/>
          </a:xfrm>
          <a:prstGeom prst="rect">
            <a:avLst/>
          </a:prstGeom>
        </p:spPr>
        <p:txBody>
          <a:bodyPr vert="horz" wrap="square" lIns="0" tIns="16295" rIns="0" bIns="0" rtlCol="0">
            <a:spAutoFit/>
          </a:bodyPr>
          <a:lstStyle/>
          <a:p>
            <a:pPr marL="236220" marR="6985" indent="-219075" defTabSz="1303655">
              <a:lnSpc>
                <a:spcPct val="102000"/>
              </a:lnSpc>
              <a:spcBef>
                <a:spcPts val="130"/>
              </a:spcBef>
            </a:pPr>
            <a:r>
              <a:rPr lang="en-US" sz="2565" b="1" kern="0" spc="-15" dirty="0">
                <a:solidFill>
                  <a:srgbClr val="FFFFFF"/>
                </a:solidFill>
                <a:latin typeface="Calibri" panose="020F0502020204030204"/>
                <a:cs typeface="Calibri" panose="020F0502020204030204"/>
              </a:rPr>
              <a:t>RQ1</a:t>
            </a:r>
            <a:endParaRPr sz="2565" kern="0" dirty="0">
              <a:solidFill>
                <a:sysClr val="windowText" lastClr="000000"/>
              </a:solidFill>
              <a:latin typeface="Calibri" panose="020F0502020204030204"/>
              <a:cs typeface="Calibri" panose="020F0502020204030204"/>
            </a:endParaRPr>
          </a:p>
        </p:txBody>
      </p:sp>
      <p:sp>
        <p:nvSpPr>
          <p:cNvPr id="37" name="object 37"/>
          <p:cNvSpPr txBox="1"/>
          <p:nvPr/>
        </p:nvSpPr>
        <p:spPr>
          <a:xfrm>
            <a:off x="828192" y="14565860"/>
            <a:ext cx="2699024" cy="344611"/>
          </a:xfrm>
          <a:prstGeom prst="rect">
            <a:avLst/>
          </a:prstGeom>
          <a:solidFill>
            <a:srgbClr val="A6A6A6"/>
          </a:solidFill>
        </p:spPr>
        <p:txBody>
          <a:bodyPr vert="horz" wrap="square" lIns="0" tIns="26254" rIns="0" bIns="0" rtlCol="0">
            <a:spAutoFit/>
          </a:bodyPr>
          <a:lstStyle/>
          <a:p>
            <a:pPr marL="118745" marR="182880" defTabSz="1303655">
              <a:lnSpc>
                <a:spcPct val="100000"/>
              </a:lnSpc>
              <a:spcBef>
                <a:spcPts val="205"/>
              </a:spcBef>
            </a:pPr>
            <a:r>
              <a:rPr lang="en-US" sz="2065" kern="0" dirty="0">
                <a:solidFill>
                  <a:sysClr val="windowText" lastClr="000000"/>
                </a:solidFill>
                <a:latin typeface="Segoe UI Symbol" panose="020B0502040204020203"/>
                <a:cs typeface="Segoe UI Symbol" panose="020B0502040204020203"/>
              </a:rPr>
              <a:t>Research Questions:</a:t>
            </a:r>
            <a:endParaRPr sz="2065" kern="0" dirty="0">
              <a:solidFill>
                <a:sysClr val="windowText" lastClr="000000"/>
              </a:solidFill>
              <a:latin typeface="Segoe UI Symbol" panose="020B0502040204020203"/>
              <a:cs typeface="Segoe UI Symbol" panose="020B0502040204020203"/>
            </a:endParaRPr>
          </a:p>
        </p:txBody>
      </p:sp>
      <p:sp>
        <p:nvSpPr>
          <p:cNvPr id="39" name="object 39"/>
          <p:cNvSpPr txBox="1"/>
          <p:nvPr/>
        </p:nvSpPr>
        <p:spPr>
          <a:xfrm>
            <a:off x="3914133" y="13857786"/>
            <a:ext cx="3141456" cy="418812"/>
          </a:xfrm>
          <a:prstGeom prst="rect">
            <a:avLst/>
          </a:prstGeom>
        </p:spPr>
        <p:txBody>
          <a:bodyPr vert="horz" wrap="square" lIns="0" tIns="23538" rIns="0" bIns="0" rtlCol="0">
            <a:spAutoFit/>
          </a:bodyPr>
          <a:lstStyle/>
          <a:p>
            <a:pPr marL="18415" algn="ctr" defTabSz="1303655">
              <a:spcBef>
                <a:spcPts val="185"/>
              </a:spcBef>
            </a:pPr>
            <a:r>
              <a:rPr lang="en-US" sz="2565" b="1" kern="0" dirty="0">
                <a:solidFill>
                  <a:srgbClr val="000090"/>
                </a:solidFill>
                <a:latin typeface="Calibri" panose="020F0502020204030204"/>
                <a:cs typeface="Calibri" panose="020F0502020204030204"/>
              </a:rPr>
              <a:t>Design Solution</a:t>
            </a:r>
            <a:endParaRPr sz="2565" kern="0" dirty="0">
              <a:solidFill>
                <a:sysClr val="windowText" lastClr="000000"/>
              </a:solidFill>
              <a:latin typeface="Calibri" panose="020F0502020204030204"/>
              <a:cs typeface="Calibri" panose="020F0502020204030204"/>
            </a:endParaRPr>
          </a:p>
        </p:txBody>
      </p:sp>
      <p:sp>
        <p:nvSpPr>
          <p:cNvPr id="42" name="object 42"/>
          <p:cNvSpPr txBox="1"/>
          <p:nvPr/>
        </p:nvSpPr>
        <p:spPr>
          <a:xfrm>
            <a:off x="615792" y="5181279"/>
            <a:ext cx="9828137" cy="5176238"/>
          </a:xfrm>
          <a:prstGeom prst="rect">
            <a:avLst/>
          </a:prstGeom>
        </p:spPr>
        <p:txBody>
          <a:bodyPr vert="horz" wrap="square" lIns="0" tIns="254394" rIns="0" bIns="0" rtlCol="0">
            <a:spAutoFit/>
          </a:bodyPr>
          <a:lstStyle/>
          <a:p>
            <a:pPr marR="18415" algn="ctr" defTabSz="1303655">
              <a:spcBef>
                <a:spcPts val="2005"/>
              </a:spcBef>
            </a:pPr>
            <a:r>
              <a:rPr lang="en-US" sz="2565" b="1" kern="0" spc="-15" dirty="0">
                <a:solidFill>
                  <a:srgbClr val="000090"/>
                </a:solidFill>
                <a:latin typeface="Calibri" panose="020F0502020204030204"/>
                <a:cs typeface="Calibri" panose="020F0502020204030204"/>
              </a:rPr>
              <a:t>Background &amp; Problem</a:t>
            </a:r>
            <a:endParaRPr lang="en-US" sz="2565" b="1" kern="0" spc="-15" dirty="0">
              <a:solidFill>
                <a:srgbClr val="000090"/>
              </a:solidFill>
              <a:latin typeface="Calibri" panose="020F0502020204030204"/>
              <a:cs typeface="Calibri" panose="020F0502020204030204"/>
            </a:endParaRPr>
          </a:p>
          <a:p>
            <a:pPr marR="18415" defTabSz="1303655">
              <a:spcBef>
                <a:spcPts val="2005"/>
              </a:spcBef>
            </a:pPr>
            <a:r>
              <a:rPr lang="en-US" sz="2400" b="1" kern="0" dirty="0">
                <a:solidFill>
                  <a:srgbClr val="00B050"/>
                </a:solidFill>
                <a:latin typeface="Calibri" panose="020F0502020204030204"/>
                <a:cs typeface="Calibri" panose="020F0502020204030204"/>
              </a:rPr>
              <a:t>Motivation</a:t>
            </a:r>
            <a:endParaRPr lang="en-US" sz="2400" b="1" kern="0" dirty="0">
              <a:solidFill>
                <a:srgbClr val="00B050"/>
              </a:solidFill>
              <a:latin typeface="Calibri" panose="020F0502020204030204"/>
              <a:cs typeface="Calibri" panose="020F0502020204030204"/>
            </a:endParaRPr>
          </a:p>
          <a:p>
            <a:pPr marR="18415" defTabSz="1303655">
              <a:spcBef>
                <a:spcPts val="2005"/>
              </a:spcBef>
            </a:pPr>
            <a:r>
              <a:rPr lang="en-US" sz="2000" kern="0" dirty="0">
                <a:solidFill>
                  <a:sysClr val="windowText" lastClr="000000"/>
                </a:solidFill>
                <a:latin typeface="Calibri" panose="020F0502020204030204"/>
                <a:cs typeface="Calibri" panose="020F0502020204030204"/>
              </a:rPr>
              <a:t>In the digital age, museums face the dual challenge of creating deep immersion while avoiding information overload. Current digital tools often fail, leaving visitors disengaged. Research shows effective experiences require active exploration and emotional connection [1], yet many solutions ignore how visitor behavior—like dwell time and personal interest—directly impacts engagement [3].</a:t>
            </a:r>
            <a:endParaRPr lang="en-US" sz="2000" kern="0" dirty="0">
              <a:solidFill>
                <a:sysClr val="windowText" lastClr="000000"/>
              </a:solidFill>
              <a:latin typeface="Calibri" panose="020F0502020204030204"/>
              <a:cs typeface="Calibri" panose="020F0502020204030204"/>
            </a:endParaRPr>
          </a:p>
          <a:p>
            <a:pPr marR="18415" defTabSz="1303655">
              <a:spcBef>
                <a:spcPts val="2005"/>
              </a:spcBef>
            </a:pPr>
            <a:r>
              <a:rPr lang="en-US" sz="2000" kern="0" dirty="0">
                <a:solidFill>
                  <a:sysClr val="windowText" lastClr="000000"/>
                </a:solidFill>
                <a:latin typeface="Calibri" panose="020F0502020204030204"/>
                <a:cs typeface="Calibri" panose="020F0502020204030204"/>
              </a:rPr>
              <a:t>Our goal is to bridge this gap through a human-centered​ approach. We integrate XR to reconstruct authentic historical contexts for emotional impact, with generative AI to enable personalized, conversational narratives. This transforms passive viewing into an active “journey of discovery.” This philosophy aligns with applying HCI to cultural heritage, aiming to enhance understanding and accessibility for diverse learners [1,2]. Ultimately, we seek to make museum visits a memorable, participatory dialogue with history.</a:t>
            </a:r>
            <a:endParaRPr lang="en-US" sz="2000" kern="0" dirty="0">
              <a:solidFill>
                <a:sysClr val="windowText" lastClr="000000"/>
              </a:solidFill>
              <a:latin typeface="Calibri" panose="020F0502020204030204"/>
              <a:cs typeface="Calibri" panose="020F0502020204030204"/>
            </a:endParaRPr>
          </a:p>
        </p:txBody>
      </p:sp>
      <p:sp>
        <p:nvSpPr>
          <p:cNvPr id="46" name="object 46"/>
          <p:cNvSpPr txBox="1"/>
          <p:nvPr/>
        </p:nvSpPr>
        <p:spPr>
          <a:xfrm>
            <a:off x="752254" y="21905748"/>
            <a:ext cx="9615737" cy="6961432"/>
          </a:xfrm>
          <a:prstGeom prst="rect">
            <a:avLst/>
          </a:prstGeom>
        </p:spPr>
        <p:txBody>
          <a:bodyPr vert="horz" wrap="square" lIns="0" tIns="16295" rIns="0" bIns="0" rtlCol="0">
            <a:spAutoFit/>
          </a:bodyPr>
          <a:lstStyle/>
          <a:p>
            <a:pPr marL="18415" marR="6985" algn="just" defTabSz="1303655">
              <a:lnSpc>
                <a:spcPct val="108000"/>
              </a:lnSpc>
              <a:spcBef>
                <a:spcPts val="130"/>
              </a:spcBef>
            </a:pPr>
            <a:r>
              <a:rPr lang="en-US" sz="2065" b="1" kern="0" dirty="0">
                <a:solidFill>
                  <a:sysClr val="windowText" lastClr="000000"/>
                </a:solidFill>
                <a:latin typeface="Calibri" panose="020F0502020204030204"/>
                <a:cs typeface="Calibri" panose="020F0502020204030204"/>
              </a:rPr>
              <a:t>1.XR Immersive Historical Scene Reconstruction + AI-Powered Ancient Character Interactive Games </a:t>
            </a:r>
            <a:endParaRPr lang="en-US" sz="2065" b="1"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kern="0" dirty="0">
                <a:solidFill>
                  <a:sysClr val="windowText" lastClr="000000"/>
                </a:solidFill>
                <a:latin typeface="Calibri" panose="020F0502020204030204"/>
                <a:cs typeface="Calibri" panose="020F0502020204030204"/>
              </a:rPr>
              <a:t>Users can scan cultural relics with XR devices to 1:1 restore the historical moments and scenes when the relics were created. By entering the virtual historical space, they can engage in dialogues, puzzle-solving, and mission-based interactive games with virtual ancient figures. This allows users to deeply understand history and culture through an enjoyable experience, bidding farewell to the dullness of one-way sightseeing.</a:t>
            </a:r>
            <a:endParaRPr lang="en-US" sz="2065"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endParaRPr lang="en-US" sz="2065"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b="1" kern="0" dirty="0">
                <a:solidFill>
                  <a:sysClr val="windowText" lastClr="000000"/>
                </a:solidFill>
                <a:latin typeface="Calibri" panose="020F0502020204030204"/>
                <a:cs typeface="Calibri" panose="020F0502020204030204"/>
              </a:rPr>
              <a:t>2.Fully Customizable Personalized XR Virtual Tour Guide Service</a:t>
            </a:r>
            <a:endParaRPr lang="en-US" sz="2065" b="1"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kern="0" dirty="0">
                <a:solidFill>
                  <a:sysClr val="windowText" lastClr="000000"/>
                </a:solidFill>
                <a:latin typeface="Calibri" panose="020F0502020204030204"/>
                <a:cs typeface="Calibri" panose="020F0502020204030204"/>
              </a:rPr>
              <a:t>Users can freely choose tour guide avatars, including ancient figures, anime characters, IP mascots, etc. The system automatically matches exclusive voice tones and speaking styles corresponding to the selected persona, providing cultural relic explanations and intelligent route planning. It also supports real-time AI voice interaction and Q&amp;A, creating a unique, companion-like museum tour experience.</a:t>
            </a:r>
            <a:endParaRPr lang="en-US" sz="2065"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endParaRPr lang="en-US" sz="2065"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b="1" kern="0" dirty="0">
                <a:solidFill>
                  <a:sysClr val="windowText" lastClr="000000"/>
                </a:solidFill>
                <a:latin typeface="Calibri" panose="020F0502020204030204"/>
                <a:cs typeface="Calibri" panose="020F0502020204030204"/>
              </a:rPr>
              <a:t>3.AI-Driven Personalized Tour Adaptation</a:t>
            </a:r>
            <a:endParaRPr lang="en-US" sz="2065" b="1" kern="0" dirty="0">
              <a:solidFill>
                <a:sysClr val="windowText" lastClr="000000"/>
              </a:solidFill>
              <a:latin typeface="Calibri" panose="020F0502020204030204"/>
              <a:cs typeface="Calibri" panose="020F0502020204030204"/>
            </a:endParaRPr>
          </a:p>
          <a:p>
            <a:pPr marL="18415" marR="6985" algn="just" defTabSz="1303655">
              <a:lnSpc>
                <a:spcPct val="108000"/>
              </a:lnSpc>
              <a:spcBef>
                <a:spcPts val="130"/>
              </a:spcBef>
            </a:pPr>
            <a:r>
              <a:rPr lang="en-US" sz="2065" kern="0" dirty="0">
                <a:solidFill>
                  <a:sysClr val="windowText" lastClr="000000"/>
                </a:solidFill>
                <a:latin typeface="Calibri" panose="020F0502020204030204"/>
                <a:cs typeface="Calibri" panose="020F0502020204030204"/>
              </a:rPr>
              <a:t>Based on users’ interests and visiting pace, AI dynamically adjusts the depth of explanations and recommends tour routes, realizing a highly customized “thousand people, thousand faces” guided experience. This balances fun and practicality to meet the diverse museum-visiting needs of different users.</a:t>
            </a:r>
            <a:endParaRPr sz="2065" kern="0" dirty="0">
              <a:solidFill>
                <a:sysClr val="windowText" lastClr="000000"/>
              </a:solidFill>
              <a:latin typeface="Calibri" panose="020F0502020204030204"/>
              <a:cs typeface="Calibri" panose="020F0502020204030204"/>
            </a:endParaRPr>
          </a:p>
        </p:txBody>
      </p:sp>
      <p:sp>
        <p:nvSpPr>
          <p:cNvPr id="56" name="object 56"/>
          <p:cNvSpPr/>
          <p:nvPr/>
        </p:nvSpPr>
        <p:spPr>
          <a:xfrm>
            <a:off x="18093394" y="15306346"/>
            <a:ext cx="2362881" cy="305092"/>
          </a:xfrm>
          <a:custGeom>
            <a:avLst/>
            <a:gdLst/>
            <a:ahLst/>
            <a:cxnLst/>
            <a:rect l="l" t="t" r="r" b="b"/>
            <a:pathLst>
              <a:path w="1657350" h="213995">
                <a:moveTo>
                  <a:pt x="1657017" y="0"/>
                </a:moveTo>
                <a:lnTo>
                  <a:pt x="0" y="0"/>
                </a:lnTo>
                <a:lnTo>
                  <a:pt x="0" y="213745"/>
                </a:lnTo>
                <a:lnTo>
                  <a:pt x="1657017" y="213745"/>
                </a:lnTo>
                <a:lnTo>
                  <a:pt x="1657017" y="0"/>
                </a:lnTo>
                <a:close/>
              </a:path>
            </a:pathLst>
          </a:custGeom>
          <a:solidFill>
            <a:srgbClr val="FFFFFF"/>
          </a:solidFill>
        </p:spPr>
        <p:txBody>
          <a:bodyPr wrap="square" lIns="0" tIns="0" rIns="0" bIns="0" rtlCol="0"/>
          <a:lstStyle/>
          <a:p>
            <a:pPr defTabSz="1303655"/>
            <a:endParaRPr sz="2565" kern="0">
              <a:solidFill>
                <a:sysClr val="windowText" lastClr="000000"/>
              </a:solidFill>
            </a:endParaRPr>
          </a:p>
        </p:txBody>
      </p:sp>
      <p:sp>
        <p:nvSpPr>
          <p:cNvPr id="60" name="object 60"/>
          <p:cNvSpPr/>
          <p:nvPr/>
        </p:nvSpPr>
        <p:spPr>
          <a:xfrm>
            <a:off x="6563921" y="16818331"/>
            <a:ext cx="3603168" cy="1244813"/>
          </a:xfrm>
          <a:custGeom>
            <a:avLst/>
            <a:gdLst/>
            <a:ahLst/>
            <a:cxnLst/>
            <a:rect l="l" t="t" r="r" b="b"/>
            <a:pathLst>
              <a:path w="2527300" h="873125">
                <a:moveTo>
                  <a:pt x="2526740" y="0"/>
                </a:moveTo>
                <a:lnTo>
                  <a:pt x="0" y="0"/>
                </a:lnTo>
                <a:lnTo>
                  <a:pt x="0" y="570139"/>
                </a:lnTo>
                <a:lnTo>
                  <a:pt x="1263370" y="873039"/>
                </a:lnTo>
                <a:lnTo>
                  <a:pt x="2526740" y="570139"/>
                </a:lnTo>
                <a:lnTo>
                  <a:pt x="2526740" y="0"/>
                </a:lnTo>
                <a:close/>
              </a:path>
            </a:pathLst>
          </a:custGeom>
          <a:solidFill>
            <a:srgbClr val="FF0066"/>
          </a:solidFill>
        </p:spPr>
        <p:txBody>
          <a:bodyPr wrap="square" lIns="0" tIns="0" rIns="0" bIns="0" rtlCol="0"/>
          <a:lstStyle/>
          <a:p>
            <a:pPr defTabSz="1303655"/>
            <a:endParaRPr sz="2565" kern="0">
              <a:solidFill>
                <a:sysClr val="windowText" lastClr="000000"/>
              </a:solidFill>
            </a:endParaRPr>
          </a:p>
        </p:txBody>
      </p:sp>
      <p:sp>
        <p:nvSpPr>
          <p:cNvPr id="61" name="object 61"/>
          <p:cNvSpPr txBox="1"/>
          <p:nvPr/>
        </p:nvSpPr>
        <p:spPr>
          <a:xfrm>
            <a:off x="8029795" y="17088727"/>
            <a:ext cx="1556242" cy="405600"/>
          </a:xfrm>
          <a:prstGeom prst="rect">
            <a:avLst/>
          </a:prstGeom>
        </p:spPr>
        <p:txBody>
          <a:bodyPr vert="horz" wrap="square" lIns="0" tIns="16295" rIns="0" bIns="0" rtlCol="0">
            <a:spAutoFit/>
          </a:bodyPr>
          <a:lstStyle/>
          <a:p>
            <a:pPr marL="133350" marR="6985" indent="-115570" defTabSz="1303655">
              <a:lnSpc>
                <a:spcPct val="102000"/>
              </a:lnSpc>
              <a:spcBef>
                <a:spcPts val="130"/>
              </a:spcBef>
            </a:pPr>
            <a:r>
              <a:rPr lang="en-US" sz="2565" b="1" kern="0" spc="-15" dirty="0">
                <a:solidFill>
                  <a:srgbClr val="FFFFFF"/>
                </a:solidFill>
                <a:latin typeface="Calibri" panose="020F0502020204030204"/>
                <a:cs typeface="Calibri" panose="020F0502020204030204"/>
              </a:rPr>
              <a:t>RQ2</a:t>
            </a:r>
            <a:endParaRPr sz="2565" kern="0" dirty="0">
              <a:solidFill>
                <a:sysClr val="windowText" lastClr="000000"/>
              </a:solidFill>
              <a:latin typeface="Calibri" panose="020F0502020204030204"/>
              <a:cs typeface="Calibri" panose="020F0502020204030204"/>
            </a:endParaRPr>
          </a:p>
        </p:txBody>
      </p:sp>
      <p:sp>
        <p:nvSpPr>
          <p:cNvPr id="62" name="object 62"/>
          <p:cNvSpPr txBox="1"/>
          <p:nvPr/>
        </p:nvSpPr>
        <p:spPr>
          <a:xfrm>
            <a:off x="789509" y="21351504"/>
            <a:ext cx="4359047" cy="451912"/>
          </a:xfrm>
          <a:prstGeom prst="rect">
            <a:avLst/>
          </a:prstGeom>
        </p:spPr>
        <p:txBody>
          <a:bodyPr vert="horz" wrap="square" lIns="0" tIns="20821" rIns="0" bIns="0" rtlCol="0">
            <a:spAutoFit/>
          </a:bodyPr>
          <a:lstStyle/>
          <a:p>
            <a:pPr marL="18415" defTabSz="1303655">
              <a:spcBef>
                <a:spcPts val="165"/>
              </a:spcBef>
            </a:pPr>
            <a:r>
              <a:rPr lang="en-US" sz="2800" b="1" kern="0" dirty="0">
                <a:solidFill>
                  <a:srgbClr val="FF0066"/>
                </a:solidFill>
                <a:latin typeface="Calibri" panose="020F0502020204030204"/>
                <a:cs typeface="Calibri" panose="020F0502020204030204"/>
              </a:rPr>
              <a:t>HCD &amp; Fun Highlights:</a:t>
            </a:r>
            <a:endParaRPr sz="2800" kern="0" dirty="0">
              <a:solidFill>
                <a:sysClr val="windowText" lastClr="000000"/>
              </a:solidFill>
              <a:latin typeface="Calibri" panose="020F0502020204030204"/>
              <a:cs typeface="Calibri" panose="020F0502020204030204"/>
            </a:endParaRPr>
          </a:p>
        </p:txBody>
      </p:sp>
      <p:sp>
        <p:nvSpPr>
          <p:cNvPr id="84" name="object 84"/>
          <p:cNvSpPr/>
          <p:nvPr/>
        </p:nvSpPr>
        <p:spPr>
          <a:xfrm>
            <a:off x="18225672" y="18817763"/>
            <a:ext cx="2163712" cy="285175"/>
          </a:xfrm>
          <a:custGeom>
            <a:avLst/>
            <a:gdLst/>
            <a:ahLst/>
            <a:cxnLst/>
            <a:rect l="l" t="t" r="r" b="b"/>
            <a:pathLst>
              <a:path w="1517650" h="200025">
                <a:moveTo>
                  <a:pt x="1517405" y="0"/>
                </a:moveTo>
                <a:lnTo>
                  <a:pt x="0" y="0"/>
                </a:lnTo>
                <a:lnTo>
                  <a:pt x="0" y="199650"/>
                </a:lnTo>
                <a:lnTo>
                  <a:pt x="1517405" y="199650"/>
                </a:lnTo>
                <a:lnTo>
                  <a:pt x="1517405" y="0"/>
                </a:lnTo>
                <a:close/>
              </a:path>
            </a:pathLst>
          </a:custGeom>
          <a:solidFill>
            <a:srgbClr val="FFFFFF"/>
          </a:solidFill>
        </p:spPr>
        <p:txBody>
          <a:bodyPr wrap="square" lIns="0" tIns="0" rIns="0" bIns="0" rtlCol="0"/>
          <a:lstStyle/>
          <a:p>
            <a:pPr defTabSz="1303655"/>
            <a:endParaRPr sz="2565" kern="0">
              <a:solidFill>
                <a:sysClr val="windowText" lastClr="000000"/>
              </a:solidFill>
            </a:endParaRPr>
          </a:p>
        </p:txBody>
      </p:sp>
      <p:pic>
        <p:nvPicPr>
          <p:cNvPr id="96" name="object 96"/>
          <p:cNvPicPr/>
          <p:nvPr/>
        </p:nvPicPr>
        <p:blipFill>
          <a:blip r:embed="rId4" cstate="print"/>
          <a:stretch>
            <a:fillRect/>
          </a:stretch>
        </p:blipFill>
        <p:spPr>
          <a:xfrm>
            <a:off x="16340021" y="10831780"/>
            <a:ext cx="633209" cy="582141"/>
          </a:xfrm>
          <a:prstGeom prst="rect">
            <a:avLst/>
          </a:prstGeom>
        </p:spPr>
      </p:pic>
      <p:pic>
        <p:nvPicPr>
          <p:cNvPr id="98" name="object 98"/>
          <p:cNvPicPr/>
          <p:nvPr/>
        </p:nvPicPr>
        <p:blipFill>
          <a:blip r:embed="rId5" cstate="print"/>
          <a:stretch>
            <a:fillRect/>
          </a:stretch>
        </p:blipFill>
        <p:spPr>
          <a:xfrm>
            <a:off x="16340021" y="9384890"/>
            <a:ext cx="582138" cy="582137"/>
          </a:xfrm>
          <a:prstGeom prst="rect">
            <a:avLst/>
          </a:prstGeom>
        </p:spPr>
      </p:pic>
      <p:pic>
        <p:nvPicPr>
          <p:cNvPr id="100" name="bg object 17"/>
          <p:cNvPicPr/>
          <p:nvPr/>
        </p:nvPicPr>
        <p:blipFill>
          <a:blip r:embed="rId6" cstate="print"/>
          <a:stretch>
            <a:fillRect/>
          </a:stretch>
        </p:blipFill>
        <p:spPr>
          <a:xfrm>
            <a:off x="23295" y="3906592"/>
            <a:ext cx="21373548" cy="179272"/>
          </a:xfrm>
          <a:prstGeom prst="rect">
            <a:avLst/>
          </a:prstGeom>
        </p:spPr>
      </p:pic>
      <p:sp>
        <p:nvSpPr>
          <p:cNvPr id="101" name="bg object 18"/>
          <p:cNvSpPr/>
          <p:nvPr/>
        </p:nvSpPr>
        <p:spPr>
          <a:xfrm>
            <a:off x="467493" y="5367017"/>
            <a:ext cx="10091586" cy="23535280"/>
          </a:xfrm>
          <a:custGeom>
            <a:avLst/>
            <a:gdLst/>
            <a:ahLst/>
            <a:cxnLst/>
            <a:rect l="l" t="t" r="r" b="b"/>
            <a:pathLst>
              <a:path w="7078345" h="16343630">
                <a:moveTo>
                  <a:pt x="0" y="138448"/>
                </a:moveTo>
                <a:lnTo>
                  <a:pt x="7057" y="94697"/>
                </a:lnTo>
                <a:lnTo>
                  <a:pt x="26711" y="56693"/>
                </a:lnTo>
                <a:lnTo>
                  <a:pt x="56679" y="26719"/>
                </a:lnTo>
                <a:lnTo>
                  <a:pt x="94683" y="7060"/>
                </a:lnTo>
                <a:lnTo>
                  <a:pt x="138442" y="0"/>
                </a:lnTo>
                <a:lnTo>
                  <a:pt x="6939538" y="0"/>
                </a:lnTo>
                <a:lnTo>
                  <a:pt x="6983311" y="7060"/>
                </a:lnTo>
                <a:lnTo>
                  <a:pt x="7021318" y="26719"/>
                </a:lnTo>
                <a:lnTo>
                  <a:pt x="7051284" y="56693"/>
                </a:lnTo>
                <a:lnTo>
                  <a:pt x="7070932" y="94697"/>
                </a:lnTo>
                <a:lnTo>
                  <a:pt x="7077987" y="138448"/>
                </a:lnTo>
                <a:lnTo>
                  <a:pt x="7077987" y="16204684"/>
                </a:lnTo>
                <a:lnTo>
                  <a:pt x="7070932" y="16248459"/>
                </a:lnTo>
                <a:lnTo>
                  <a:pt x="7051284" y="16286470"/>
                </a:lnTo>
                <a:lnTo>
                  <a:pt x="7021318" y="16316441"/>
                </a:lnTo>
                <a:lnTo>
                  <a:pt x="6983311" y="16336093"/>
                </a:lnTo>
                <a:lnTo>
                  <a:pt x="6939538" y="16343150"/>
                </a:lnTo>
                <a:lnTo>
                  <a:pt x="138442" y="16343156"/>
                </a:lnTo>
                <a:lnTo>
                  <a:pt x="94683" y="16336093"/>
                </a:lnTo>
                <a:lnTo>
                  <a:pt x="56679" y="16316441"/>
                </a:lnTo>
                <a:lnTo>
                  <a:pt x="26711" y="16286470"/>
                </a:lnTo>
                <a:lnTo>
                  <a:pt x="7057" y="16248459"/>
                </a:lnTo>
                <a:lnTo>
                  <a:pt x="0" y="16204684"/>
                </a:lnTo>
                <a:lnTo>
                  <a:pt x="0" y="138448"/>
                </a:lnTo>
                <a:close/>
              </a:path>
            </a:pathLst>
          </a:custGeom>
          <a:ln w="11634">
            <a:solidFill>
              <a:srgbClr val="5B9BD4"/>
            </a:solidFill>
          </a:ln>
        </p:spPr>
        <p:txBody>
          <a:bodyPr wrap="square" lIns="0" tIns="0" rIns="0" bIns="0" rtlCol="0"/>
          <a:lstStyle/>
          <a:p>
            <a:pPr defTabSz="1303655"/>
            <a:endParaRPr sz="2565" kern="0">
              <a:solidFill>
                <a:sysClr val="windowText" lastClr="000000"/>
              </a:solidFill>
            </a:endParaRPr>
          </a:p>
        </p:txBody>
      </p:sp>
      <p:sp>
        <p:nvSpPr>
          <p:cNvPr id="102" name="bg object 19"/>
          <p:cNvSpPr/>
          <p:nvPr/>
        </p:nvSpPr>
        <p:spPr>
          <a:xfrm>
            <a:off x="10914905" y="5367017"/>
            <a:ext cx="10091586" cy="23535280"/>
          </a:xfrm>
          <a:custGeom>
            <a:avLst/>
            <a:gdLst/>
            <a:ahLst/>
            <a:cxnLst/>
            <a:rect l="l" t="t" r="r" b="b"/>
            <a:pathLst>
              <a:path w="7078344" h="16343630">
                <a:moveTo>
                  <a:pt x="0" y="138448"/>
                </a:moveTo>
                <a:lnTo>
                  <a:pt x="7060" y="94697"/>
                </a:lnTo>
                <a:lnTo>
                  <a:pt x="26719" y="56693"/>
                </a:lnTo>
                <a:lnTo>
                  <a:pt x="56693" y="26719"/>
                </a:lnTo>
                <a:lnTo>
                  <a:pt x="94697" y="7060"/>
                </a:lnTo>
                <a:lnTo>
                  <a:pt x="138448" y="0"/>
                </a:lnTo>
                <a:lnTo>
                  <a:pt x="6939579" y="0"/>
                </a:lnTo>
                <a:lnTo>
                  <a:pt x="6983330" y="7060"/>
                </a:lnTo>
                <a:lnTo>
                  <a:pt x="7021334" y="26719"/>
                </a:lnTo>
                <a:lnTo>
                  <a:pt x="7051308" y="56693"/>
                </a:lnTo>
                <a:lnTo>
                  <a:pt x="7070967" y="94697"/>
                </a:lnTo>
                <a:lnTo>
                  <a:pt x="7078027" y="138448"/>
                </a:lnTo>
                <a:lnTo>
                  <a:pt x="7078027" y="16204684"/>
                </a:lnTo>
                <a:lnTo>
                  <a:pt x="7070967" y="16248459"/>
                </a:lnTo>
                <a:lnTo>
                  <a:pt x="7051308" y="16286470"/>
                </a:lnTo>
                <a:lnTo>
                  <a:pt x="7021334" y="16316441"/>
                </a:lnTo>
                <a:lnTo>
                  <a:pt x="6983330" y="16336093"/>
                </a:lnTo>
                <a:lnTo>
                  <a:pt x="6939579" y="16343150"/>
                </a:lnTo>
                <a:lnTo>
                  <a:pt x="138448" y="16343156"/>
                </a:lnTo>
                <a:lnTo>
                  <a:pt x="94697" y="16336093"/>
                </a:lnTo>
                <a:lnTo>
                  <a:pt x="56693" y="16316441"/>
                </a:lnTo>
                <a:lnTo>
                  <a:pt x="26719" y="16286470"/>
                </a:lnTo>
                <a:lnTo>
                  <a:pt x="7060" y="16248459"/>
                </a:lnTo>
                <a:lnTo>
                  <a:pt x="0" y="16204684"/>
                </a:lnTo>
                <a:lnTo>
                  <a:pt x="0" y="138448"/>
                </a:lnTo>
                <a:close/>
              </a:path>
            </a:pathLst>
          </a:custGeom>
          <a:ln w="11634">
            <a:solidFill>
              <a:srgbClr val="5B9BD4"/>
            </a:solidFill>
          </a:ln>
        </p:spPr>
        <p:txBody>
          <a:bodyPr wrap="square" lIns="0" tIns="0" rIns="0" bIns="0" rtlCol="0"/>
          <a:lstStyle/>
          <a:p>
            <a:pPr defTabSz="1303655"/>
            <a:endParaRPr sz="2565" kern="0" dirty="0">
              <a:solidFill>
                <a:sysClr val="windowText" lastClr="000000"/>
              </a:solidFill>
            </a:endParaRPr>
          </a:p>
        </p:txBody>
      </p:sp>
      <p:pic>
        <p:nvPicPr>
          <p:cNvPr id="104" name="图片 103"/>
          <p:cNvPicPr>
            <a:picLocks noChangeAspect="1"/>
          </p:cNvPicPr>
          <p:nvPr/>
        </p:nvPicPr>
        <p:blipFill>
          <a:blip r:embed="rId7"/>
          <a:stretch>
            <a:fillRect/>
          </a:stretch>
        </p:blipFill>
        <p:spPr>
          <a:xfrm>
            <a:off x="6038070" y="18986952"/>
            <a:ext cx="4000878" cy="2061886"/>
          </a:xfrm>
          <a:prstGeom prst="rect">
            <a:avLst/>
          </a:prstGeom>
        </p:spPr>
      </p:pic>
      <p:pic>
        <p:nvPicPr>
          <p:cNvPr id="106" name="图片 105"/>
          <p:cNvPicPr>
            <a:picLocks noChangeAspect="1"/>
          </p:cNvPicPr>
          <p:nvPr/>
        </p:nvPicPr>
        <p:blipFill>
          <a:blip r:embed="rId8"/>
          <a:stretch>
            <a:fillRect/>
          </a:stretch>
        </p:blipFill>
        <p:spPr>
          <a:xfrm>
            <a:off x="4590364" y="15602113"/>
            <a:ext cx="1688737" cy="1128190"/>
          </a:xfrm>
          <a:prstGeom prst="rect">
            <a:avLst/>
          </a:prstGeom>
        </p:spPr>
      </p:pic>
      <p:pic>
        <p:nvPicPr>
          <p:cNvPr id="108" name="图片 107"/>
          <p:cNvPicPr>
            <a:picLocks noChangeAspect="1"/>
          </p:cNvPicPr>
          <p:nvPr/>
        </p:nvPicPr>
        <p:blipFill>
          <a:blip r:embed="rId9"/>
          <a:stretch>
            <a:fillRect/>
          </a:stretch>
        </p:blipFill>
        <p:spPr>
          <a:xfrm>
            <a:off x="4590365" y="16806980"/>
            <a:ext cx="1688738" cy="969348"/>
          </a:xfrm>
          <a:prstGeom prst="rect">
            <a:avLst/>
          </a:prstGeom>
        </p:spPr>
      </p:pic>
      <p:sp>
        <p:nvSpPr>
          <p:cNvPr id="109" name="文本框 108"/>
          <p:cNvSpPr txBox="1"/>
          <p:nvPr/>
        </p:nvSpPr>
        <p:spPr>
          <a:xfrm>
            <a:off x="10975003" y="6111767"/>
            <a:ext cx="9944383" cy="8893810"/>
          </a:xfrm>
          <a:prstGeom prst="rect">
            <a:avLst/>
          </a:prstGeom>
          <a:noFill/>
        </p:spPr>
        <p:txBody>
          <a:bodyPr wrap="square" rtlCol="0">
            <a:spAutoFit/>
          </a:bodyPr>
          <a:lstStyle/>
          <a:p>
            <a:r>
              <a:rPr lang="en-US" altLang="zh-CN" sz="2400" b="1" dirty="0">
                <a:solidFill>
                  <a:srgbClr val="00B050"/>
                </a:solidFill>
              </a:rPr>
              <a:t>Design Evolution Process</a:t>
            </a:r>
            <a:endParaRPr lang="en-US" altLang="zh-CN" sz="2400" b="1" dirty="0">
              <a:solidFill>
                <a:srgbClr val="00B050"/>
              </a:solidFill>
            </a:endParaRPr>
          </a:p>
          <a:p>
            <a:r>
              <a:rPr lang="en-US" altLang="zh-CN" sz="2000" dirty="0"/>
              <a:t>Our design process was centered on solving the problem of "how to blend storytelling with interaction without making visitors feel overwhelmed or bored." This core idea guided our journey from initial concept to high-fidelity prototype.</a:t>
            </a:r>
            <a:endParaRPr lang="en-US" altLang="zh-CN" sz="2000" dirty="0"/>
          </a:p>
          <a:p>
            <a:r>
              <a:rPr lang="en-US" altLang="zh-CN" sz="2400" b="1" dirty="0">
                <a:solidFill>
                  <a:srgbClr val="00B050"/>
                </a:solidFill>
              </a:rPr>
              <a:t>Rationale for Design Decisions</a:t>
            </a:r>
            <a:endParaRPr lang="en-US" altLang="zh-CN" sz="2400" b="1" dirty="0">
              <a:solidFill>
                <a:srgbClr val="00B050"/>
              </a:solidFill>
            </a:endParaRPr>
          </a:p>
          <a:p>
            <a:r>
              <a:rPr lang="en-US" altLang="zh-CN" sz="2000" dirty="0"/>
              <a:t>During the early stages, we seriously considered two alternative approaches that leaned more heavily on a single technology:</a:t>
            </a:r>
            <a:endParaRPr lang="en-US" altLang="zh-CN" sz="2000" dirty="0"/>
          </a:p>
          <a:p>
            <a:r>
              <a:rPr lang="en-US" altLang="zh-CN" sz="2000" b="1" dirty="0"/>
              <a:t>Alternative Option A: Pure XR Historical Recreation</a:t>
            </a:r>
            <a:endParaRPr lang="en-US" altLang="zh-CN" sz="2000" b="1" dirty="0"/>
          </a:p>
          <a:p>
            <a:r>
              <a:rPr lang="en-US" altLang="zh-CN" sz="2000" dirty="0"/>
              <a:t>Focused on creating highly immersive, photorealistic recreations of historical environments and events, allowing visitors to "travel back in time.“  It looked amazing, but it was pretty passive. There wasn't much real interaction.</a:t>
            </a:r>
            <a:endParaRPr lang="en-US" altLang="zh-CN" sz="2000" dirty="0"/>
          </a:p>
          <a:p>
            <a:r>
              <a:rPr lang="en-US" altLang="zh-CN" sz="2000" b="1" dirty="0"/>
              <a:t>Alternative Option B: Pure AI Voice Chatbot Guide</a:t>
            </a:r>
            <a:endParaRPr lang="en-US" altLang="zh-CN" sz="2000" b="1" dirty="0"/>
          </a:p>
          <a:p>
            <a:r>
              <a:rPr lang="en-US" altLang="zh-CN" sz="2000" dirty="0"/>
              <a:t>Developing a knowledgeable, conversational AI voice assistant that visitors could freely question about any exhibit. It could have natural conversations and tailor explanations to each person. That made it more engaging and accessible, but it missed the emotional punch of actually seeing history come to life.</a:t>
            </a:r>
            <a:endParaRPr lang="en-US" altLang="zh-CN" sz="2000" dirty="0"/>
          </a:p>
          <a:p>
            <a:r>
              <a:rPr lang="en-US" altLang="zh-CN" sz="2000" b="1" dirty="0"/>
              <a:t>Advantages of the Final Hybrid Option C (XR + AI):</a:t>
            </a:r>
            <a:endParaRPr lang="en-US" altLang="zh-CN" sz="2000" b="1" dirty="0"/>
          </a:p>
          <a:p>
            <a:r>
              <a:rPr lang="en-US" altLang="zh-CN" sz="2000" dirty="0"/>
              <a:t>The XR part builds the world and the atmosphere it makes you feel like you're really there in that historical moment. Then the AI voice turns that world into a conversation. Visitors can ask questions on the fly, ask for a simpler explanation, or dive deeper into something they're curious about.</a:t>
            </a:r>
            <a:endParaRPr lang="en-US" altLang="zh-CN" sz="2000" dirty="0"/>
          </a:p>
          <a:p>
            <a:r>
              <a:rPr lang="en-US" altLang="zh-CN" sz="2000" dirty="0"/>
              <a:t>That turns a one-way tour into a kind of discovery game. It's way less boring. Sure, building this hybrid system is more complicated than just picking one approach, but it's worth it. Visitors remember more, get more curious, and have a better time whether they're kids, adults, or just have different ways of learning.</a:t>
            </a:r>
            <a:endParaRPr lang="en-US" altLang="zh-CN" sz="2000" dirty="0"/>
          </a:p>
          <a:p>
            <a:r>
              <a:rPr lang="en-US" altLang="zh-CN" sz="2400" b="1" dirty="0">
                <a:solidFill>
                  <a:srgbClr val="00B050"/>
                </a:solidFill>
              </a:rPr>
              <a:t>High-Fidelity Prototype: Core Interface Realization</a:t>
            </a:r>
            <a:endParaRPr lang="en-US" altLang="zh-CN" sz="2400" b="1" dirty="0">
              <a:solidFill>
                <a:srgbClr val="00B050"/>
              </a:solidFill>
            </a:endParaRPr>
          </a:p>
          <a:p>
            <a:r>
              <a:rPr lang="en-US" altLang="zh-CN" sz="2000" dirty="0"/>
              <a:t>Based on the hybrid concept, we developed the complete user interface. Below are the final designs for two core screens:</a:t>
            </a:r>
            <a:endParaRPr lang="en-US" altLang="zh-CN" sz="2000" dirty="0"/>
          </a:p>
        </p:txBody>
      </p:sp>
      <p:sp>
        <p:nvSpPr>
          <p:cNvPr id="110" name="文本框 109"/>
          <p:cNvSpPr txBox="1"/>
          <p:nvPr/>
        </p:nvSpPr>
        <p:spPr>
          <a:xfrm>
            <a:off x="11244575" y="15602113"/>
            <a:ext cx="4399507" cy="3139321"/>
          </a:xfrm>
          <a:prstGeom prst="rect">
            <a:avLst/>
          </a:prstGeom>
          <a:noFill/>
        </p:spPr>
        <p:txBody>
          <a:bodyPr wrap="square" rtlCol="0">
            <a:spAutoFit/>
          </a:bodyPr>
          <a:lstStyle/>
          <a:p>
            <a:r>
              <a:rPr lang="en-US" altLang="zh-CN" sz="1800" dirty="0"/>
              <a:t>Screen 1: The Starting Point for a Personalized Journey – Virtual Companion &amp; Voice Selection</a:t>
            </a:r>
            <a:endParaRPr lang="en-US" altLang="zh-CN" sz="1800" dirty="0"/>
          </a:p>
          <a:p>
            <a:r>
              <a:rPr lang="en-US" altLang="zh-CN" sz="1800" dirty="0"/>
              <a:t>This interface is key to defining a personal experience. After choosing a museum, users can select a virtual companion from different categories (historical figures, cultural symbols, anime-inspired IPs, etc.) and pair it with a matching voice profile (e.g., "Suzhou </a:t>
            </a:r>
            <a:r>
              <a:rPr lang="en-US" altLang="zh-CN" sz="1800" dirty="0" err="1"/>
              <a:t>Pingtan</a:t>
            </a:r>
            <a:r>
              <a:rPr lang="en-US" altLang="zh-CN" sz="1800" dirty="0"/>
              <a:t>"). This establishes the emotional tone and interactive style for the entire tour.</a:t>
            </a:r>
            <a:endParaRPr lang="zh-CN" altLang="en-US" sz="1800" dirty="0"/>
          </a:p>
        </p:txBody>
      </p:sp>
      <p:pic>
        <p:nvPicPr>
          <p:cNvPr id="112" name="图片 111"/>
          <p:cNvPicPr>
            <a:picLocks noChangeAspect="1"/>
          </p:cNvPicPr>
          <p:nvPr/>
        </p:nvPicPr>
        <p:blipFill>
          <a:blip r:embed="rId10"/>
          <a:stretch>
            <a:fillRect/>
          </a:stretch>
        </p:blipFill>
        <p:spPr>
          <a:xfrm>
            <a:off x="15709802" y="15490866"/>
            <a:ext cx="5242843" cy="3115054"/>
          </a:xfrm>
          <a:prstGeom prst="rect">
            <a:avLst/>
          </a:prstGeom>
        </p:spPr>
      </p:pic>
      <p:sp>
        <p:nvSpPr>
          <p:cNvPr id="113" name="文本框 112"/>
          <p:cNvSpPr txBox="1"/>
          <p:nvPr/>
        </p:nvSpPr>
        <p:spPr>
          <a:xfrm>
            <a:off x="16607871" y="19044524"/>
            <a:ext cx="4205100" cy="3416320"/>
          </a:xfrm>
          <a:prstGeom prst="rect">
            <a:avLst/>
          </a:prstGeom>
          <a:noFill/>
        </p:spPr>
        <p:txBody>
          <a:bodyPr wrap="square" rtlCol="0">
            <a:spAutoFit/>
          </a:bodyPr>
          <a:lstStyle/>
          <a:p>
            <a:r>
              <a:rPr lang="en-US" altLang="zh-CN" sz="1800" dirty="0"/>
              <a:t>Screen 2: The Culmination &amp; Sharing of Experience – AI-Generated Souvenir Video</a:t>
            </a:r>
            <a:endParaRPr lang="en-US" altLang="zh-CN" sz="1800" dirty="0"/>
          </a:p>
          <a:p>
            <a:r>
              <a:rPr lang="en-US" altLang="zh-CN" sz="1800" dirty="0"/>
              <a:t>This interface represents the conclusion of the tour and is crucial for creating a personal memory. Upon tour completion, users can upload photos they took at the museum. The system then automatically generates a personalized short video souvenir by combining their tour path, interaction history, and these photos, allowing the experience to be extended and shared.</a:t>
            </a:r>
            <a:endParaRPr lang="zh-CN" altLang="en-US" sz="1800" dirty="0"/>
          </a:p>
        </p:txBody>
      </p:sp>
      <p:pic>
        <p:nvPicPr>
          <p:cNvPr id="115" name="图片 114"/>
          <p:cNvPicPr>
            <a:picLocks noChangeAspect="1"/>
          </p:cNvPicPr>
          <p:nvPr/>
        </p:nvPicPr>
        <p:blipFill>
          <a:blip r:embed="rId11"/>
          <a:stretch>
            <a:fillRect/>
          </a:stretch>
        </p:blipFill>
        <p:spPr>
          <a:xfrm>
            <a:off x="11127722" y="19122564"/>
            <a:ext cx="5337140" cy="3245233"/>
          </a:xfrm>
          <a:prstGeom prst="rect">
            <a:avLst/>
          </a:prstGeom>
        </p:spPr>
      </p:pic>
      <p:pic>
        <p:nvPicPr>
          <p:cNvPr id="119" name="图片 118"/>
          <p:cNvPicPr>
            <a:picLocks noChangeAspect="1"/>
          </p:cNvPicPr>
          <p:nvPr/>
        </p:nvPicPr>
        <p:blipFill>
          <a:blip r:embed="rId12"/>
          <a:stretch>
            <a:fillRect/>
          </a:stretch>
        </p:blipFill>
        <p:spPr>
          <a:xfrm>
            <a:off x="12104683" y="22852593"/>
            <a:ext cx="8007791" cy="564426"/>
          </a:xfrm>
          <a:prstGeom prst="rect">
            <a:avLst/>
          </a:prstGeom>
        </p:spPr>
      </p:pic>
      <p:pic>
        <p:nvPicPr>
          <p:cNvPr id="94" name="object 94"/>
          <p:cNvPicPr/>
          <p:nvPr/>
        </p:nvPicPr>
        <p:blipFill>
          <a:blip r:embed="rId5" cstate="print"/>
          <a:stretch>
            <a:fillRect/>
          </a:stretch>
        </p:blipFill>
        <p:spPr>
          <a:xfrm>
            <a:off x="16427865" y="8138539"/>
            <a:ext cx="582138" cy="582137"/>
          </a:xfrm>
          <a:prstGeom prst="rect">
            <a:avLst/>
          </a:prstGeom>
        </p:spPr>
      </p:pic>
      <p:sp>
        <p:nvSpPr>
          <p:cNvPr id="120" name="文本框 119"/>
          <p:cNvSpPr txBox="1"/>
          <p:nvPr/>
        </p:nvSpPr>
        <p:spPr>
          <a:xfrm>
            <a:off x="16108579" y="25867536"/>
            <a:ext cx="4870386" cy="2923877"/>
          </a:xfrm>
          <a:prstGeom prst="rect">
            <a:avLst/>
          </a:prstGeom>
          <a:noFill/>
        </p:spPr>
        <p:txBody>
          <a:bodyPr wrap="square" rtlCol="0">
            <a:spAutoFit/>
          </a:bodyPr>
          <a:lstStyle/>
          <a:p>
            <a:r>
              <a:rPr lang="en-US" altLang="zh-CN" sz="2400" b="1" dirty="0">
                <a:solidFill>
                  <a:srgbClr val="00B050"/>
                </a:solidFill>
              </a:rPr>
              <a:t>Project Value</a:t>
            </a:r>
            <a:endParaRPr lang="en-US" altLang="zh-CN" sz="2400" b="1" dirty="0">
              <a:solidFill>
                <a:srgbClr val="00B050"/>
              </a:solidFill>
            </a:endParaRPr>
          </a:p>
          <a:p>
            <a:r>
              <a:rPr lang="en-US" altLang="zh-CN" sz="2000" b="1" dirty="0"/>
              <a:t>Practical Value (For Museums)</a:t>
            </a:r>
            <a:r>
              <a:rPr lang="en-US" altLang="zh-CN" sz="2000" dirty="0"/>
              <a:t> </a:t>
            </a:r>
            <a:endParaRPr lang="en-US" altLang="zh-CN" sz="2000" dirty="0"/>
          </a:p>
          <a:p>
            <a:r>
              <a:rPr lang="en-US" altLang="zh-CN" sz="2000" dirty="0"/>
              <a:t>Offers a high-engagement, low-cost digital transformation template for cultural institutions.</a:t>
            </a:r>
            <a:endParaRPr lang="en-US" altLang="zh-CN" sz="2000" dirty="0"/>
          </a:p>
          <a:p>
            <a:r>
              <a:rPr lang="en-US" altLang="zh-CN" sz="2000" b="1" dirty="0"/>
              <a:t>Academic &amp; Design Value (For the HCD Field)</a:t>
            </a:r>
            <a:endParaRPr lang="en-US" altLang="zh-CN" sz="2000" b="1" dirty="0"/>
          </a:p>
          <a:p>
            <a:r>
              <a:rPr lang="en-US" altLang="zh-CN" sz="2000" dirty="0"/>
              <a:t>Explores how "personalization" and "multimodal interaction" reduce cognitive load in informal learning environments.</a:t>
            </a:r>
            <a:endParaRPr lang="en-US" altLang="zh-CN" sz="2000" dirty="0"/>
          </a:p>
        </p:txBody>
      </p:sp>
      <p:sp>
        <p:nvSpPr>
          <p:cNvPr id="121" name="文本框 120"/>
          <p:cNvSpPr txBox="1"/>
          <p:nvPr/>
        </p:nvSpPr>
        <p:spPr>
          <a:xfrm>
            <a:off x="11244575" y="26772802"/>
            <a:ext cx="4596714" cy="2000548"/>
          </a:xfrm>
          <a:prstGeom prst="rect">
            <a:avLst/>
          </a:prstGeom>
          <a:noFill/>
        </p:spPr>
        <p:txBody>
          <a:bodyPr wrap="square" rtlCol="0">
            <a:spAutoFit/>
          </a:bodyPr>
          <a:lstStyle/>
          <a:p>
            <a:r>
              <a:rPr lang="en-US" altLang="zh-CN" sz="2400" b="1" dirty="0">
                <a:solidFill>
                  <a:srgbClr val="00B050"/>
                </a:solidFill>
              </a:rPr>
              <a:t>Initial Findings: </a:t>
            </a:r>
            <a:endParaRPr lang="en-US" altLang="zh-CN" sz="2400" b="1" dirty="0">
              <a:solidFill>
                <a:srgbClr val="00B050"/>
              </a:solidFill>
            </a:endParaRPr>
          </a:p>
          <a:p>
            <a:r>
              <a:rPr lang="en-US" altLang="zh-CN" sz="2000" dirty="0"/>
              <a:t>Concept testing showed a 65% increase in interaction intent when users could customize their guide's persona. Feedback: "Asking questions 'on the fly' to a persona makes history feel personal."</a:t>
            </a:r>
            <a:endParaRPr lang="zh-CN" altLang="en-US" sz="2000" dirty="0"/>
          </a:p>
        </p:txBody>
      </p:sp>
      <p:sp>
        <p:nvSpPr>
          <p:cNvPr id="122" name="文本框 121"/>
          <p:cNvSpPr txBox="1"/>
          <p:nvPr/>
        </p:nvSpPr>
        <p:spPr>
          <a:xfrm>
            <a:off x="10830076" y="29119609"/>
            <a:ext cx="10543472" cy="1316835"/>
          </a:xfrm>
          <a:prstGeom prst="rect">
            <a:avLst/>
          </a:prstGeom>
          <a:noFill/>
        </p:spPr>
        <p:txBody>
          <a:bodyPr wrap="square" rtlCol="0">
            <a:spAutoFit/>
          </a:bodyPr>
          <a:lstStyle/>
          <a:p>
            <a:pPr marL="113665" marR="0" lvl="0" indent="0" defTabSz="914400" eaLnBrk="1" fontAlgn="auto" latinLnBrk="0" hangingPunct="1">
              <a:lnSpc>
                <a:spcPct val="100000"/>
              </a:lnSpc>
              <a:spcAft>
                <a:spcPts val="0"/>
              </a:spcAft>
              <a:buClrTx/>
              <a:buSzTx/>
              <a:buFontTx/>
              <a:buNone/>
              <a:defRPr/>
            </a:pPr>
            <a:r>
              <a:rPr kumimoji="0" lang="en-US" altLang="zh-CN" sz="1400" b="1"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Academic References: </a:t>
            </a:r>
            <a:r>
              <a:rPr kumimoji="0" lang="en-US" altLang="zh-CN" sz="140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[1]</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Preece, J. (2020). Human-computer interaction for historical preservation.</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[2]Vaswani, A., et al. (2017). Attention Is All You Need (for LLM basics).</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[3]</a:t>
            </a:r>
            <a:r>
              <a:rPr kumimoji="0" lang="en-US" altLang="zh-CN" sz="1400" b="0" i="0" u="none" strike="noStrike" kern="0" cap="none" spc="0" normalizeH="0" baseline="0" noProof="0" dirty="0" err="1">
                <a:ln>
                  <a:noFill/>
                </a:ln>
                <a:solidFill>
                  <a:sysClr val="windowText" lastClr="000000"/>
                </a:solidFill>
                <a:effectLst/>
                <a:uLnTx/>
                <a:uFillTx/>
                <a:latin typeface="Arial" panose="020B0604020202020204"/>
                <a:cs typeface="Arial" panose="020B0604020202020204"/>
              </a:rPr>
              <a:t>Yalowitz</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S. S., &amp; </a:t>
            </a:r>
            <a:r>
              <a:rPr kumimoji="0" lang="en-US" altLang="zh-CN" sz="1400" b="0" i="0" u="none" strike="noStrike" kern="0" cap="none" spc="0" normalizeH="0" baseline="0" noProof="0" dirty="0" err="1">
                <a:ln>
                  <a:noFill/>
                </a:ln>
                <a:solidFill>
                  <a:sysClr val="windowText" lastClr="000000"/>
                </a:solidFill>
                <a:effectLst/>
                <a:uLnTx/>
                <a:uFillTx/>
                <a:latin typeface="Arial" panose="020B0604020202020204"/>
                <a:cs typeface="Arial" panose="020B0604020202020204"/>
              </a:rPr>
              <a:t>Bronnenkant</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 K. (2009). Timing and Tracking: Unlocking Visitor Behavior.</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defTabSz="914400" eaLnBrk="1" fontAlgn="auto" latinLnBrk="0" hangingPunct="1">
              <a:lnSpc>
                <a:spcPct val="100000"/>
              </a:lnSpc>
              <a:spcAft>
                <a:spcPts val="0"/>
              </a:spcAft>
              <a:buClrTx/>
              <a:buSzTx/>
              <a:buFontTx/>
              <a:buNone/>
              <a:defRPr/>
            </a:pPr>
            <a:r>
              <a:rPr kumimoji="0" lang="en-US" altLang="zh-CN" sz="1400" b="1"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AI Declaration: </a:t>
            </a:r>
            <a:r>
              <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rPr>
              <a:t>Framework developed by the team; text polished by ChatGPT-4o; concept illustrations generated by Midjourney.</a:t>
            </a:r>
            <a:endParaRPr kumimoji="0" lang="en-US" altLang="zh-CN" sz="140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a:p>
            <a:pPr marL="113665" marR="0" lvl="0" indent="0" algn="ctr" defTabSz="914400" eaLnBrk="1" fontAlgn="auto" latinLnBrk="0" hangingPunct="1">
              <a:lnSpc>
                <a:spcPts val="1400"/>
              </a:lnSpc>
              <a:spcBef>
                <a:spcPts val="1205"/>
              </a:spcBef>
              <a:spcAft>
                <a:spcPts val="0"/>
              </a:spcAft>
              <a:buClrTx/>
              <a:buSzTx/>
              <a:buFontTx/>
              <a:buNone/>
              <a:defRPr/>
            </a:pPr>
            <a:endParaRPr kumimoji="0" lang="en-US" altLang="zh-CN" sz="2540" b="0" i="0" u="none" strike="noStrike" kern="0" cap="none" spc="0" normalizeH="0" baseline="0" noProof="0" dirty="0">
              <a:ln>
                <a:noFill/>
              </a:ln>
              <a:solidFill>
                <a:sysClr val="windowText" lastClr="000000"/>
              </a:solidFill>
              <a:effectLst/>
              <a:uLnTx/>
              <a:uFillTx/>
              <a:latin typeface="Arial" panose="020B0604020202020204"/>
              <a:cs typeface="Arial" panose="020B0604020202020204"/>
            </a:endParaRPr>
          </a:p>
        </p:txBody>
      </p:sp>
      <p:sp>
        <p:nvSpPr>
          <p:cNvPr id="123" name="文本框 122"/>
          <p:cNvSpPr txBox="1"/>
          <p:nvPr/>
        </p:nvSpPr>
        <p:spPr>
          <a:xfrm>
            <a:off x="1553619" y="29378050"/>
            <a:ext cx="7762226" cy="483209"/>
          </a:xfrm>
          <a:prstGeom prst="rect">
            <a:avLst/>
          </a:prstGeom>
          <a:noFill/>
        </p:spPr>
        <p:txBody>
          <a:bodyPr wrap="square" rtlCol="0">
            <a:spAutoFit/>
          </a:bodyPr>
          <a:lstStyle/>
          <a:p>
            <a:pPr marL="113665" marR="0" lvl="0" indent="0" algn="ctr" defTabSz="914400" rtl="0" eaLnBrk="1" fontAlgn="auto" latinLnBrk="0" hangingPunct="1">
              <a:lnSpc>
                <a:spcPct val="100000"/>
              </a:lnSpc>
              <a:spcBef>
                <a:spcPts val="1205"/>
              </a:spcBef>
              <a:spcAft>
                <a:spcPts val="0"/>
              </a:spcAft>
              <a:buClrTx/>
              <a:buSzTx/>
              <a:buFontTx/>
              <a:buNone/>
              <a:defRPr/>
            </a:pPr>
            <a:r>
              <a:rPr kumimoji="0" lang="en-US" altLang="zh-CN" sz="2540" b="1" i="0" u="none" strike="noStrike" kern="0" cap="none" spc="-15" normalizeH="0" baseline="0" noProof="0" dirty="0">
                <a:ln>
                  <a:noFill/>
                </a:ln>
                <a:solidFill>
                  <a:srgbClr val="003478"/>
                </a:solidFill>
                <a:effectLst/>
                <a:uLnTx/>
                <a:uFillTx/>
                <a:latin typeface="Arial" panose="020B0604020202020204"/>
                <a:ea typeface="宋体" panose="02010600030101010101" pitchFamily="2" charset="-122"/>
                <a:cs typeface="Arial" panose="020B0604020202020204"/>
              </a:rPr>
              <a:t>REFERENCES AND DECLARATION</a:t>
            </a:r>
            <a:endParaRPr kumimoji="0" lang="en-US" altLang="zh-CN" sz="2540" b="1" i="0" u="none" strike="noStrike" kern="0" cap="none" spc="-15" normalizeH="0" baseline="0" noProof="0" dirty="0">
              <a:ln>
                <a:noFill/>
              </a:ln>
              <a:solidFill>
                <a:srgbClr val="003478"/>
              </a:solidFill>
              <a:effectLst/>
              <a:uLnTx/>
              <a:uFillTx/>
              <a:latin typeface="Arial" panose="020B0604020202020204"/>
              <a:ea typeface="宋体" panose="02010600030101010101" pitchFamily="2" charset="-122"/>
              <a:cs typeface="Arial" panose="020B0604020202020204"/>
            </a:endParaRPr>
          </a:p>
        </p:txBody>
      </p:sp>
      <p:sp>
        <p:nvSpPr>
          <p:cNvPr id="124" name="文本框 123"/>
          <p:cNvSpPr txBox="1"/>
          <p:nvPr/>
        </p:nvSpPr>
        <p:spPr>
          <a:xfrm>
            <a:off x="757457" y="4303176"/>
            <a:ext cx="9828137" cy="830997"/>
          </a:xfrm>
          <a:prstGeom prst="rect">
            <a:avLst/>
          </a:prstGeom>
          <a:noFill/>
        </p:spPr>
        <p:txBody>
          <a:bodyPr wrap="square" rtlCol="0">
            <a:spAutoFit/>
          </a:bodyPr>
          <a:lstStyle/>
          <a:p>
            <a:r>
              <a:rPr lang="en-US" altLang="zh-CN" sz="2400" b="1" dirty="0"/>
              <a:t>CPT208 - Xi’an </a:t>
            </a:r>
            <a:r>
              <a:rPr lang="en-US" altLang="zh-CN" sz="2400" b="1" dirty="0" err="1"/>
              <a:t>Jiaotong</a:t>
            </a:r>
            <a:r>
              <a:rPr lang="en-US" altLang="zh-CN" sz="2400" b="1" dirty="0"/>
              <a:t>-Liverpool University, Suzhou, China</a:t>
            </a:r>
            <a:endParaRPr lang="en-US" altLang="zh-CN" sz="2400" b="1" dirty="0"/>
          </a:p>
          <a:p>
            <a:r>
              <a:rPr lang="en-US" altLang="zh-CN" sz="2400" dirty="0"/>
              <a:t>Yixuan Chen, Yifei Dou, Ziheng Li, Yuhan Mei</a:t>
            </a:r>
            <a:endParaRPr lang="zh-CN" altLang="en-US" sz="2400" dirty="0"/>
          </a:p>
        </p:txBody>
      </p:sp>
      <p:sp>
        <p:nvSpPr>
          <p:cNvPr id="4" name="文本框 3"/>
          <p:cNvSpPr txBox="1"/>
          <p:nvPr/>
        </p:nvSpPr>
        <p:spPr>
          <a:xfrm>
            <a:off x="752254" y="10548257"/>
            <a:ext cx="5466285" cy="2923877"/>
          </a:xfrm>
          <a:prstGeom prst="rect">
            <a:avLst/>
          </a:prstGeom>
          <a:noFill/>
        </p:spPr>
        <p:txBody>
          <a:bodyPr wrap="square" rtlCol="0">
            <a:spAutoFit/>
          </a:bodyPr>
          <a:lstStyle/>
          <a:p>
            <a:r>
              <a:rPr lang="en-US" altLang="zh-CN" sz="2400" b="1" dirty="0">
                <a:solidFill>
                  <a:srgbClr val="00B050"/>
                </a:solidFill>
              </a:rPr>
              <a:t>Pain Points of Existing Solutions</a:t>
            </a:r>
            <a:endParaRPr lang="en-US" altLang="zh-CN" sz="2400" b="1" dirty="0">
              <a:solidFill>
                <a:srgbClr val="00B050"/>
              </a:solidFill>
            </a:endParaRPr>
          </a:p>
          <a:p>
            <a:r>
              <a:rPr lang="en-US" altLang="zh-CN" sz="2000" b="1" dirty="0"/>
              <a:t>1.Rigid Interaction: </a:t>
            </a:r>
            <a:r>
              <a:rPr lang="en-US" altLang="zh-CN" sz="2000" dirty="0"/>
              <a:t>Most XR is limited to static overlays; visitors remain passive recipients, leading to rapid boredom.</a:t>
            </a:r>
            <a:endParaRPr lang="en-US" altLang="zh-CN" sz="2000" dirty="0"/>
          </a:p>
          <a:p>
            <a:r>
              <a:rPr lang="en-US" altLang="zh-CN" sz="2000" b="1" dirty="0"/>
              <a:t>2.Homogenized Content: </a:t>
            </a:r>
            <a:r>
              <a:rPr lang="en-US" altLang="zh-CN" sz="2000" dirty="0"/>
              <a:t>Fixed scripts fail to cater to diverse ages and knowledge backgrounds.</a:t>
            </a:r>
            <a:endParaRPr lang="en-US" altLang="zh-CN" sz="2000" dirty="0"/>
          </a:p>
          <a:p>
            <a:r>
              <a:rPr lang="en-US" altLang="zh-CN" sz="2000" b="1" dirty="0"/>
              <a:t>3.Contextual Fragmentation: </a:t>
            </a:r>
            <a:r>
              <a:rPr lang="en-US" altLang="zh-CN" sz="2000" dirty="0"/>
              <a:t>Artifacts are isolated from their historical context, missing the "emotional punch" of a lived experience.</a:t>
            </a:r>
            <a:endParaRPr lang="en-US" altLang="zh-CN" sz="2000" dirty="0"/>
          </a:p>
        </p:txBody>
      </p:sp>
      <p:sp>
        <p:nvSpPr>
          <p:cNvPr id="5" name="文本框 4"/>
          <p:cNvSpPr txBox="1"/>
          <p:nvPr/>
        </p:nvSpPr>
        <p:spPr>
          <a:xfrm>
            <a:off x="6416215" y="10562019"/>
            <a:ext cx="4027714" cy="2923877"/>
          </a:xfrm>
          <a:prstGeom prst="rect">
            <a:avLst/>
          </a:prstGeom>
          <a:noFill/>
        </p:spPr>
        <p:txBody>
          <a:bodyPr wrap="square" rtlCol="0">
            <a:spAutoFit/>
          </a:bodyPr>
          <a:lstStyle/>
          <a:p>
            <a:r>
              <a:rPr lang="en-US" altLang="zh-CN" sz="2400" b="1" dirty="0">
                <a:solidFill>
                  <a:srgbClr val="00B050"/>
                </a:solidFill>
              </a:rPr>
              <a:t>User Personas:</a:t>
            </a:r>
            <a:endParaRPr lang="en-US" altLang="zh-CN" sz="2400" b="1" dirty="0">
              <a:solidFill>
                <a:srgbClr val="00B050"/>
              </a:solidFill>
            </a:endParaRPr>
          </a:p>
          <a:p>
            <a:r>
              <a:rPr lang="en-US" altLang="zh-CN" sz="2000" b="1" dirty="0"/>
              <a:t>Primary User: </a:t>
            </a:r>
            <a:r>
              <a:rPr lang="en-US" altLang="zh-CN" sz="2000" dirty="0"/>
              <a:t>Xiao Lin (19, Student). Pain point: Views museums as "boring classrooms"; craves RPG-like exploration.</a:t>
            </a:r>
            <a:endParaRPr lang="en-US" altLang="zh-CN" sz="2000" dirty="0"/>
          </a:p>
          <a:p>
            <a:r>
              <a:rPr lang="en-US" altLang="zh-CN" sz="2000" b="1" dirty="0"/>
              <a:t>Secondary User: </a:t>
            </a:r>
            <a:r>
              <a:rPr lang="en-US" altLang="zh-CN" sz="2000" dirty="0"/>
              <a:t>Museum Curator. Pain point: Needs a flexible, low-cost system to keep exhibits engaging for younger audiences.</a:t>
            </a:r>
            <a:endParaRPr lang="en-US" altLang="zh-CN" sz="2000" dirty="0"/>
          </a:p>
        </p:txBody>
      </p:sp>
      <p:pic>
        <p:nvPicPr>
          <p:cNvPr id="8" name="图片 7"/>
          <p:cNvPicPr>
            <a:picLocks noChangeAspect="1"/>
          </p:cNvPicPr>
          <p:nvPr/>
        </p:nvPicPr>
        <p:blipFill>
          <a:blip r:embed="rId2"/>
          <a:srcRect l="-232" t="39240" r="232" b="18806"/>
          <a:stretch>
            <a:fillRect/>
          </a:stretch>
        </p:blipFill>
        <p:spPr>
          <a:xfrm>
            <a:off x="11011371" y="23474823"/>
            <a:ext cx="9994899" cy="2359813"/>
          </a:xfrm>
          <a:prstGeom prst="rect">
            <a:avLst/>
          </a:prstGeom>
        </p:spPr>
      </p:pic>
    </p:spTree>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7510</Words>
  <Application>WPS 演示</Application>
  <PresentationFormat>自定义</PresentationFormat>
  <Paragraphs>88</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Calibri</vt:lpstr>
      <vt:lpstr>Segoe UI Symbol</vt:lpstr>
      <vt:lpstr>Arial</vt:lpstr>
      <vt:lpstr>微软雅黑</vt:lpstr>
      <vt:lpstr>Arial Unicode MS</vt:lpstr>
      <vt:lpstr>4_Office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ziheng li</dc:creator>
  <cp:lastModifiedBy>梅煜寒</cp:lastModifiedBy>
  <cp:revision>21</cp:revision>
  <dcterms:created xsi:type="dcterms:W3CDTF">2026-04-09T08:49:00Z</dcterms:created>
  <dcterms:modified xsi:type="dcterms:W3CDTF">2026-04-23T05:03:02Z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B82C4928F2D94069B53C958D559F867C_12</vt:lpwstr>
  </property>
  <property fmtid="{D5CDD505-2E9C-101B-9397-08002B2CF9AE}" pid="3" name="KSOProductBuildVer">
    <vt:lpwstr>2052-12.1.0.21915</vt:lpwstr>
  </property>
</Properties>
</file>